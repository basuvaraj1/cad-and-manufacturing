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09560" y="0"/>
            <a:ext cx="4282135" cy="6858000"/>
          </a:xfrm>
          <a:prstGeom prst="rect">
            <a:avLst/>
          </a:prstGeom>
          <a:solidFill>
            <a:srgbClr val="28629E"/>
          </a:solidFill>
          <a:ln>
            <a:solidFill>
              <a:srgbClr val="286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66760" y="0"/>
            <a:ext cx="201168" cy="6858000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6766560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26B1BB"/>
                </a:solidFill>
                <a:latin typeface="Aptos"/>
              </a:defRPr>
            </a:pPr>
            <a:r>
              <a:t>CAD &amp; MANUFACTURING • ENGINEERING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766560" cy="16002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3500" b="1">
                <a:solidFill>
                  <a:srgbClr val="FFFFFF"/>
                </a:solidFill>
                <a:latin typeface="Aptos"/>
              </a:defRPr>
            </a:pPr>
            <a:r>
              <a:t>INJECTION MOULD</a:t>
            </a:r>
          </a:p>
          <a:p>
            <a:pPr>
              <a:spcAft>
                <a:spcPts val="500"/>
              </a:spcAft>
              <a:defRPr sz="3500" b="1">
                <a:solidFill>
                  <a:srgbClr val="FFFFFF"/>
                </a:solidFill>
                <a:latin typeface="Aptos"/>
              </a:defRPr>
            </a:pPr>
            <a:r>
              <a:t>PARTS EXPLAINED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6675120" cy="6858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DEE7F1"/>
                </a:solidFill>
                <a:latin typeface="Aptos"/>
              </a:defRPr>
            </a:pPr>
            <a:r>
              <a:t>Illustrated guide • Functions • Materials • Design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69080"/>
            <a:ext cx="6309360" cy="7772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DEE7F1"/>
                </a:solidFill>
                <a:latin typeface="Aptos"/>
              </a:defRPr>
            </a:pPr>
            <a:r>
              <a:t>Understand the major components of a conventional two-plate plastic injection mould.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89320"/>
            <a:ext cx="6400800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6B1BB"/>
                </a:solidFill>
                <a:latin typeface="Aptos"/>
              </a:defRPr>
            </a:pPr>
            <a:r>
              <a:t>EDUCATIONAL EDITION  |  EDITABLE POWERPOINT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07908" y="1523390"/>
            <a:ext cx="2466136" cy="254568"/>
          </a:xfrm>
          <a:prstGeom prst="rect">
            <a:avLst/>
          </a:prstGeom>
          <a:solidFill>
            <a:srgbClr val="B4C4D2"/>
          </a:solidFill>
          <a:ln>
            <a:solidFill>
              <a:srgbClr val="A6B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07908" y="1777959"/>
            <a:ext cx="2466136" cy="148498"/>
          </a:xfrm>
          <a:prstGeom prst="rect">
            <a:avLst/>
          </a:prstGeom>
          <a:solidFill>
            <a:srgbClr val="DEE6ED"/>
          </a:solidFill>
          <a:ln>
            <a:solidFill>
              <a:srgbClr val="A6B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07908" y="1926457"/>
            <a:ext cx="2466136" cy="583387"/>
          </a:xfrm>
          <a:prstGeom prst="rect">
            <a:avLst/>
          </a:prstGeom>
          <a:solidFill>
            <a:srgbClr val="ABBCCC"/>
          </a:solidFill>
          <a:ln>
            <a:solidFill>
              <a:srgbClr val="A6B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07908" y="2509845"/>
            <a:ext cx="2466136" cy="116677"/>
          </a:xfrm>
          <a:prstGeom prst="rect">
            <a:avLst/>
          </a:prstGeom>
          <a:solidFill>
            <a:srgbClr val="697D91"/>
          </a:solidFill>
          <a:ln>
            <a:solidFill>
              <a:srgbClr val="A6B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07908" y="2626522"/>
            <a:ext cx="2466136" cy="583387"/>
          </a:xfrm>
          <a:prstGeom prst="rect">
            <a:avLst/>
          </a:prstGeom>
          <a:solidFill>
            <a:srgbClr val="9DB0C1"/>
          </a:solidFill>
          <a:ln>
            <a:solidFill>
              <a:srgbClr val="A6B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07908" y="3209909"/>
            <a:ext cx="2466136" cy="159105"/>
          </a:xfrm>
          <a:prstGeom prst="rect">
            <a:avLst/>
          </a:prstGeom>
          <a:solidFill>
            <a:srgbClr val="D8E1E9"/>
          </a:solidFill>
          <a:ln>
            <a:solidFill>
              <a:srgbClr val="A6B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07908" y="3369015"/>
            <a:ext cx="2466136" cy="254568"/>
          </a:xfrm>
          <a:prstGeom prst="rect">
            <a:avLst/>
          </a:prstGeom>
          <a:solidFill>
            <a:srgbClr val="B4C4D2"/>
          </a:solidFill>
          <a:ln>
            <a:solidFill>
              <a:srgbClr val="A6B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6024" y="2451506"/>
            <a:ext cx="662940" cy="63642"/>
          </a:xfrm>
          <a:prstGeom prst="rect">
            <a:avLst/>
          </a:prstGeom>
          <a:solidFill>
            <a:srgbClr val="EFAD3D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58771" y="1788566"/>
            <a:ext cx="212140" cy="530352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95129" y="2329525"/>
            <a:ext cx="344728" cy="106070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96663" y="2424988"/>
            <a:ext cx="63642" cy="79552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05672" y="2700771"/>
            <a:ext cx="63642" cy="487923"/>
          </a:xfrm>
          <a:prstGeom prst="rect">
            <a:avLst/>
          </a:prstGeom>
          <a:solidFill>
            <a:srgbClr val="EBAD3E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50400" y="2700771"/>
            <a:ext cx="63642" cy="487923"/>
          </a:xfrm>
          <a:prstGeom prst="rect">
            <a:avLst/>
          </a:prstGeom>
          <a:solidFill>
            <a:srgbClr val="EBAD3E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158069" y="2700771"/>
            <a:ext cx="63642" cy="487923"/>
          </a:xfrm>
          <a:prstGeom prst="rect">
            <a:avLst/>
          </a:prstGeom>
          <a:solidFill>
            <a:srgbClr val="EBAD3E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476280" y="2700771"/>
            <a:ext cx="63642" cy="487923"/>
          </a:xfrm>
          <a:prstGeom prst="rect">
            <a:avLst/>
          </a:prstGeom>
          <a:solidFill>
            <a:srgbClr val="EBAD3E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73084" y="2027224"/>
            <a:ext cx="185623" cy="90159"/>
          </a:xfrm>
          <a:prstGeom prst="ellipse">
            <a:avLst/>
          </a:prstGeom>
          <a:solidFill>
            <a:srgbClr val="51A4DC"/>
          </a:solidFill>
          <a:ln>
            <a:solidFill>
              <a:srgbClr val="51A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73084" y="2928823"/>
            <a:ext cx="185623" cy="90159"/>
          </a:xfrm>
          <a:prstGeom prst="ellipse">
            <a:avLst/>
          </a:prstGeom>
          <a:solidFill>
            <a:srgbClr val="51A4DC"/>
          </a:solidFill>
          <a:ln>
            <a:solidFill>
              <a:srgbClr val="51A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423245" y="2027224"/>
            <a:ext cx="185623" cy="90159"/>
          </a:xfrm>
          <a:prstGeom prst="ellipse">
            <a:avLst/>
          </a:prstGeom>
          <a:solidFill>
            <a:srgbClr val="51A4DC"/>
          </a:solidFill>
          <a:ln>
            <a:solidFill>
              <a:srgbClr val="51A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423245" y="2928823"/>
            <a:ext cx="185623" cy="90159"/>
          </a:xfrm>
          <a:prstGeom prst="ellipse">
            <a:avLst/>
          </a:prstGeom>
          <a:solidFill>
            <a:srgbClr val="51A4DC"/>
          </a:solidFill>
          <a:ln>
            <a:solidFill>
              <a:srgbClr val="51A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3794760"/>
            <a:ext cx="3291840" cy="7315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PARTS • PURPOSE • WORKING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1206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22035"/>
                </a:solidFill>
                <a:latin typeface="Aptos"/>
              </a:defRPr>
            </a:pPr>
            <a:r>
              <a:t>A mould is a system of connected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18520" cy="32004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16D7B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16D7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1417320"/>
            <a:ext cx="4251960" cy="438912"/>
          </a:xfrm>
          <a:prstGeom prst="rect">
            <a:avLst/>
          </a:prstGeom>
          <a:solidFill>
            <a:srgbClr val="B4C4D2"/>
          </a:solidFill>
          <a:ln>
            <a:solidFill>
              <a:srgbClr val="A6B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1856232"/>
            <a:ext cx="4251960" cy="256032"/>
          </a:xfrm>
          <a:prstGeom prst="rect">
            <a:avLst/>
          </a:prstGeom>
          <a:solidFill>
            <a:srgbClr val="DEE6ED"/>
          </a:solidFill>
          <a:ln>
            <a:solidFill>
              <a:srgbClr val="A6B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2112264"/>
            <a:ext cx="4251960" cy="1005840"/>
          </a:xfrm>
          <a:prstGeom prst="rect">
            <a:avLst/>
          </a:prstGeom>
          <a:solidFill>
            <a:srgbClr val="ABBCCC"/>
          </a:solidFill>
          <a:ln>
            <a:solidFill>
              <a:srgbClr val="A6B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3118104"/>
            <a:ext cx="4251960" cy="201168"/>
          </a:xfrm>
          <a:prstGeom prst="rect">
            <a:avLst/>
          </a:prstGeom>
          <a:solidFill>
            <a:srgbClr val="697D91"/>
          </a:solidFill>
          <a:ln>
            <a:solidFill>
              <a:srgbClr val="A6B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120" y="3319272"/>
            <a:ext cx="4251960" cy="1005840"/>
          </a:xfrm>
          <a:prstGeom prst="rect">
            <a:avLst/>
          </a:prstGeom>
          <a:solidFill>
            <a:srgbClr val="9DB0C1"/>
          </a:solidFill>
          <a:ln>
            <a:solidFill>
              <a:srgbClr val="A6B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" y="4325112"/>
            <a:ext cx="4251960" cy="274320"/>
          </a:xfrm>
          <a:prstGeom prst="rect">
            <a:avLst/>
          </a:prstGeom>
          <a:solidFill>
            <a:srgbClr val="D8E1E9"/>
          </a:solidFill>
          <a:ln>
            <a:solidFill>
              <a:srgbClr val="A6B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0120" y="4599432"/>
            <a:ext cx="4251960" cy="438912"/>
          </a:xfrm>
          <a:prstGeom prst="rect">
            <a:avLst/>
          </a:prstGeom>
          <a:solidFill>
            <a:srgbClr val="B4C4D2"/>
          </a:solidFill>
          <a:ln>
            <a:solidFill>
              <a:srgbClr val="A6B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0" y="3017520"/>
            <a:ext cx="1143000" cy="109728"/>
          </a:xfrm>
          <a:prstGeom prst="rect">
            <a:avLst/>
          </a:prstGeom>
          <a:solidFill>
            <a:srgbClr val="EFAD3D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44368" y="1874519"/>
            <a:ext cx="365760" cy="914400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34639" y="2807208"/>
            <a:ext cx="594360" cy="182880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82112" y="2971800"/>
            <a:ext cx="109728" cy="137160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45920" y="3447288"/>
            <a:ext cx="109728" cy="841248"/>
          </a:xfrm>
          <a:prstGeom prst="rect">
            <a:avLst/>
          </a:prstGeom>
          <a:solidFill>
            <a:srgbClr val="EBAD3E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40280" y="3447288"/>
            <a:ext cx="109728" cy="841248"/>
          </a:xfrm>
          <a:prstGeom prst="rect">
            <a:avLst/>
          </a:prstGeom>
          <a:solidFill>
            <a:srgbClr val="EBAD3E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77639" y="3447288"/>
            <a:ext cx="109728" cy="841248"/>
          </a:xfrm>
          <a:prstGeom prst="rect">
            <a:avLst/>
          </a:prstGeom>
          <a:solidFill>
            <a:srgbClr val="EBAD3E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447288"/>
            <a:ext cx="109728" cy="841248"/>
          </a:xfrm>
          <a:prstGeom prst="rect">
            <a:avLst/>
          </a:prstGeom>
          <a:solidFill>
            <a:srgbClr val="EBAD3E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17320" y="2286000"/>
            <a:ext cx="320040" cy="155448"/>
          </a:xfrm>
          <a:prstGeom prst="ellipse">
            <a:avLst/>
          </a:prstGeom>
          <a:solidFill>
            <a:srgbClr val="51A4DC"/>
          </a:solidFill>
          <a:ln>
            <a:solidFill>
              <a:srgbClr val="51A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17320" y="3840480"/>
            <a:ext cx="320040" cy="155448"/>
          </a:xfrm>
          <a:prstGeom prst="ellipse">
            <a:avLst/>
          </a:prstGeom>
          <a:solidFill>
            <a:srgbClr val="51A4DC"/>
          </a:solidFill>
          <a:ln>
            <a:solidFill>
              <a:srgbClr val="51A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34840" y="2286000"/>
            <a:ext cx="320040" cy="155448"/>
          </a:xfrm>
          <a:prstGeom prst="ellipse">
            <a:avLst/>
          </a:prstGeom>
          <a:solidFill>
            <a:srgbClr val="51A4DC"/>
          </a:solidFill>
          <a:ln>
            <a:solidFill>
              <a:srgbClr val="51A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4840" y="3840480"/>
            <a:ext cx="320040" cy="155448"/>
          </a:xfrm>
          <a:prstGeom prst="ellipse">
            <a:avLst/>
          </a:prstGeom>
          <a:solidFill>
            <a:srgbClr val="51A4DC"/>
          </a:solidFill>
          <a:ln>
            <a:solidFill>
              <a:srgbClr val="51A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59" y="1344168"/>
            <a:ext cx="2011680" cy="4114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22035"/>
                </a:solidFill>
                <a:latin typeface="Aptos"/>
              </a:defRPr>
            </a:pPr>
            <a:r>
              <a:t>Stationary half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120640" y="1600200"/>
            <a:ext cx="182880" cy="0"/>
          </a:xfrm>
          <a:prstGeom prst="line">
            <a:avLst/>
          </a:prstGeom>
          <a:ln w="19050">
            <a:solidFill>
              <a:srgbClr val="616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94959" y="2148840"/>
            <a:ext cx="2103120" cy="4114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6B1BB"/>
                </a:solidFill>
                <a:latin typeface="Aptos"/>
              </a:defRPr>
            </a:pPr>
            <a:r>
              <a:t>Sprue / runner / gate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3474720" y="2331720"/>
            <a:ext cx="1828800" cy="512064"/>
          </a:xfrm>
          <a:prstGeom prst="line">
            <a:avLst/>
          </a:prstGeom>
          <a:ln w="19050">
            <a:solidFill>
              <a:srgbClr val="26B1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394959" y="3246120"/>
            <a:ext cx="2011680" cy="4114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22035"/>
                </a:solidFill>
                <a:latin typeface="Aptos"/>
              </a:defRPr>
            </a:pPr>
            <a:r>
              <a:t>Cavity &amp; core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657600" y="3063240"/>
            <a:ext cx="1645920" cy="320040"/>
          </a:xfrm>
          <a:prstGeom prst="line">
            <a:avLst/>
          </a:prstGeom>
          <a:ln w="19050">
            <a:solidFill>
              <a:srgbClr val="EFA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394959" y="3977639"/>
            <a:ext cx="2194560" cy="4114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22035"/>
                </a:solidFill>
                <a:latin typeface="Aptos"/>
              </a:defRPr>
            </a:pPr>
            <a:r>
              <a:t>Ejector pins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206240" y="3794760"/>
            <a:ext cx="1097280" cy="320040"/>
          </a:xfrm>
          <a:prstGeom prst="line">
            <a:avLst/>
          </a:prstGeom>
          <a:ln w="19050">
            <a:solidFill>
              <a:srgbClr val="EFA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452360" y="1188720"/>
            <a:ext cx="397763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52360" y="1188720"/>
            <a:ext cx="73152" cy="1234440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35240" y="1298448"/>
            <a:ext cx="3657599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Feed system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1700784"/>
            <a:ext cx="3657599" cy="64922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Carries molten plastic from the machine nozzle into the cavity.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52360" y="2606040"/>
            <a:ext cx="397763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52360" y="2606040"/>
            <a:ext cx="73152" cy="1234440"/>
          </a:xfrm>
          <a:prstGeom prst="rect">
            <a:avLst/>
          </a:prstGeom>
          <a:solidFill>
            <a:srgbClr val="EFAD3D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35240" y="2715768"/>
            <a:ext cx="3657599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Moulding area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118104"/>
            <a:ext cx="3657599" cy="64922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Cavity and core create the part's external and internal geometry.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52360" y="4023360"/>
            <a:ext cx="397763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0" y="4023360"/>
            <a:ext cx="73152" cy="1234440"/>
          </a:xfrm>
          <a:prstGeom prst="rect">
            <a:avLst/>
          </a:prstGeom>
          <a:solidFill>
            <a:srgbClr val="28629E"/>
          </a:solidFill>
          <a:ln>
            <a:solidFill>
              <a:srgbClr val="286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35240" y="4133088"/>
            <a:ext cx="3657599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Support &amp; ejection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4535424"/>
            <a:ext cx="3657599" cy="64922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Plates, guide parts and ejectors support the tool and release the part.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577840"/>
            <a:ext cx="6400800" cy="4114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616D7B"/>
                </a:solidFill>
                <a:latin typeface="Aptos"/>
              </a:defRPr>
            </a:pPr>
            <a:r>
              <a:t>Schematic only — actual mould layouts vary by part, machine and tool design.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1206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22035"/>
                </a:solidFill>
                <a:latin typeface="Aptos"/>
              </a:defRPr>
            </a:pPr>
            <a:r>
              <a:t>1. Stationary half and moving half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18520" cy="32004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16D7B"/>
                </a:solidFill>
                <a:latin typeface="Aptos"/>
              </a:defRPr>
            </a:pPr>
            <a:r>
              <a:t>MOULD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16D7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97280"/>
            <a:ext cx="5349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73152" cy="1417320"/>
          </a:xfrm>
          <a:prstGeom prst="rect">
            <a:avLst/>
          </a:prstGeom>
          <a:solidFill>
            <a:srgbClr val="28629E"/>
          </a:solidFill>
          <a:ln>
            <a:solidFill>
              <a:srgbClr val="286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207007"/>
            <a:ext cx="502920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Stationary half (front half)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609344"/>
            <a:ext cx="5029200" cy="83210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7303A"/>
                </a:solidFill>
                <a:latin typeface="Aptos"/>
              </a:defRPr>
            </a:pPr>
            <a:r>
              <a:t>Bolts to the fixed platen. Usually contains the locating ring, sprue bush and one side of the cavity.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349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73152" cy="1417320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07007"/>
            <a:ext cx="502920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Moving half (rear half)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09344"/>
            <a:ext cx="5029200" cy="83210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7303A"/>
                </a:solidFill>
                <a:latin typeface="Aptos"/>
              </a:defRPr>
            </a:pPr>
            <a:r>
              <a:t>Bolts to the moving platen. Often contains the core, support system and ejector mechanism.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4138" y="3077870"/>
            <a:ext cx="3529126" cy="364296"/>
          </a:xfrm>
          <a:prstGeom prst="rect">
            <a:avLst/>
          </a:prstGeom>
          <a:solidFill>
            <a:srgbClr val="B4C4D2"/>
          </a:solidFill>
          <a:ln>
            <a:solidFill>
              <a:srgbClr val="A6B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04138" y="3442167"/>
            <a:ext cx="3529126" cy="212506"/>
          </a:xfrm>
          <a:prstGeom prst="rect">
            <a:avLst/>
          </a:prstGeom>
          <a:solidFill>
            <a:srgbClr val="DEE6ED"/>
          </a:solidFill>
          <a:ln>
            <a:solidFill>
              <a:srgbClr val="A6B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04138" y="3654673"/>
            <a:ext cx="3529126" cy="834847"/>
          </a:xfrm>
          <a:prstGeom prst="rect">
            <a:avLst/>
          </a:prstGeom>
          <a:solidFill>
            <a:srgbClr val="ABBCCC"/>
          </a:solidFill>
          <a:ln>
            <a:solidFill>
              <a:srgbClr val="A6B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04138" y="4489521"/>
            <a:ext cx="3529126" cy="166969"/>
          </a:xfrm>
          <a:prstGeom prst="rect">
            <a:avLst/>
          </a:prstGeom>
          <a:solidFill>
            <a:srgbClr val="697D91"/>
          </a:solidFill>
          <a:ln>
            <a:solidFill>
              <a:srgbClr val="A6B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04138" y="4656490"/>
            <a:ext cx="3529126" cy="834847"/>
          </a:xfrm>
          <a:prstGeom prst="rect">
            <a:avLst/>
          </a:prstGeom>
          <a:solidFill>
            <a:srgbClr val="9DB0C1"/>
          </a:solidFill>
          <a:ln>
            <a:solidFill>
              <a:srgbClr val="A6B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04138" y="5491337"/>
            <a:ext cx="3529126" cy="227685"/>
          </a:xfrm>
          <a:prstGeom prst="rect">
            <a:avLst/>
          </a:prstGeom>
          <a:solidFill>
            <a:srgbClr val="D8E1E9"/>
          </a:solidFill>
          <a:ln>
            <a:solidFill>
              <a:srgbClr val="A6B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04138" y="5719023"/>
            <a:ext cx="3529126" cy="364296"/>
          </a:xfrm>
          <a:prstGeom prst="rect">
            <a:avLst/>
          </a:prstGeom>
          <a:solidFill>
            <a:srgbClr val="B4C4D2"/>
          </a:solidFill>
          <a:ln>
            <a:solidFill>
              <a:srgbClr val="A6B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32304" y="4406036"/>
            <a:ext cx="948689" cy="91074"/>
          </a:xfrm>
          <a:prstGeom prst="rect">
            <a:avLst/>
          </a:prstGeom>
          <a:solidFill>
            <a:srgbClr val="EFAD3D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51063" y="3457346"/>
            <a:ext cx="303580" cy="758952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59989" y="4231477"/>
            <a:ext cx="493318" cy="151790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48391" y="4368088"/>
            <a:ext cx="91074" cy="113842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73352" y="4762743"/>
            <a:ext cx="91074" cy="698235"/>
          </a:xfrm>
          <a:prstGeom prst="rect">
            <a:avLst/>
          </a:prstGeom>
          <a:solidFill>
            <a:srgbClr val="EBAD3E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66670" y="4762743"/>
            <a:ext cx="91074" cy="698235"/>
          </a:xfrm>
          <a:prstGeom prst="rect">
            <a:avLst/>
          </a:prstGeom>
          <a:solidFill>
            <a:srgbClr val="EBAD3E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08679" y="4762743"/>
            <a:ext cx="91074" cy="698235"/>
          </a:xfrm>
          <a:prstGeom prst="rect">
            <a:avLst/>
          </a:prstGeom>
          <a:solidFill>
            <a:srgbClr val="EBAD3E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64050" y="4762743"/>
            <a:ext cx="91074" cy="698235"/>
          </a:xfrm>
          <a:prstGeom prst="rect">
            <a:avLst/>
          </a:prstGeom>
          <a:solidFill>
            <a:srgbClr val="EBAD3E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83614" y="3798874"/>
            <a:ext cx="265633" cy="129021"/>
          </a:xfrm>
          <a:prstGeom prst="ellipse">
            <a:avLst/>
          </a:prstGeom>
          <a:solidFill>
            <a:srgbClr val="51A4DC"/>
          </a:solidFill>
          <a:ln>
            <a:solidFill>
              <a:srgbClr val="51A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83614" y="5089093"/>
            <a:ext cx="265633" cy="129021"/>
          </a:xfrm>
          <a:prstGeom prst="ellipse">
            <a:avLst/>
          </a:prstGeom>
          <a:solidFill>
            <a:srgbClr val="51A4DC"/>
          </a:solidFill>
          <a:ln>
            <a:solidFill>
              <a:srgbClr val="51A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988155" y="3798874"/>
            <a:ext cx="265633" cy="129021"/>
          </a:xfrm>
          <a:prstGeom prst="ellipse">
            <a:avLst/>
          </a:prstGeom>
          <a:solidFill>
            <a:srgbClr val="51A4DC"/>
          </a:solidFill>
          <a:ln>
            <a:solidFill>
              <a:srgbClr val="51A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988155" y="5089093"/>
            <a:ext cx="265633" cy="129021"/>
          </a:xfrm>
          <a:prstGeom prst="ellipse">
            <a:avLst/>
          </a:prstGeom>
          <a:solidFill>
            <a:srgbClr val="51A4DC"/>
          </a:solidFill>
          <a:ln>
            <a:solidFill>
              <a:srgbClr val="51A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3063240"/>
            <a:ext cx="4754880" cy="20116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035"/>
                </a:solidFill>
                <a:latin typeface="Aptos"/>
              </a:defRPr>
            </a:pPr>
            <a:r>
              <a:t>Why it matters</a:t>
            </a:r>
          </a:p>
          <a:p>
            <a:pPr>
              <a:spcAft>
                <a:spcPts val="500"/>
              </a:spcAft>
              <a:defRPr sz="1600" b="1">
                <a:solidFill>
                  <a:srgbClr val="122035"/>
                </a:solidFill>
                <a:latin typeface="Aptos"/>
              </a:defRPr>
            </a:pPr>
            <a:r>
              <a:t>• Establishes the parting line</a:t>
            </a:r>
          </a:p>
          <a:p>
            <a:pPr>
              <a:spcAft>
                <a:spcPts val="500"/>
              </a:spcAft>
              <a:defRPr sz="1600" b="1">
                <a:solidFill>
                  <a:srgbClr val="122035"/>
                </a:solidFill>
                <a:latin typeface="Aptos"/>
              </a:defRPr>
            </a:pPr>
            <a:r>
              <a:t>• Aligns the cavity and core</a:t>
            </a:r>
          </a:p>
          <a:p>
            <a:pPr>
              <a:spcAft>
                <a:spcPts val="500"/>
              </a:spcAft>
              <a:defRPr sz="1600" b="1">
                <a:solidFill>
                  <a:srgbClr val="122035"/>
                </a:solidFill>
                <a:latin typeface="Aptos"/>
              </a:defRPr>
            </a:pPr>
            <a:r>
              <a:t>• Opens for part removal</a:t>
            </a:r>
          </a:p>
          <a:p>
            <a:pPr>
              <a:spcAft>
                <a:spcPts val="500"/>
              </a:spcAft>
              <a:defRPr sz="1600" b="1">
                <a:solidFill>
                  <a:srgbClr val="122035"/>
                </a:solidFill>
                <a:latin typeface="Aptos"/>
              </a:defRPr>
            </a:pPr>
            <a:r>
              <a:t>• Must resist injection pressure and remain aligned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5440680"/>
            <a:ext cx="4572000" cy="4114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16D7B"/>
                </a:solidFill>
                <a:latin typeface="Aptos"/>
              </a:defRPr>
            </a:pPr>
            <a:r>
              <a:t>Exact component arrangement depends on mould type.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1206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22035"/>
                </a:solidFill>
                <a:latin typeface="Aptos"/>
              </a:defRPr>
            </a:pPr>
            <a:r>
              <a:t>2. Locating ring and sprue bush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18520" cy="32004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16D7B"/>
                </a:solidFill>
                <a:latin typeface="Aptos"/>
              </a:defRPr>
            </a:pPr>
            <a:r>
              <a:t>FEED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16D7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4297680" cy="3474720"/>
          </a:xfrm>
          <a:prstGeom prst="roundRect">
            <a:avLst/>
          </a:prstGeom>
          <a:solidFill>
            <a:srgbClr val="B7C6D3"/>
          </a:solidFill>
          <a:ln>
            <a:solidFill>
              <a:srgbClr val="A6B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86000" y="1920240"/>
            <a:ext cx="1554480" cy="1554480"/>
          </a:xfrm>
          <a:prstGeom prst="ellipse">
            <a:avLst/>
          </a:prstGeom>
          <a:solidFill>
            <a:srgbClr val="E4EBF1"/>
          </a:solidFill>
          <a:ln>
            <a:solidFill>
              <a:srgbClr val="286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70632" y="2395728"/>
            <a:ext cx="585216" cy="585216"/>
          </a:xfrm>
          <a:prstGeom prst="ellipse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3063240" y="1828800"/>
            <a:ext cx="1600200" cy="868680"/>
          </a:xfrm>
          <a:prstGeom prst="line">
            <a:avLst/>
          </a:prstGeom>
          <a:ln w="19050">
            <a:solidFill>
              <a:srgbClr val="26B1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754880" y="1645920"/>
            <a:ext cx="2103120" cy="6400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035"/>
                </a:solidFill>
                <a:latin typeface="Aptos"/>
              </a:defRPr>
            </a:pPr>
            <a:r>
              <a:t>Locating 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103120"/>
            <a:ext cx="2468880" cy="9144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Centres the mould on the machine's fixed platen / nozzle axis.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63240" y="2697480"/>
            <a:ext cx="1600200" cy="640080"/>
          </a:xfrm>
          <a:prstGeom prst="line">
            <a:avLst/>
          </a:prstGeom>
          <a:ln w="19050">
            <a:solidFill>
              <a:srgbClr val="EFA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54880" y="3154680"/>
            <a:ext cx="2194560" cy="6400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035"/>
                </a:solidFill>
                <a:latin typeface="Aptos"/>
              </a:defRPr>
            </a:pPr>
            <a:r>
              <a:t>Sprue bush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611880"/>
            <a:ext cx="2377440" cy="9601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Provides a hardened entry path for molten plastic from the nozzle.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1371600"/>
            <a:ext cx="3657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80960" y="1371600"/>
            <a:ext cx="73152" cy="3474720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1481328"/>
            <a:ext cx="333756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Design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1883664"/>
            <a:ext cx="3337560" cy="2889503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7303A"/>
                </a:solidFill>
                <a:latin typeface="Aptos"/>
              </a:defRPr>
            </a:pPr>
            <a:r>
              <a:t>• Correct locating-ring diameter</a:t>
            </a:r>
          </a:p>
          <a:p>
            <a:pPr>
              <a:spcAft>
                <a:spcPts val="500"/>
              </a:spcAft>
              <a:defRPr sz="1400" b="0">
                <a:solidFill>
                  <a:srgbClr val="27303A"/>
                </a:solidFill>
                <a:latin typeface="Aptos"/>
              </a:defRPr>
            </a:pPr>
            <a:r>
              <a:t>• Nozzle radius and orifice compatibility</a:t>
            </a:r>
          </a:p>
          <a:p>
            <a:pPr>
              <a:spcAft>
                <a:spcPts val="500"/>
              </a:spcAft>
              <a:defRPr sz="1400" b="0">
                <a:solidFill>
                  <a:srgbClr val="27303A"/>
                </a:solidFill>
                <a:latin typeface="Aptos"/>
              </a:defRPr>
            </a:pPr>
            <a:r>
              <a:t>• Good seating and sealing</a:t>
            </a:r>
          </a:p>
          <a:p>
            <a:pPr>
              <a:spcAft>
                <a:spcPts val="500"/>
              </a:spcAft>
              <a:defRPr sz="1400" b="0">
                <a:solidFill>
                  <a:srgbClr val="27303A"/>
                </a:solidFill>
                <a:latin typeface="Aptos"/>
              </a:defRPr>
            </a:pPr>
            <a:r>
              <a:t>• Wear-resistant material</a:t>
            </a:r>
          </a:p>
          <a:p>
            <a:pPr>
              <a:spcAft>
                <a:spcPts val="500"/>
              </a:spcAft>
              <a:defRPr sz="1400" b="0">
                <a:solidFill>
                  <a:srgbClr val="27303A"/>
                </a:solidFill>
                <a:latin typeface="Aptos"/>
              </a:defRPr>
            </a:pPr>
            <a:r>
              <a:t>• Easy sprue release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49240"/>
            <a:ext cx="10515600" cy="4572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AE3A30"/>
                </a:solidFill>
                <a:latin typeface="Aptos"/>
              </a:defRPr>
            </a:pPr>
            <a:r>
              <a:t>A mismatch between nozzle and sprue bush can cause leakage, pressure loss or damage.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1206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22035"/>
                </a:solidFill>
                <a:latin typeface="Aptos"/>
              </a:defRPr>
            </a:pPr>
            <a:r>
              <a:t>3. Sprue, runner and 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18520" cy="32004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16D7B"/>
                </a:solidFill>
                <a:latin typeface="Aptos"/>
              </a:defRPr>
            </a:pPr>
            <a:r>
              <a:t>FEED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16D7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828800" cy="2743200"/>
          </a:xfrm>
          <a:prstGeom prst="rect">
            <a:avLst/>
          </a:prstGeom>
          <a:solidFill>
            <a:srgbClr val="DEE7EF"/>
          </a:solidFill>
          <a:ln>
            <a:solidFill>
              <a:srgbClr val="A6B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0" y="1645920"/>
            <a:ext cx="384048" cy="1417320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0" y="2926080"/>
            <a:ext cx="2468880" cy="347472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69080" y="2926080"/>
            <a:ext cx="365760" cy="347472"/>
          </a:xfrm>
          <a:prstGeom prst="rect">
            <a:avLst/>
          </a:prstGeom>
          <a:solidFill>
            <a:srgbClr val="EFAD3D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2148840"/>
            <a:ext cx="2103120" cy="1920240"/>
          </a:xfrm>
          <a:prstGeom prst="roundRect">
            <a:avLst/>
          </a:prstGeom>
          <a:solidFill>
            <a:srgbClr val="E7EEF4"/>
          </a:solidFill>
          <a:ln>
            <a:solidFill>
              <a:srgbClr val="286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00600" y="2514600"/>
            <a:ext cx="1371600" cy="1188720"/>
          </a:xfrm>
          <a:prstGeom prst="roundRect">
            <a:avLst/>
          </a:prstGeom>
          <a:solidFill>
            <a:srgbClr val="FFE6B2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43400"/>
            <a:ext cx="2286000" cy="4114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22035"/>
                </a:solidFill>
                <a:latin typeface="Aptos"/>
              </a:defRPr>
            </a:pPr>
            <a:r>
              <a:t>Sprue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401568"/>
            <a:ext cx="2194560" cy="4114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22035"/>
                </a:solidFill>
                <a:latin typeface="Aptos"/>
              </a:defRPr>
            </a:pPr>
            <a:r>
              <a:t>Runner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4343400"/>
            <a:ext cx="1280160" cy="4114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22035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343400"/>
            <a:ext cx="1920240" cy="4114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22035"/>
                </a:solidFill>
                <a:latin typeface="Aptos"/>
              </a:defRPr>
            </a:pPr>
            <a:r>
              <a:t>Cavity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5160" y="1234440"/>
            <a:ext cx="43434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95160" y="1234440"/>
            <a:ext cx="73152" cy="1188720"/>
          </a:xfrm>
          <a:prstGeom prst="rect">
            <a:avLst/>
          </a:prstGeom>
          <a:solidFill>
            <a:srgbClr val="28629E"/>
          </a:solidFill>
          <a:ln>
            <a:solidFill>
              <a:srgbClr val="286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8040" y="1344168"/>
            <a:ext cx="402336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Sprue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1746504"/>
            <a:ext cx="4023360" cy="60350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Main channel from nozzle into the mould.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95160" y="2606040"/>
            <a:ext cx="43434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2606040"/>
            <a:ext cx="73152" cy="1188720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2715768"/>
            <a:ext cx="402336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Runner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118104"/>
            <a:ext cx="4023360" cy="60350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Distributes melt toward one or more gates.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95160" y="3977639"/>
            <a:ext cx="43434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95160" y="3977639"/>
            <a:ext cx="73152" cy="1188720"/>
          </a:xfrm>
          <a:prstGeom prst="rect">
            <a:avLst/>
          </a:prstGeom>
          <a:solidFill>
            <a:srgbClr val="EFAD3D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78040" y="4087368"/>
            <a:ext cx="402336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4489704"/>
            <a:ext cx="4023360" cy="60350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Small entrance controlling flow into the cavity; also affects packing and gate vestige.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16D7B"/>
                </a:solidFill>
                <a:latin typeface="Aptos"/>
              </a:defRPr>
            </a:pPr>
            <a:r>
              <a:t>The diagram is conceptual; runner and gate dimensions must be designed for the resin and part.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1206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22035"/>
                </a:solidFill>
                <a:latin typeface="Aptos"/>
              </a:defRPr>
            </a:pPr>
            <a:r>
              <a:t>4. Cavity and 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18520" cy="32004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16D7B"/>
                </a:solidFill>
                <a:latin typeface="Aptos"/>
              </a:defRPr>
            </a:pPr>
            <a:r>
              <a:t>PART-FORMING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16D7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08760"/>
            <a:ext cx="4114800" cy="1051560"/>
          </a:xfrm>
          <a:prstGeom prst="rect">
            <a:avLst/>
          </a:prstGeom>
          <a:solidFill>
            <a:srgbClr val="ACBECE"/>
          </a:solidFill>
          <a:ln>
            <a:solidFill>
              <a:srgbClr val="A6B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657600"/>
            <a:ext cx="4114800" cy="1051560"/>
          </a:xfrm>
          <a:prstGeom prst="rect">
            <a:avLst/>
          </a:prstGeom>
          <a:solidFill>
            <a:srgbClr val="97ADC0"/>
          </a:solidFill>
          <a:ln>
            <a:solidFill>
              <a:srgbClr val="A6B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74519" y="2560320"/>
            <a:ext cx="2194560" cy="594360"/>
          </a:xfrm>
          <a:prstGeom prst="roundRect">
            <a:avLst/>
          </a:prstGeom>
          <a:solidFill>
            <a:srgbClr val="FFE0A4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31720" y="3154680"/>
            <a:ext cx="1280160" cy="502920"/>
          </a:xfrm>
          <a:prstGeom prst="rect">
            <a:avLst/>
          </a:prstGeom>
          <a:solidFill>
            <a:srgbClr val="6F8BA5"/>
          </a:solidFill>
          <a:ln>
            <a:solidFill>
              <a:srgbClr val="286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1600200"/>
            <a:ext cx="1554480" cy="3657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035"/>
                </a:solidFill>
                <a:latin typeface="Aptos"/>
              </a:defRPr>
            </a:pPr>
            <a:r>
              <a:t>Cavity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0" y="1828800"/>
            <a:ext cx="1508760" cy="0"/>
          </a:xfrm>
          <a:prstGeom prst="line">
            <a:avLst/>
          </a:prstGeom>
          <a:ln w="19050">
            <a:solidFill>
              <a:srgbClr val="2862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03520" y="2011680"/>
            <a:ext cx="1828800" cy="9144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Forms the outside surfaces of the component.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017520"/>
            <a:ext cx="1554480" cy="3657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035"/>
                </a:solidFill>
                <a:latin typeface="Aptos"/>
              </a:defRPr>
            </a:pPr>
            <a:r>
              <a:t>Core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108960" y="3246120"/>
            <a:ext cx="2057400" cy="182880"/>
          </a:xfrm>
          <a:prstGeom prst="line">
            <a:avLst/>
          </a:prstGeom>
          <a:ln w="19050">
            <a:solidFill>
              <a:srgbClr val="EFA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03520" y="3429000"/>
            <a:ext cx="1828800" cy="9144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Forms internal features such as holes, recesses or the inner profile.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1417320"/>
            <a:ext cx="36576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0" y="1417320"/>
            <a:ext cx="73152" cy="3337560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1527048"/>
            <a:ext cx="333756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Design considerations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1929384"/>
            <a:ext cx="3337560" cy="275234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7303A"/>
                </a:solidFill>
                <a:latin typeface="Aptos"/>
              </a:defRPr>
            </a:pPr>
            <a:r>
              <a:t>• Parting line and shut-offs</a:t>
            </a:r>
          </a:p>
          <a:p>
            <a:pPr>
              <a:spcAft>
                <a:spcPts val="500"/>
              </a:spcAft>
              <a:defRPr sz="1400" b="0">
                <a:solidFill>
                  <a:srgbClr val="27303A"/>
                </a:solidFill>
                <a:latin typeface="Aptos"/>
              </a:defRPr>
            </a:pPr>
            <a:r>
              <a:t>• Draft angle</a:t>
            </a:r>
          </a:p>
          <a:p>
            <a:pPr>
              <a:spcAft>
                <a:spcPts val="500"/>
              </a:spcAft>
              <a:defRPr sz="1400" b="0">
                <a:solidFill>
                  <a:srgbClr val="27303A"/>
                </a:solidFill>
                <a:latin typeface="Aptos"/>
              </a:defRPr>
            </a:pPr>
            <a:r>
              <a:t>• Wall thickness and radii</a:t>
            </a:r>
          </a:p>
          <a:p>
            <a:pPr>
              <a:spcAft>
                <a:spcPts val="500"/>
              </a:spcAft>
              <a:defRPr sz="1400" b="0">
                <a:solidFill>
                  <a:srgbClr val="27303A"/>
                </a:solidFill>
                <a:latin typeface="Aptos"/>
              </a:defRPr>
            </a:pPr>
            <a:r>
              <a:t>• Surface finish / texture</a:t>
            </a:r>
          </a:p>
          <a:p>
            <a:pPr>
              <a:spcAft>
                <a:spcPts val="500"/>
              </a:spcAft>
              <a:defRPr sz="1400" b="0">
                <a:solidFill>
                  <a:srgbClr val="27303A"/>
                </a:solidFill>
                <a:latin typeface="Aptos"/>
              </a:defRPr>
            </a:pPr>
            <a:r>
              <a:t>• Shrinkage and steel-safe allowance</a:t>
            </a:r>
          </a:p>
          <a:p>
            <a:pPr>
              <a:spcAft>
                <a:spcPts val="500"/>
              </a:spcAft>
              <a:defRPr sz="1400" b="0">
                <a:solidFill>
                  <a:srgbClr val="27303A"/>
                </a:solidFill>
                <a:latin typeface="Aptos"/>
              </a:defRPr>
            </a:pPr>
            <a:r>
              <a:t>• Cooling access and venting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349240"/>
            <a:ext cx="10515600" cy="4572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616D7B"/>
                </a:solidFill>
                <a:latin typeface="Aptos"/>
              </a:defRPr>
            </a:pPr>
            <a:r>
              <a:t>Cavity/core ownership of surfaces depends on geometry and the chosen parting strategy.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1206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22035"/>
                </a:solidFill>
                <a:latin typeface="Aptos"/>
              </a:defRPr>
            </a:pPr>
            <a:r>
              <a:t>5. Main plates and support plates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18520" cy="32004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16D7B"/>
                </a:solidFill>
                <a:latin typeface="Aptos"/>
              </a:defRPr>
            </a:pPr>
            <a:r>
              <a:t>STRUCTURE &amp;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16D7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73152" cy="1234440"/>
          </a:xfrm>
          <a:prstGeom prst="rect">
            <a:avLst/>
          </a:prstGeom>
          <a:solidFill>
            <a:srgbClr val="28629E"/>
          </a:solidFill>
          <a:ln>
            <a:solidFill>
              <a:srgbClr val="286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252728"/>
            <a:ext cx="493776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Cavity 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655064"/>
            <a:ext cx="4937760" cy="64922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Holds cavity inserts or contains the cavity profile.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73152" cy="1234440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52728"/>
            <a:ext cx="493776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Core plate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55064"/>
            <a:ext cx="4937760" cy="64922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Holds the core or core inserts.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715768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715768"/>
            <a:ext cx="73152" cy="1234440"/>
          </a:xfrm>
          <a:prstGeom prst="rect">
            <a:avLst/>
          </a:prstGeom>
          <a:solidFill>
            <a:srgbClr val="EFAD3D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825496"/>
            <a:ext cx="493776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Support plate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227832"/>
            <a:ext cx="4937760" cy="64922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Supports the core-side plate against injection load.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715768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715768"/>
            <a:ext cx="73152" cy="1234440"/>
          </a:xfrm>
          <a:prstGeom prst="rect">
            <a:avLst/>
          </a:prstGeom>
          <a:solidFill>
            <a:srgbClr val="28629E"/>
          </a:solidFill>
          <a:ln>
            <a:solidFill>
              <a:srgbClr val="286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825496"/>
            <a:ext cx="493776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Clamping plates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27832"/>
            <a:ext cx="4937760" cy="64922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Attach each mould half to the machine platens.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88536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288536"/>
            <a:ext cx="73152" cy="1234440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4398264"/>
            <a:ext cx="493776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Spacer blocks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4800600"/>
            <a:ext cx="4937760" cy="64922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Create space for the ejector assembly to move.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288536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4288536"/>
            <a:ext cx="73152" cy="1234440"/>
          </a:xfrm>
          <a:prstGeom prst="rect">
            <a:avLst/>
          </a:prstGeom>
          <a:solidFill>
            <a:srgbClr val="EFAD3D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398264"/>
            <a:ext cx="493776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Back plate / retainer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800600"/>
            <a:ext cx="4937760" cy="64922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Supports inserts or retains components depending on the design.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16D7B"/>
                </a:solidFill>
                <a:latin typeface="Aptos"/>
              </a:defRPr>
            </a:pPr>
            <a:r>
              <a:t>Plate names and exact stack-up vary with two-plate, three-plate, hot-runner and specialised mould designs.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1206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22035"/>
                </a:solidFill>
                <a:latin typeface="Aptos"/>
              </a:defRPr>
            </a:pPr>
            <a:r>
              <a:t>6. Guide pillars and guide bushes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18520" cy="32004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16D7B"/>
                </a:solidFill>
                <a:latin typeface="Aptos"/>
              </a:defRPr>
            </a:pPr>
            <a:r>
              <a:t>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16D7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417320"/>
            <a:ext cx="4206240" cy="594360"/>
          </a:xfrm>
          <a:prstGeom prst="rect">
            <a:avLst/>
          </a:prstGeom>
          <a:solidFill>
            <a:srgbClr val="B4C4D2"/>
          </a:solidFill>
          <a:ln>
            <a:solidFill>
              <a:srgbClr val="A6B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977639"/>
            <a:ext cx="4206240" cy="594360"/>
          </a:xfrm>
          <a:prstGeom prst="rect">
            <a:avLst/>
          </a:prstGeom>
          <a:solidFill>
            <a:srgbClr val="B4C4D2"/>
          </a:solidFill>
          <a:ln>
            <a:solidFill>
              <a:srgbClr val="A6B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54480" y="2011680"/>
            <a:ext cx="201168" cy="1965960"/>
          </a:xfrm>
          <a:prstGeom prst="rect">
            <a:avLst/>
          </a:prstGeom>
          <a:solidFill>
            <a:srgbClr val="EFAD3D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08176" y="2743200"/>
            <a:ext cx="493776" cy="658368"/>
          </a:xfrm>
          <a:prstGeom prst="roundRect">
            <a:avLst/>
          </a:prstGeom>
          <a:solidFill>
            <a:srgbClr val="CBD8E4"/>
          </a:solidFill>
          <a:ln>
            <a:solidFill>
              <a:srgbClr val="286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31920" y="2011680"/>
            <a:ext cx="201168" cy="1965960"/>
          </a:xfrm>
          <a:prstGeom prst="rect">
            <a:avLst/>
          </a:prstGeom>
          <a:solidFill>
            <a:srgbClr val="EFAD3D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85615" y="2743200"/>
            <a:ext cx="493776" cy="658368"/>
          </a:xfrm>
          <a:prstGeom prst="roundRect">
            <a:avLst/>
          </a:prstGeom>
          <a:solidFill>
            <a:srgbClr val="CBD8E4"/>
          </a:solidFill>
          <a:ln>
            <a:solidFill>
              <a:srgbClr val="286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1508760"/>
            <a:ext cx="1828800" cy="3657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Guide pillar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645920" y="1783080"/>
            <a:ext cx="3611880" cy="502920"/>
          </a:xfrm>
          <a:prstGeom prst="line">
            <a:avLst/>
          </a:prstGeom>
          <a:ln w="19050">
            <a:solidFill>
              <a:srgbClr val="2862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94960" y="1965960"/>
            <a:ext cx="1920240" cy="8229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03A"/>
                </a:solidFill>
                <a:latin typeface="Aptos"/>
              </a:defRPr>
            </a:pPr>
            <a:r>
              <a:t>Fixed post that guides the moving half during opening and closing.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3063240"/>
            <a:ext cx="1828800" cy="3657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Guide bush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77639" y="3017520"/>
            <a:ext cx="1280161" cy="274320"/>
          </a:xfrm>
          <a:prstGeom prst="line">
            <a:avLst/>
          </a:prstGeom>
          <a:ln w="19050">
            <a:solidFill>
              <a:srgbClr val="26B1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394960" y="3520440"/>
            <a:ext cx="2011680" cy="8229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03A"/>
                </a:solidFill>
                <a:latin typeface="Aptos"/>
              </a:defRPr>
            </a:pPr>
            <a:r>
              <a:t>Precision sleeve that works with the pillar to maintain alignment.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1417320"/>
            <a:ext cx="35204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18120" y="1417320"/>
            <a:ext cx="73152" cy="3337560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1527048"/>
            <a:ext cx="320040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Why alignment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1929384"/>
            <a:ext cx="3200400" cy="275234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7303A"/>
                </a:solidFill>
                <a:latin typeface="Aptos"/>
              </a:defRPr>
            </a:pPr>
            <a:r>
              <a:t>• Protects cavity and core shut-offs</a:t>
            </a:r>
          </a:p>
          <a:p>
            <a:pPr>
              <a:spcAft>
                <a:spcPts val="500"/>
              </a:spcAft>
              <a:defRPr sz="1400" b="0">
                <a:solidFill>
                  <a:srgbClr val="27303A"/>
                </a:solidFill>
                <a:latin typeface="Aptos"/>
              </a:defRPr>
            </a:pPr>
            <a:r>
              <a:t>• Reduces mismatch and flash risk</a:t>
            </a:r>
          </a:p>
          <a:p>
            <a:pPr>
              <a:spcAft>
                <a:spcPts val="500"/>
              </a:spcAft>
              <a:defRPr sz="1400" b="0">
                <a:solidFill>
                  <a:srgbClr val="27303A"/>
                </a:solidFill>
                <a:latin typeface="Aptos"/>
              </a:defRPr>
            </a:pPr>
            <a:r>
              <a:t>• Helps repeatable mould closing</a:t>
            </a:r>
          </a:p>
          <a:p>
            <a:pPr>
              <a:spcAft>
                <a:spcPts val="500"/>
              </a:spcAft>
              <a:defRPr sz="1400" b="0">
                <a:solidFill>
                  <a:srgbClr val="27303A"/>
                </a:solidFill>
                <a:latin typeface="Aptos"/>
              </a:defRPr>
            </a:pPr>
            <a:r>
              <a:t>• Requires lubrication / maintenance as specified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349240"/>
            <a:ext cx="10515600" cy="4114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AE3A30"/>
                </a:solidFill>
                <a:latin typeface="Aptos"/>
              </a:defRPr>
            </a:pPr>
            <a:r>
              <a:t>Guide components do not replace proper machine platen alignment or adequate mould support.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1206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22035"/>
                </a:solidFill>
                <a:latin typeface="Aptos"/>
              </a:defRPr>
            </a:pPr>
            <a:r>
              <a:t>7. Ejector system: pins, plates and return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18520" cy="32004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16D7B"/>
                </a:solidFill>
                <a:latin typeface="Aptos"/>
              </a:defRPr>
            </a:pPr>
            <a:r>
              <a:t>EJECTION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16D7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4572000" cy="594360"/>
          </a:xfrm>
          <a:prstGeom prst="rect">
            <a:avLst/>
          </a:prstGeom>
          <a:solidFill>
            <a:srgbClr val="AEBFCF"/>
          </a:solidFill>
          <a:ln>
            <a:solidFill>
              <a:srgbClr val="A6B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920240"/>
            <a:ext cx="4572000" cy="1325880"/>
          </a:xfrm>
          <a:prstGeom prst="rect">
            <a:avLst/>
          </a:prstGeom>
          <a:solidFill>
            <a:srgbClr val="94ABBF"/>
          </a:solidFill>
          <a:ln>
            <a:solidFill>
              <a:srgbClr val="A6B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246120"/>
            <a:ext cx="4572000" cy="457200"/>
          </a:xfrm>
          <a:prstGeom prst="rect">
            <a:avLst/>
          </a:prstGeom>
          <a:solidFill>
            <a:srgbClr val="D6E0E9"/>
          </a:solidFill>
          <a:ln>
            <a:solidFill>
              <a:srgbClr val="A6B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3703320"/>
            <a:ext cx="3474720" cy="548640"/>
          </a:xfrm>
          <a:prstGeom prst="rect">
            <a:avLst/>
          </a:prstGeom>
          <a:solidFill>
            <a:srgbClr val="B4C4D2"/>
          </a:solidFill>
          <a:ln>
            <a:solidFill>
              <a:srgbClr val="A6B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08760" y="2240280"/>
            <a:ext cx="109728" cy="1417320"/>
          </a:xfrm>
          <a:prstGeom prst="rect">
            <a:avLst/>
          </a:prstGeom>
          <a:solidFill>
            <a:srgbClr val="EFAD3D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68880" y="2240280"/>
            <a:ext cx="109728" cy="1417320"/>
          </a:xfrm>
          <a:prstGeom prst="rect">
            <a:avLst/>
          </a:prstGeom>
          <a:solidFill>
            <a:srgbClr val="EFAD3D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94760" y="2240280"/>
            <a:ext cx="109728" cy="1417320"/>
          </a:xfrm>
          <a:prstGeom prst="rect">
            <a:avLst/>
          </a:prstGeom>
          <a:solidFill>
            <a:srgbClr val="EFAD3D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2240280"/>
            <a:ext cx="109728" cy="1417320"/>
          </a:xfrm>
          <a:prstGeom prst="rect">
            <a:avLst/>
          </a:prstGeom>
          <a:solidFill>
            <a:srgbClr val="EFAD3D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1325880"/>
            <a:ext cx="1920240" cy="3657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Ejector pins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840480" y="1737360"/>
            <a:ext cx="1691640" cy="822960"/>
          </a:xfrm>
          <a:prstGeom prst="line">
            <a:avLst/>
          </a:prstGeom>
          <a:ln w="19050">
            <a:solidFill>
              <a:srgbClr val="EFA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669280" y="1783080"/>
            <a:ext cx="1920240" cy="8229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03A"/>
                </a:solidFill>
                <a:latin typeface="Aptos"/>
              </a:defRPr>
            </a:pPr>
            <a:r>
              <a:t>Push the moulded part off the core after opening.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743200"/>
            <a:ext cx="1920240" cy="3657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Ejector plates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108960" y="3154680"/>
            <a:ext cx="2423160" cy="731520"/>
          </a:xfrm>
          <a:prstGeom prst="line">
            <a:avLst/>
          </a:prstGeom>
          <a:ln w="19050">
            <a:solidFill>
              <a:srgbClr val="26B1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0" y="3200400"/>
            <a:ext cx="1920240" cy="8229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03A"/>
                </a:solidFill>
                <a:latin typeface="Aptos"/>
              </a:defRPr>
            </a:pPr>
            <a:r>
              <a:t>Hold and move the pins together as the ejection system advances.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1325880"/>
            <a:ext cx="34747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63840" y="1325880"/>
            <a:ext cx="73152" cy="3337560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9" y="1435607"/>
            <a:ext cx="3154679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Other elements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9" y="1837943"/>
            <a:ext cx="3154679" cy="275234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7303A"/>
                </a:solidFill>
                <a:latin typeface="Aptos"/>
              </a:defRPr>
            </a:pPr>
            <a:r>
              <a:t>• Return pins / return mechanism</a:t>
            </a:r>
          </a:p>
          <a:p>
            <a:pPr>
              <a:spcAft>
                <a:spcPts val="500"/>
              </a:spcAft>
              <a:defRPr sz="1400" b="0">
                <a:solidFill>
                  <a:srgbClr val="27303A"/>
                </a:solidFill>
                <a:latin typeface="Aptos"/>
              </a:defRPr>
            </a:pPr>
            <a:r>
              <a:t>• Ejector guide pins and bushes</a:t>
            </a:r>
          </a:p>
          <a:p>
            <a:pPr>
              <a:spcAft>
                <a:spcPts val="500"/>
              </a:spcAft>
              <a:defRPr sz="1400" b="0">
                <a:solidFill>
                  <a:srgbClr val="27303A"/>
                </a:solidFill>
                <a:latin typeface="Aptos"/>
              </a:defRPr>
            </a:pPr>
            <a:r>
              <a:t>• Ejector sleeves or blades</a:t>
            </a:r>
          </a:p>
          <a:p>
            <a:pPr>
              <a:spcAft>
                <a:spcPts val="500"/>
              </a:spcAft>
              <a:defRPr sz="1400" b="0">
                <a:solidFill>
                  <a:srgbClr val="27303A"/>
                </a:solidFill>
                <a:latin typeface="Aptos"/>
              </a:defRPr>
            </a:pPr>
            <a:r>
              <a:t>• Ejector stroke and stop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616D7B"/>
                </a:solidFill>
                <a:latin typeface="Aptos"/>
              </a:defRPr>
            </a:pPr>
            <a:r>
              <a:t>Ejector layout should avoid cosmetic damage, excessive local stress and part distortion.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1206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22035"/>
                </a:solidFill>
                <a:latin typeface="Aptos"/>
              </a:defRPr>
            </a:pPr>
            <a:r>
              <a:t>8. Ejector types and when they are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18520" cy="32004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16D7B"/>
                </a:solidFill>
                <a:latin typeface="Aptos"/>
              </a:defRPr>
            </a:pPr>
            <a:r>
              <a:t>EJECTION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16D7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566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73152" cy="1508760"/>
          </a:xfrm>
          <a:prstGeom prst="rect">
            <a:avLst/>
          </a:prstGeom>
          <a:solidFill>
            <a:srgbClr val="28629E"/>
          </a:solidFill>
          <a:ln>
            <a:solidFill>
              <a:srgbClr val="286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35607"/>
            <a:ext cx="324612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Ejector pin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37943"/>
            <a:ext cx="3246120" cy="923543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General-purpose ejection on robust surfaces.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325880"/>
            <a:ext cx="3566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325880"/>
            <a:ext cx="73152" cy="1508760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435607"/>
            <a:ext cx="324612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Ejector sleeve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837943"/>
            <a:ext cx="3246120" cy="923543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Often used around round cores or bosses.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325880"/>
            <a:ext cx="3566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1325880"/>
            <a:ext cx="73152" cy="1508760"/>
          </a:xfrm>
          <a:prstGeom prst="rect">
            <a:avLst/>
          </a:prstGeom>
          <a:solidFill>
            <a:srgbClr val="EFAD3D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435607"/>
            <a:ext cx="324612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Ejector blade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1837943"/>
            <a:ext cx="3246120" cy="923543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Useful for narrow ribs or thin rectangular features.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246120"/>
            <a:ext cx="3566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246120"/>
            <a:ext cx="73152" cy="1508760"/>
          </a:xfrm>
          <a:prstGeom prst="rect">
            <a:avLst/>
          </a:prstGeom>
          <a:solidFill>
            <a:srgbClr val="28629E"/>
          </a:solidFill>
          <a:ln>
            <a:solidFill>
              <a:srgbClr val="286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355848"/>
            <a:ext cx="324612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Stripper plate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758183"/>
            <a:ext cx="3246120" cy="923543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Pushes a larger area for more even release.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246120"/>
            <a:ext cx="3566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246120"/>
            <a:ext cx="73152" cy="1508760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3355848"/>
            <a:ext cx="324612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Air ejection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758183"/>
            <a:ext cx="3246120" cy="923543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Can assist release where tool design permits.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3246120"/>
            <a:ext cx="3566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75320" y="3246120"/>
            <a:ext cx="73152" cy="1508760"/>
          </a:xfrm>
          <a:prstGeom prst="rect">
            <a:avLst/>
          </a:prstGeom>
          <a:solidFill>
            <a:srgbClr val="EFAD3D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3355848"/>
            <a:ext cx="324612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Lifter / angled ejector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758183"/>
            <a:ext cx="3246120" cy="923543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Can help release selected undercuts in suitable designs.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577840"/>
            <a:ext cx="10607040" cy="4114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035"/>
                </a:solidFill>
                <a:latin typeface="Aptos"/>
              </a:defRPr>
            </a:pPr>
            <a:r>
              <a:t>Select the ejection method based on geometry, surface requirements, draft and tooling complexity.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1206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22035"/>
                </a:solidFill>
                <a:latin typeface="Aptos"/>
              </a:defRPr>
            </a:pPr>
            <a:r>
              <a:t>9. Cooling channels and fittings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18520" cy="32004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16D7B"/>
                </a:solidFill>
                <a:latin typeface="Aptos"/>
              </a:defRPr>
            </a:pPr>
            <a:r>
              <a:t>THERMAL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16D7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4846320" cy="3291840"/>
          </a:xfrm>
          <a:prstGeom prst="roundRect">
            <a:avLst/>
          </a:prstGeom>
          <a:solidFill>
            <a:srgbClr val="AFC1D1"/>
          </a:solidFill>
          <a:ln>
            <a:solidFill>
              <a:srgbClr val="A6B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34440" y="1965960"/>
            <a:ext cx="4023360" cy="182880"/>
          </a:xfrm>
          <a:prstGeom prst="roundRect">
            <a:avLst/>
          </a:prstGeom>
          <a:solidFill>
            <a:srgbClr val="489EDA"/>
          </a:solidFill>
          <a:ln>
            <a:solidFill>
              <a:srgbClr val="489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34440" y="2880360"/>
            <a:ext cx="4023360" cy="182880"/>
          </a:xfrm>
          <a:prstGeom prst="roundRect">
            <a:avLst/>
          </a:prstGeom>
          <a:solidFill>
            <a:srgbClr val="489EDA"/>
          </a:solidFill>
          <a:ln>
            <a:solidFill>
              <a:srgbClr val="489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34440" y="3794760"/>
            <a:ext cx="4023360" cy="182880"/>
          </a:xfrm>
          <a:prstGeom prst="roundRect">
            <a:avLst/>
          </a:prstGeom>
          <a:solidFill>
            <a:srgbClr val="489EDA"/>
          </a:solidFill>
          <a:ln>
            <a:solidFill>
              <a:srgbClr val="489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1920240"/>
            <a:ext cx="274320" cy="274320"/>
          </a:xfrm>
          <a:prstGeom prst="ellipse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49240" y="3749039"/>
            <a:ext cx="274320" cy="274320"/>
          </a:xfrm>
          <a:prstGeom prst="ellipse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508760"/>
            <a:ext cx="1920240" cy="3657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Cooling channels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657600" y="1874519"/>
            <a:ext cx="2331720" cy="1005841"/>
          </a:xfrm>
          <a:prstGeom prst="line">
            <a:avLst/>
          </a:prstGeom>
          <a:ln w="19050">
            <a:solidFill>
              <a:srgbClr val="26B1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26480" y="1920240"/>
            <a:ext cx="1828800" cy="9144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03A"/>
                </a:solidFill>
                <a:latin typeface="Aptos"/>
              </a:defRPr>
            </a:pPr>
            <a:r>
              <a:t>Carry water or another specified coolant to remove heat from the mould.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063240"/>
            <a:ext cx="1920240" cy="3657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Fittings / plugs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5440680" y="3383280"/>
            <a:ext cx="548640" cy="457200"/>
          </a:xfrm>
          <a:prstGeom prst="line">
            <a:avLst/>
          </a:prstGeom>
          <a:ln w="19050">
            <a:solidFill>
              <a:srgbClr val="2862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26480" y="3474720"/>
            <a:ext cx="1828800" cy="8229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03A"/>
                </a:solidFill>
                <a:latin typeface="Aptos"/>
              </a:defRPr>
            </a:pPr>
            <a:r>
              <a:t>Connect, seal or terminate each circuit; leaks must be prevented.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417320"/>
            <a:ext cx="31089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417320"/>
            <a:ext cx="73152" cy="3291840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527048"/>
            <a:ext cx="278892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Cooling design checks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929384"/>
            <a:ext cx="2788920" cy="270662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• Uniform cooling near cavity/core</a:t>
            </a:r>
          </a:p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• Balanced flow in circuits</a:t>
            </a:r>
          </a:p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• Leak and pressure testing</a:t>
            </a:r>
          </a:p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• Accessible connectors</a:t>
            </a:r>
          </a:p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• Avoid weak steel sections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303520"/>
            <a:ext cx="10515600" cy="4114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035"/>
                </a:solidFill>
                <a:latin typeface="Aptos"/>
              </a:defRPr>
            </a:pPr>
            <a:r>
              <a:t>Cooling performance strongly affects cycle time, shrinkage and warpage.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1206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22035"/>
                </a:solidFill>
                <a:latin typeface="Aptos"/>
              </a:defRPr>
            </a:pPr>
            <a:r>
              <a:t>10. Vents and air traps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18520" cy="32004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16D7B"/>
                </a:solidFill>
                <a:latin typeface="Aptos"/>
              </a:defRPr>
            </a:pPr>
            <a:r>
              <a:t>FILLING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16D7B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4389120" cy="2194560"/>
          </a:xfrm>
          <a:prstGeom prst="rect">
            <a:avLst/>
          </a:prstGeom>
          <a:solidFill>
            <a:srgbClr val="ADBFCF"/>
          </a:solidFill>
          <a:ln>
            <a:solidFill>
              <a:srgbClr val="A6B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749039"/>
            <a:ext cx="4389120" cy="502920"/>
          </a:xfrm>
          <a:prstGeom prst="rect">
            <a:avLst/>
          </a:prstGeom>
          <a:solidFill>
            <a:srgbClr val="D5DFE8"/>
          </a:solidFill>
          <a:ln>
            <a:solidFill>
              <a:srgbClr val="A6B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0" y="3429000"/>
            <a:ext cx="2560320" cy="320040"/>
          </a:xfrm>
          <a:prstGeom prst="rect">
            <a:avLst/>
          </a:prstGeom>
          <a:solidFill>
            <a:srgbClr val="EFAD3D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0" y="3246120"/>
            <a:ext cx="731520" cy="164592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5623560" y="2560320"/>
            <a:ext cx="777240" cy="777240"/>
          </a:xfrm>
          <a:prstGeom prst="line">
            <a:avLst/>
          </a:prstGeom>
          <a:ln w="19050">
            <a:solidFill>
              <a:srgbClr val="26B1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92240" y="1691640"/>
            <a:ext cx="1737360" cy="3657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Vent land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03120"/>
            <a:ext cx="1645920" cy="10058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03A"/>
                </a:solidFill>
                <a:latin typeface="Aptos"/>
              </a:defRPr>
            </a:pPr>
            <a:r>
              <a:t>A shallow path lets trapped air escape while restricting melt flash.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417320"/>
            <a:ext cx="29260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1417320"/>
            <a:ext cx="73152" cy="3291840"/>
          </a:xfrm>
          <a:prstGeom prst="rect">
            <a:avLst/>
          </a:prstGeom>
          <a:solidFill>
            <a:srgbClr val="EFAD3D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59" y="1527048"/>
            <a:ext cx="260604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Venting principles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59" y="1929384"/>
            <a:ext cx="2606040" cy="270662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• Locate near last-to-fill areas</a:t>
            </a:r>
          </a:p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• Keep vents clean</a:t>
            </a:r>
          </a:p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• Use resin-appropriate dimensions</a:t>
            </a:r>
          </a:p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• Avoid excessive depth that causes flash</a:t>
            </a:r>
          </a:p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• Review burns and short shots together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120640"/>
            <a:ext cx="10515600" cy="5029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AE3A30"/>
                </a:solidFill>
                <a:latin typeface="Aptos"/>
              </a:defRPr>
            </a:pPr>
            <a:r>
              <a:t>Vents are designed to release air and gases; dimensions must follow material and tooling guidance, not a universal value.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1206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22035"/>
                </a:solidFill>
                <a:latin typeface="Aptos"/>
              </a:defRPr>
            </a:pPr>
            <a:r>
              <a:t>11. Inserts, slides and lifters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18520" cy="32004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16D7B"/>
                </a:solidFill>
                <a:latin typeface="Aptos"/>
              </a:defRPr>
            </a:pPr>
            <a:r>
              <a:t>SPECIAL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16D7B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73152" cy="1234440"/>
          </a:xfrm>
          <a:prstGeom prst="rect">
            <a:avLst/>
          </a:prstGeom>
          <a:solidFill>
            <a:srgbClr val="28629E"/>
          </a:solidFill>
          <a:ln>
            <a:solidFill>
              <a:srgbClr val="286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252728"/>
            <a:ext cx="493776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Core / cavity insert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655064"/>
            <a:ext cx="4937760" cy="64922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Replaceable precision component that forms selected part geometry.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73152" cy="1234440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52728"/>
            <a:ext cx="493776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Slide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55064"/>
            <a:ext cx="4937760" cy="64922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Moves laterally to form or release side features and undercuts.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715768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715768"/>
            <a:ext cx="73152" cy="1234440"/>
          </a:xfrm>
          <a:prstGeom prst="rect">
            <a:avLst/>
          </a:prstGeom>
          <a:solidFill>
            <a:srgbClr val="EFAD3D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825496"/>
            <a:ext cx="493776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Lifter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227832"/>
            <a:ext cx="4937760" cy="64922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Moves along an angled path to release selected internal/external undercuts.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715768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715768"/>
            <a:ext cx="73152" cy="1234440"/>
          </a:xfrm>
          <a:prstGeom prst="rect">
            <a:avLst/>
          </a:prstGeom>
          <a:solidFill>
            <a:srgbClr val="28629E"/>
          </a:solidFill>
          <a:ln>
            <a:solidFill>
              <a:srgbClr val="286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825496"/>
            <a:ext cx="493776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Angle pin / cam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27832"/>
            <a:ext cx="4937760" cy="64922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Mechanism that drives a slide as the mould opens or closes.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88536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288536"/>
            <a:ext cx="73152" cy="1234440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4398264"/>
            <a:ext cx="493776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Wear plate / gib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4800600"/>
            <a:ext cx="4937760" cy="64922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Guides and supports slide movement under load.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288536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4288536"/>
            <a:ext cx="73152" cy="1234440"/>
          </a:xfrm>
          <a:prstGeom prst="rect">
            <a:avLst/>
          </a:prstGeom>
          <a:solidFill>
            <a:srgbClr val="EFAD3D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398264"/>
            <a:ext cx="493776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Stop block / limit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800600"/>
            <a:ext cx="4937760" cy="64922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Controls travel and helps prevent over-travel.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16D7B"/>
                </a:solidFill>
                <a:latin typeface="Aptos"/>
              </a:defRPr>
            </a:pPr>
            <a:r>
              <a:t>Side actions increase tooling complexity and require adequate clearance, strength, lubrication and maintenance.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1206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22035"/>
                </a:solidFill>
                <a:latin typeface="Aptos"/>
              </a:defRPr>
            </a:pPr>
            <a:r>
              <a:t>12. Fasteners, locating parts and seals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18520" cy="32004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16D7B"/>
                </a:solidFill>
                <a:latin typeface="Aptos"/>
              </a:defRPr>
            </a:pPr>
            <a:r>
              <a:t>ASSEMBLY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16D7B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73152" cy="1828800"/>
          </a:xfrm>
          <a:prstGeom prst="rect">
            <a:avLst/>
          </a:prstGeom>
          <a:solidFill>
            <a:srgbClr val="28629E"/>
          </a:solidFill>
          <a:ln>
            <a:solidFill>
              <a:srgbClr val="286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252728"/>
            <a:ext cx="320040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Socket-head screws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655064"/>
            <a:ext cx="3200400" cy="12435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Clamp plates and retain components. Select suitable size, grade, engagement and tightening method.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14300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143000"/>
            <a:ext cx="73152" cy="1828800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252728"/>
            <a:ext cx="320040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Dowel pins / keys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55064"/>
            <a:ext cx="3200400" cy="12435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Locate plates and inserts accurately; prevent unwanted shift during assembly.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14300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143000"/>
            <a:ext cx="73152" cy="1828800"/>
          </a:xfrm>
          <a:prstGeom prst="rect">
            <a:avLst/>
          </a:prstGeom>
          <a:solidFill>
            <a:srgbClr val="EFAD3D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252728"/>
            <a:ext cx="320040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O-rings / seals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655064"/>
            <a:ext cx="3200400" cy="12435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Seal cooling circuits or hot-runner interfaces where the design requires them.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657600"/>
            <a:ext cx="10515600" cy="1828800"/>
          </a:xfrm>
          <a:prstGeom prst="rect">
            <a:avLst/>
          </a:prstGeom>
          <a:noFill/>
        </p:spPr>
        <p:txBody>
          <a:bodyPr wrap="square" lIns="45720" t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7303A"/>
                </a:solidFill>
                <a:latin typeface="Aptos"/>
              </a:defRPr>
            </a:pPr>
            <a:r>
              <a:t>•  Use the drawing and BOM to confirm quantity, material and fit.</a:t>
            </a:r>
          </a:p>
          <a:p>
            <a:pPr>
              <a:spcAft>
                <a:spcPts val="800"/>
              </a:spcAft>
              <a:defRPr sz="1500">
                <a:solidFill>
                  <a:srgbClr val="27303A"/>
                </a:solidFill>
                <a:latin typeface="Aptos"/>
              </a:defRPr>
            </a:pPr>
            <a:r>
              <a:t>•  Check screw length, thread engagement, clearances and service access.</a:t>
            </a:r>
          </a:p>
          <a:p>
            <a:pPr>
              <a:spcAft>
                <a:spcPts val="800"/>
              </a:spcAft>
              <a:defRPr sz="1500">
                <a:solidFill>
                  <a:srgbClr val="27303A"/>
                </a:solidFill>
                <a:latin typeface="Aptos"/>
              </a:defRPr>
            </a:pPr>
            <a:r>
              <a:t>•  Use the specified seal material and groove design for temperature and coolant.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1206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22035"/>
                </a:solidFill>
                <a:latin typeface="Aptos"/>
              </a:defRPr>
            </a:pPr>
            <a:r>
              <a:t>13. Cold-runner and hot-runner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18520" cy="32004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16D7B"/>
                </a:solidFill>
                <a:latin typeface="Aptos"/>
              </a:defRPr>
            </a:pPr>
            <a:r>
              <a:t>FEED SYSTEM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16D7B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3492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73152" cy="3154680"/>
          </a:xfrm>
          <a:prstGeom prst="rect">
            <a:avLst/>
          </a:prstGeom>
          <a:solidFill>
            <a:srgbClr val="28629E"/>
          </a:solidFill>
          <a:ln>
            <a:solidFill>
              <a:srgbClr val="286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252728"/>
            <a:ext cx="502920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Cold runner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655064"/>
            <a:ext cx="5029200" cy="256946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7303A"/>
                </a:solidFill>
                <a:latin typeface="Aptos"/>
              </a:defRPr>
            </a:pPr>
            <a:r>
              <a:t>• Plastic in the sprue/runner solidifies each cycle</a:t>
            </a:r>
          </a:p>
          <a:p>
            <a:pPr>
              <a:spcAft>
                <a:spcPts val="500"/>
              </a:spcAft>
              <a:defRPr sz="1400" b="0">
                <a:solidFill>
                  <a:srgbClr val="27303A"/>
                </a:solidFill>
                <a:latin typeface="Aptos"/>
              </a:defRPr>
            </a:pPr>
            <a:r>
              <a:t>• Runner may be reprocessed only if allowed by material and quality rules</a:t>
            </a:r>
          </a:p>
          <a:p>
            <a:pPr>
              <a:spcAft>
                <a:spcPts val="500"/>
              </a:spcAft>
              <a:defRPr sz="1400" b="0">
                <a:solidFill>
                  <a:srgbClr val="27303A"/>
                </a:solidFill>
                <a:latin typeface="Aptos"/>
              </a:defRPr>
            </a:pPr>
            <a:r>
              <a:t>• Simpler tool concept and maintenance in many applications</a:t>
            </a:r>
          </a:p>
          <a:p>
            <a:pPr>
              <a:spcAft>
                <a:spcPts val="500"/>
              </a:spcAft>
              <a:defRPr sz="1400" b="0">
                <a:solidFill>
                  <a:srgbClr val="27303A"/>
                </a:solidFill>
                <a:latin typeface="Aptos"/>
              </a:defRPr>
            </a:pPr>
            <a:r>
              <a:t>• Runner mass and removal affect cycle and scrap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3492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73152" cy="3154680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52728"/>
            <a:ext cx="502920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Hot runner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55064"/>
            <a:ext cx="5029200" cy="256946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7303A"/>
                </a:solidFill>
                <a:latin typeface="Aptos"/>
              </a:defRPr>
            </a:pPr>
            <a:r>
              <a:t>• Heated manifold/nozzles keep feed material molten</a:t>
            </a:r>
          </a:p>
          <a:p>
            <a:pPr>
              <a:spcAft>
                <a:spcPts val="500"/>
              </a:spcAft>
              <a:defRPr sz="1400" b="0">
                <a:solidFill>
                  <a:srgbClr val="27303A"/>
                </a:solidFill>
                <a:latin typeface="Aptos"/>
              </a:defRPr>
            </a:pPr>
            <a:r>
              <a:t>• Can reduce cold-runner waste and support multi-cavity layouts</a:t>
            </a:r>
          </a:p>
          <a:p>
            <a:pPr>
              <a:spcAft>
                <a:spcPts val="500"/>
              </a:spcAft>
              <a:defRPr sz="1400" b="0">
                <a:solidFill>
                  <a:srgbClr val="27303A"/>
                </a:solidFill>
                <a:latin typeface="Aptos"/>
              </a:defRPr>
            </a:pPr>
            <a:r>
              <a:t>• Higher system cost and more thermal-control requirements</a:t>
            </a:r>
          </a:p>
          <a:p>
            <a:pPr>
              <a:spcAft>
                <a:spcPts val="500"/>
              </a:spcAft>
              <a:defRPr sz="1400" b="0">
                <a:solidFill>
                  <a:srgbClr val="27303A"/>
                </a:solidFill>
                <a:latin typeface="Aptos"/>
              </a:defRPr>
            </a:pPr>
            <a:r>
              <a:t>• Requires careful balancing, sealing and maintenance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92040"/>
            <a:ext cx="10607040" cy="7315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22035"/>
                </a:solidFill>
                <a:latin typeface="Aptos"/>
              </a:defRPr>
            </a:pPr>
            <a:r>
              <a:t>Neither system is universally better. Selection depends on part quality, material, production volume, budget and process capability.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1206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22035"/>
                </a:solidFill>
                <a:latin typeface="Aptos"/>
              </a:defRPr>
            </a:pPr>
            <a:r>
              <a:t>14. Two-plate vs three-plate mould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18520" cy="32004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16D7B"/>
                </a:solidFill>
                <a:latin typeface="Aptos"/>
              </a:defRPr>
            </a:pPr>
            <a:r>
              <a:t>MOULD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16D7B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3492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73152" cy="3154680"/>
          </a:xfrm>
          <a:prstGeom prst="rect">
            <a:avLst/>
          </a:prstGeom>
          <a:solidFill>
            <a:srgbClr val="28629E"/>
          </a:solidFill>
          <a:ln>
            <a:solidFill>
              <a:srgbClr val="286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252728"/>
            <a:ext cx="502920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Two-plate mould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655064"/>
            <a:ext cx="5029200" cy="256946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7303A"/>
                </a:solidFill>
                <a:latin typeface="Aptos"/>
              </a:defRPr>
            </a:pPr>
            <a:r>
              <a:t>Typically has one main parting plane. Runner and part are commonly released at the same opening plane, depending on design.</a:t>
            </a:r>
          </a:p>
          <a:p>
            <a:pPr>
              <a:spcAft>
                <a:spcPts val="500"/>
              </a:spcAft>
              <a:defRPr sz="1500" b="0">
                <a:solidFill>
                  <a:srgbClr val="27303A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500" b="0">
                <a:solidFill>
                  <a:srgbClr val="27303A"/>
                </a:solidFill>
                <a:latin typeface="Aptos"/>
              </a:defRPr>
            </a:pPr>
            <a:r>
              <a:t>Common for straightforward layouts and many production parts.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3492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73152" cy="3154680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52728"/>
            <a:ext cx="502920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Three-plate mould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55064"/>
            <a:ext cx="5029200" cy="256946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7303A"/>
                </a:solidFill>
                <a:latin typeface="Aptos"/>
              </a:defRPr>
            </a:pPr>
            <a:r>
              <a:t>Uses an additional plate / parting plane to separate the runner from the part or enable specific gating arrangements.</a:t>
            </a:r>
          </a:p>
          <a:p>
            <a:pPr>
              <a:spcAft>
                <a:spcPts val="500"/>
              </a:spcAft>
              <a:defRPr sz="1500" b="0">
                <a:solidFill>
                  <a:srgbClr val="27303A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500" b="0">
                <a:solidFill>
                  <a:srgbClr val="27303A"/>
                </a:solidFill>
                <a:latin typeface="Aptos"/>
              </a:defRPr>
            </a:pPr>
            <a:r>
              <a:t>Adds complexity, opening sequence and maintenance considerations.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92040"/>
            <a:ext cx="10607040" cy="7315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035"/>
                </a:solidFill>
                <a:latin typeface="Aptos"/>
              </a:defRPr>
            </a:pPr>
            <a:r>
              <a:t>The mould type determines the plate stack, feed-system layout and ejection sequence.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1206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22035"/>
                </a:solidFill>
                <a:latin typeface="Aptos"/>
              </a:defRPr>
            </a:pPr>
            <a:r>
              <a:t>15. How to read a mould parts list (BOM)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18520" cy="32004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16D7B"/>
                </a:solidFill>
                <a:latin typeface="Aptos"/>
              </a:defRPr>
            </a:pPr>
            <a:r>
              <a:t>DESIGN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16D7B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5486400" cy="4480560"/>
          </a:xfrm>
          <a:prstGeom prst="rect">
            <a:avLst/>
          </a:prstGeom>
          <a:noFill/>
        </p:spPr>
        <p:txBody>
          <a:bodyPr wrap="square" lIns="45720" tIns="36576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7303A"/>
                </a:solidFill>
                <a:latin typeface="Aptos"/>
              </a:defRPr>
            </a:pPr>
            <a:r>
              <a:t>•  Item number and component name</a:t>
            </a:r>
          </a:p>
          <a:p>
            <a:pPr>
              <a:spcAft>
                <a:spcPts val="800"/>
              </a:spcAft>
              <a:defRPr sz="1600">
                <a:solidFill>
                  <a:srgbClr val="27303A"/>
                </a:solidFill>
                <a:latin typeface="Aptos"/>
              </a:defRPr>
            </a:pPr>
            <a:r>
              <a:t>•  Standard / supplier code and drawing reference</a:t>
            </a:r>
          </a:p>
          <a:p>
            <a:pPr>
              <a:spcAft>
                <a:spcPts val="800"/>
              </a:spcAft>
              <a:defRPr sz="1600">
                <a:solidFill>
                  <a:srgbClr val="27303A"/>
                </a:solidFill>
                <a:latin typeface="Aptos"/>
              </a:defRPr>
            </a:pPr>
            <a:r>
              <a:t>•  Material grade, hardness or surface treatment</a:t>
            </a:r>
          </a:p>
          <a:p>
            <a:pPr>
              <a:spcAft>
                <a:spcPts val="800"/>
              </a:spcAft>
              <a:defRPr sz="1600">
                <a:solidFill>
                  <a:srgbClr val="27303A"/>
                </a:solidFill>
                <a:latin typeface="Aptos"/>
              </a:defRPr>
            </a:pPr>
            <a:r>
              <a:t>•  Quantity and assembly location</a:t>
            </a:r>
          </a:p>
          <a:p>
            <a:pPr>
              <a:spcAft>
                <a:spcPts val="800"/>
              </a:spcAft>
              <a:defRPr sz="1600">
                <a:solidFill>
                  <a:srgbClr val="27303A"/>
                </a:solidFill>
                <a:latin typeface="Aptos"/>
              </a:defRPr>
            </a:pPr>
            <a:r>
              <a:t>•  Fit, tolerance and inspection requirement</a:t>
            </a:r>
          </a:p>
          <a:p>
            <a:pPr>
              <a:spcAft>
                <a:spcPts val="800"/>
              </a:spcAft>
              <a:defRPr sz="1600">
                <a:solidFill>
                  <a:srgbClr val="27303A"/>
                </a:solidFill>
                <a:latin typeface="Aptos"/>
              </a:defRPr>
            </a:pPr>
            <a:r>
              <a:t>•  Revision and replacement / maintenance information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234440"/>
            <a:ext cx="47548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37960" y="1234440"/>
            <a:ext cx="73152" cy="2286000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344168"/>
            <a:ext cx="443484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Example BOM 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746504"/>
            <a:ext cx="4434840" cy="17007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7303A"/>
                </a:solidFill>
                <a:latin typeface="Aptos"/>
              </a:defRPr>
            </a:pPr>
            <a:r>
              <a:t>Item: 12</a:t>
            </a:r>
          </a:p>
          <a:p>
            <a:pPr>
              <a:spcAft>
                <a:spcPts val="500"/>
              </a:spcAft>
              <a:defRPr sz="1400" b="0">
                <a:solidFill>
                  <a:srgbClr val="27303A"/>
                </a:solidFill>
                <a:latin typeface="Aptos"/>
              </a:defRPr>
            </a:pPr>
            <a:r>
              <a:t>Component: Guide pillar</a:t>
            </a:r>
          </a:p>
          <a:p>
            <a:pPr>
              <a:spcAft>
                <a:spcPts val="500"/>
              </a:spcAft>
              <a:defRPr sz="1400" b="0">
                <a:solidFill>
                  <a:srgbClr val="27303A"/>
                </a:solidFill>
                <a:latin typeface="Aptos"/>
              </a:defRPr>
            </a:pPr>
            <a:r>
              <a:t>Material: Tooling-standard grade per drawing</a:t>
            </a:r>
          </a:p>
          <a:p>
            <a:pPr>
              <a:spcAft>
                <a:spcPts val="500"/>
              </a:spcAft>
              <a:defRPr sz="1400" b="0">
                <a:solidFill>
                  <a:srgbClr val="27303A"/>
                </a:solidFill>
                <a:latin typeface="Aptos"/>
              </a:defRPr>
            </a:pPr>
            <a:r>
              <a:t>Qty: 4</a:t>
            </a:r>
          </a:p>
          <a:p>
            <a:pPr>
              <a:spcAft>
                <a:spcPts val="500"/>
              </a:spcAft>
              <a:defRPr sz="1400" b="0">
                <a:solidFill>
                  <a:srgbClr val="27303A"/>
                </a:solidFill>
                <a:latin typeface="Aptos"/>
              </a:defRPr>
            </a:pPr>
            <a:r>
              <a:t>Fit: As specified in mould assembly drawing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931920"/>
            <a:ext cx="4480560" cy="10058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AE3A30"/>
                </a:solidFill>
                <a:latin typeface="Aptos"/>
              </a:defRPr>
            </a:pPr>
            <a:r>
              <a:t>Always follow the approved drawing and standard-component supplier catalogue; do not infer dimensions from a generic picture.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1206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22035"/>
                </a:solidFill>
                <a:latin typeface="Aptos"/>
              </a:defRPr>
            </a:pPr>
            <a:r>
              <a:t>16. Inspection and maintenance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18520" cy="32004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16D7B"/>
                </a:solidFill>
                <a:latin typeface="Aptos"/>
              </a:defRPr>
            </a:pPr>
            <a:r>
              <a:t>TOOL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16D7B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5303520" cy="4663440"/>
          </a:xfrm>
          <a:prstGeom prst="rect">
            <a:avLst/>
          </a:prstGeom>
          <a:noFill/>
        </p:spPr>
        <p:txBody>
          <a:bodyPr wrap="square" lIns="45720" t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7303A"/>
                </a:solidFill>
                <a:latin typeface="Aptos"/>
              </a:defRPr>
            </a:pPr>
            <a:r>
              <a:t>•  Clean cavity, core, parting line and vents safely</a:t>
            </a:r>
          </a:p>
          <a:p>
            <a:pPr>
              <a:spcAft>
                <a:spcPts val="800"/>
              </a:spcAft>
              <a:defRPr sz="1500">
                <a:solidFill>
                  <a:srgbClr val="27303A"/>
                </a:solidFill>
                <a:latin typeface="Aptos"/>
              </a:defRPr>
            </a:pPr>
            <a:r>
              <a:t>•  Inspect guide pillars, bushes and slide wear</a:t>
            </a:r>
          </a:p>
          <a:p>
            <a:pPr>
              <a:spcAft>
                <a:spcPts val="800"/>
              </a:spcAft>
              <a:defRPr sz="1500">
                <a:solidFill>
                  <a:srgbClr val="27303A"/>
                </a:solidFill>
                <a:latin typeface="Aptos"/>
              </a:defRPr>
            </a:pPr>
            <a:r>
              <a:t>•  Check ejector pins for bending, galling or sticking</a:t>
            </a:r>
          </a:p>
          <a:p>
            <a:pPr>
              <a:spcAft>
                <a:spcPts val="800"/>
              </a:spcAft>
              <a:defRPr sz="1500">
                <a:solidFill>
                  <a:srgbClr val="27303A"/>
                </a:solidFill>
                <a:latin typeface="Aptos"/>
              </a:defRPr>
            </a:pPr>
            <a:r>
              <a:t>•  Inspect cooling circuits for leaks, scale and flow reduction</a:t>
            </a:r>
          </a:p>
          <a:p>
            <a:pPr>
              <a:spcAft>
                <a:spcPts val="800"/>
              </a:spcAft>
              <a:defRPr sz="1500">
                <a:solidFill>
                  <a:srgbClr val="27303A"/>
                </a:solidFill>
                <a:latin typeface="Aptos"/>
              </a:defRPr>
            </a:pPr>
            <a:r>
              <a:t>•  Check fasteners, locating features and inserts</a:t>
            </a:r>
          </a:p>
          <a:p>
            <a:pPr>
              <a:spcAft>
                <a:spcPts val="800"/>
              </a:spcAft>
              <a:defRPr sz="1500">
                <a:solidFill>
                  <a:srgbClr val="27303A"/>
                </a:solidFill>
                <a:latin typeface="Aptos"/>
              </a:defRPr>
            </a:pPr>
            <a:r>
              <a:t>•  Record shot count, repairs and recurring defects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43000"/>
            <a:ext cx="5120640" cy="4663440"/>
          </a:xfrm>
          <a:prstGeom prst="rect">
            <a:avLst/>
          </a:prstGeom>
          <a:noFill/>
        </p:spPr>
        <p:txBody>
          <a:bodyPr wrap="square" lIns="45720" t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7303A"/>
                </a:solidFill>
                <a:latin typeface="Aptos"/>
              </a:defRPr>
            </a:pPr>
            <a:r>
              <a:t>•  Follow lockout, guarding and hot-tool procedures</a:t>
            </a:r>
          </a:p>
          <a:p>
            <a:pPr>
              <a:spcAft>
                <a:spcPts val="800"/>
              </a:spcAft>
              <a:defRPr sz="1500">
                <a:solidFill>
                  <a:srgbClr val="27303A"/>
                </a:solidFill>
                <a:latin typeface="Aptos"/>
              </a:defRPr>
            </a:pPr>
            <a:r>
              <a:t>•  Use approved lubricants and cleaning agents</a:t>
            </a:r>
          </a:p>
          <a:p>
            <a:pPr>
              <a:spcAft>
                <a:spcPts val="800"/>
              </a:spcAft>
              <a:defRPr sz="1500">
                <a:solidFill>
                  <a:srgbClr val="27303A"/>
                </a:solidFill>
                <a:latin typeface="Aptos"/>
              </a:defRPr>
            </a:pPr>
            <a:r>
              <a:t>•  Protect polished / textured surfaces from damage</a:t>
            </a:r>
          </a:p>
          <a:p>
            <a:pPr>
              <a:spcAft>
                <a:spcPts val="800"/>
              </a:spcAft>
              <a:defRPr sz="1500">
                <a:solidFill>
                  <a:srgbClr val="27303A"/>
                </a:solidFill>
                <a:latin typeface="Aptos"/>
              </a:defRPr>
            </a:pPr>
            <a:r>
              <a:t>•  Dry and protect the mould before storage as specified</a:t>
            </a:r>
          </a:p>
          <a:p>
            <a:pPr>
              <a:spcAft>
                <a:spcPts val="800"/>
              </a:spcAft>
              <a:defRPr sz="1500">
                <a:solidFill>
                  <a:srgbClr val="27303A"/>
                </a:solidFill>
                <a:latin typeface="Aptos"/>
              </a:defRPr>
            </a:pPr>
            <a:r>
              <a:t>•  Reassemble and verify movement before production</a:t>
            </a:r>
          </a:p>
          <a:p>
            <a:pPr>
              <a:spcAft>
                <a:spcPts val="800"/>
              </a:spcAft>
              <a:defRPr sz="1500">
                <a:solidFill>
                  <a:srgbClr val="27303A"/>
                </a:solidFill>
                <a:latin typeface="Aptos"/>
              </a:defRPr>
            </a:pPr>
            <a:r>
              <a:t>•  Document maintenance and verify first-off parts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1206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22035"/>
                </a:solidFill>
                <a:latin typeface="Aptos"/>
              </a:defRPr>
            </a:pPr>
            <a:r>
              <a:t>17. Component-related symptoms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18520" cy="32004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16D7B"/>
                </a:solidFill>
                <a:latin typeface="Aptos"/>
              </a:defRPr>
            </a:pPr>
            <a:r>
              <a:t>TROUBLESHOOTING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16D7B"/>
                </a:solidFill>
                <a:latin typeface="Aptos"/>
              </a:defRPr>
            </a:pPr>
            <a: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188720"/>
          <a:ext cx="107899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046720"/>
              </a:tblGrid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Symptom</a:t>
                      </a:r>
                    </a:p>
                  </a:txBody>
                  <a:tcPr>
                    <a:solidFill>
                      <a:srgbClr val="12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Components / factors to inspect</a:t>
                      </a:r>
                    </a:p>
                  </a:txBody>
                  <a:tcPr>
                    <a:solidFill>
                      <a:srgbClr val="12203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7303A"/>
                          </a:solidFill>
                        </a:defRPr>
                      </a:pPr>
                      <a:r>
                        <a:t>Flash at parting 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7303A"/>
                          </a:solidFill>
                        </a:defRPr>
                      </a:pPr>
                      <a:r>
                        <a:t>Parting surfaces, alignment, clamp force, pressure profile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7303A"/>
                          </a:solidFill>
                        </a:defRPr>
                      </a:pPr>
                      <a:r>
                        <a:t>Part sticks on core</a:t>
                      </a:r>
                    </a:p>
                  </a:txBody>
                  <a:tcPr>
                    <a:solidFill>
                      <a:srgbClr val="E1EA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7303A"/>
                          </a:solidFill>
                        </a:defRPr>
                      </a:pPr>
                      <a:r>
                        <a:t>Draft, surface condition, shrinkage, cooling and ejection</a:t>
                      </a:r>
                    </a:p>
                  </a:txBody>
                  <a:tcPr>
                    <a:solidFill>
                      <a:srgbClr val="E1EA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7303A"/>
                          </a:solidFill>
                        </a:defRPr>
                      </a:pPr>
                      <a:r>
                        <a:t>Short shot at end of fill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7303A"/>
                          </a:solidFill>
                        </a:defRPr>
                      </a:pPr>
                      <a:r>
                        <a:t>Gate/runner restriction, vents, flow path, material/process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7303A"/>
                          </a:solidFill>
                        </a:defRPr>
                      </a:pPr>
                      <a:r>
                        <a:t>Cooling leak</a:t>
                      </a:r>
                    </a:p>
                  </a:txBody>
                  <a:tcPr>
                    <a:solidFill>
                      <a:srgbClr val="E1EA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7303A"/>
                          </a:solidFill>
                        </a:defRPr>
                      </a:pPr>
                      <a:r>
                        <a:t>Fitting, seal, plug, corrosion or damaged channel</a:t>
                      </a:r>
                    </a:p>
                  </a:txBody>
                  <a:tcPr>
                    <a:solidFill>
                      <a:srgbClr val="E1EA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7303A"/>
                          </a:solidFill>
                        </a:defRPr>
                      </a:pPr>
                      <a:r>
                        <a:t>Mismatch / 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7303A"/>
                          </a:solidFill>
                        </a:defRPr>
                      </a:pPr>
                      <a:r>
                        <a:t>Guide system, locating features, wear or plate alignment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7303A"/>
                          </a:solidFill>
                        </a:defRPr>
                      </a:pPr>
                      <a:r>
                        <a:t>Ejector whitening</a:t>
                      </a:r>
                    </a:p>
                  </a:txBody>
                  <a:tcPr>
                    <a:solidFill>
                      <a:srgbClr val="E1EA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7303A"/>
                          </a:solidFill>
                        </a:defRPr>
                      </a:pPr>
                      <a:r>
                        <a:t>Pin layout, draft, ejection force, part temperature</a:t>
                      </a:r>
                    </a:p>
                  </a:txBody>
                  <a:tcPr>
                    <a:solidFill>
                      <a:srgbClr val="E1EA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1206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22035"/>
                </a:solidFill>
                <a:latin typeface="Aptos"/>
              </a:defRPr>
            </a:pPr>
            <a:r>
              <a:t>Mould parts: quick revision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18520" cy="32004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16D7B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16D7B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5156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51560"/>
            <a:ext cx="73152" cy="960120"/>
          </a:xfrm>
          <a:prstGeom prst="rect">
            <a:avLst/>
          </a:prstGeom>
          <a:solidFill>
            <a:srgbClr val="28629E"/>
          </a:solidFill>
          <a:ln>
            <a:solidFill>
              <a:srgbClr val="286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161288"/>
            <a:ext cx="493776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Feed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563624"/>
            <a:ext cx="4937760" cy="37490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03A"/>
                </a:solidFill>
                <a:latin typeface="Aptos"/>
              </a:defRPr>
            </a:pPr>
            <a:r>
              <a:t>Locating ring, sprue bush, sprue, runner, gate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5156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51560"/>
            <a:ext cx="73152" cy="960120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161288"/>
            <a:ext cx="493776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Forming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563624"/>
            <a:ext cx="4937760" cy="37490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03A"/>
                </a:solidFill>
                <a:latin typeface="Aptos"/>
              </a:defRPr>
            </a:pPr>
            <a:r>
              <a:t>Cavity, core, inserts, shut-offs, parting 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24028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240280"/>
            <a:ext cx="73152" cy="960120"/>
          </a:xfrm>
          <a:prstGeom prst="rect">
            <a:avLst/>
          </a:prstGeom>
          <a:solidFill>
            <a:srgbClr val="EFAD3D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350008"/>
            <a:ext cx="493776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2752344"/>
            <a:ext cx="4937760" cy="37490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03A"/>
                </a:solidFill>
                <a:latin typeface="Aptos"/>
              </a:defRPr>
            </a:pPr>
            <a:r>
              <a:t>Clamping plates, cavity/core plates, support plate, spacers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24028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240280"/>
            <a:ext cx="73152" cy="960120"/>
          </a:xfrm>
          <a:prstGeom prst="rect">
            <a:avLst/>
          </a:prstGeom>
          <a:solidFill>
            <a:srgbClr val="28629E"/>
          </a:solidFill>
          <a:ln>
            <a:solidFill>
              <a:srgbClr val="286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350008"/>
            <a:ext cx="493776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Alignment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752344"/>
            <a:ext cx="4937760" cy="37490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03A"/>
                </a:solidFill>
                <a:latin typeface="Aptos"/>
              </a:defRPr>
            </a:pPr>
            <a:r>
              <a:t>Guide pillars, guide bushes, locating features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42900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429000"/>
            <a:ext cx="73152" cy="960120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3538728"/>
            <a:ext cx="493776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Ejection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3941064"/>
            <a:ext cx="4937760" cy="37490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03A"/>
                </a:solidFill>
                <a:latin typeface="Aptos"/>
              </a:defRPr>
            </a:pPr>
            <a:r>
              <a:t>Ejector pins, sleeves, blades, plates, returns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42900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429000"/>
            <a:ext cx="73152" cy="960120"/>
          </a:xfrm>
          <a:prstGeom prst="rect">
            <a:avLst/>
          </a:prstGeom>
          <a:solidFill>
            <a:srgbClr val="EFAD3D"/>
          </a:solidFill>
          <a:ln>
            <a:solidFill>
              <a:srgbClr val="EFA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38728"/>
            <a:ext cx="493776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Thermal / air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941064"/>
            <a:ext cx="4937760" cy="37490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03A"/>
                </a:solidFill>
                <a:latin typeface="Aptos"/>
              </a:defRPr>
            </a:pPr>
            <a:r>
              <a:t>Cooling channels, fittings, plugs, vents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61772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617720"/>
            <a:ext cx="73152" cy="960120"/>
          </a:xfrm>
          <a:prstGeom prst="rect">
            <a:avLst/>
          </a:prstGeom>
          <a:solidFill>
            <a:srgbClr val="28629E"/>
          </a:solidFill>
          <a:ln>
            <a:solidFill>
              <a:srgbClr val="286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4727448"/>
            <a:ext cx="493776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Side actions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5129784"/>
            <a:ext cx="4937760" cy="37490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03A"/>
                </a:solidFill>
                <a:latin typeface="Aptos"/>
              </a:defRPr>
            </a:pPr>
            <a:r>
              <a:t>Slides, lifters, angle pins, wear plates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61772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4617720"/>
            <a:ext cx="73152" cy="960120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727448"/>
            <a:ext cx="493776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Assembly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129784"/>
            <a:ext cx="4937760" cy="37490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03A"/>
                </a:solidFill>
                <a:latin typeface="Aptos"/>
              </a:defRPr>
            </a:pPr>
            <a:r>
              <a:t>Screws, dowels, keys, seals, stop blocks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1206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22035"/>
                </a:solidFill>
                <a:latin typeface="Aptos"/>
              </a:defRPr>
            </a:pPr>
            <a:r>
              <a:t>Knowledge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18520" cy="32004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16D7B"/>
                </a:solidFill>
                <a:latin typeface="Aptos"/>
              </a:defRPr>
            </a:pPr>
            <a:r>
              <a:t>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16D7B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6949440" cy="4297680"/>
          </a:xfrm>
          <a:prstGeom prst="rect">
            <a:avLst/>
          </a:prstGeom>
          <a:noFill/>
        </p:spPr>
        <p:txBody>
          <a:bodyPr wrap="square" lIns="45720" tIns="36576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7303A"/>
                </a:solidFill>
                <a:latin typeface="Aptos"/>
              </a:defRPr>
            </a:pPr>
            <a:r>
              <a:t>•  1. Which component centres the mould on the fixed platen?</a:t>
            </a:r>
          </a:p>
          <a:p>
            <a:pPr>
              <a:spcAft>
                <a:spcPts val="800"/>
              </a:spcAft>
              <a:defRPr sz="1600">
                <a:solidFill>
                  <a:srgbClr val="27303A"/>
                </a:solidFill>
                <a:latin typeface="Aptos"/>
              </a:defRPr>
            </a:pPr>
            <a:r>
              <a:t>•  2. Which components form the external and internal geometry of a part?</a:t>
            </a:r>
          </a:p>
          <a:p>
            <a:pPr>
              <a:spcAft>
                <a:spcPts val="800"/>
              </a:spcAft>
              <a:defRPr sz="1600">
                <a:solidFill>
                  <a:srgbClr val="27303A"/>
                </a:solidFill>
                <a:latin typeface="Aptos"/>
              </a:defRPr>
            </a:pPr>
            <a:r>
              <a:t>•  3. What is the main purpose of the gate?</a:t>
            </a:r>
          </a:p>
          <a:p>
            <a:pPr>
              <a:spcAft>
                <a:spcPts val="800"/>
              </a:spcAft>
              <a:defRPr sz="1600">
                <a:solidFill>
                  <a:srgbClr val="27303A"/>
                </a:solidFill>
                <a:latin typeface="Aptos"/>
              </a:defRPr>
            </a:pPr>
            <a:r>
              <a:t>•  4. Which system pushes the part off the core?</a:t>
            </a:r>
          </a:p>
          <a:p>
            <a:pPr>
              <a:spcAft>
                <a:spcPts val="800"/>
              </a:spcAft>
              <a:defRPr sz="1600">
                <a:solidFill>
                  <a:srgbClr val="27303A"/>
                </a:solidFill>
                <a:latin typeface="Aptos"/>
              </a:defRPr>
            </a:pPr>
            <a:r>
              <a:t>•  5. Why are vents placed near last-to-fill regions?</a:t>
            </a:r>
          </a:p>
          <a:p>
            <a:pPr>
              <a:spcAft>
                <a:spcPts val="800"/>
              </a:spcAft>
              <a:defRPr sz="1600">
                <a:solidFill>
                  <a:srgbClr val="27303A"/>
                </a:solidFill>
                <a:latin typeface="Aptos"/>
              </a:defRPr>
            </a:pPr>
            <a:r>
              <a:t>•  6. What should you check if the part shows ejector whitening?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280160"/>
            <a:ext cx="32918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1280160"/>
            <a:ext cx="73152" cy="3474720"/>
          </a:xfrm>
          <a:prstGeom prst="rect">
            <a:avLst/>
          </a:prstGeom>
          <a:solidFill>
            <a:srgbClr val="26B1BB"/>
          </a:solidFill>
          <a:ln>
            <a:solidFill>
              <a:srgbClr val="26B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389888"/>
            <a:ext cx="2971800" cy="32918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035"/>
                </a:solidFill>
                <a:latin typeface="Aptos"/>
              </a:defRPr>
            </a:pPr>
            <a:r>
              <a:t>Answer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792224"/>
            <a:ext cx="2971800" cy="2889503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1. Locating ring</a:t>
            </a:r>
          </a:p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2. Cavity and core</a:t>
            </a:r>
          </a:p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3. Controls entry of melt into cavity</a:t>
            </a:r>
          </a:p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4. Ejector system</a:t>
            </a:r>
          </a:p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5. To let trapped air escape</a:t>
            </a:r>
          </a:p>
          <a:p>
            <a:pPr>
              <a:spcAft>
                <a:spcPts val="500"/>
              </a:spcAft>
              <a:defRPr sz="1300" b="0">
                <a:solidFill>
                  <a:srgbClr val="27303A"/>
                </a:solidFill>
                <a:latin typeface="Aptos"/>
              </a:defRPr>
            </a:pPr>
            <a:r>
              <a:t>6. Draft, ejection force, pin layout and part temperature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3657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26B1BB"/>
                </a:solidFill>
                <a:latin typeface="Aptos"/>
              </a:defRPr>
            </a:pPr>
            <a:r>
              <a:t>CAD &amp; MANUFACTURING • ENGINEERING LEARNING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8046720" cy="1325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KNOW EVERY PART.</a:t>
            </a:r>
          </a:p>
          <a:p>
            <a:pPr>
              <a:spcAft>
                <a:spcPts val="5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UNDERSTAND THE MOULD.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71800"/>
            <a:ext cx="7955279" cy="6400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DEE7F1"/>
                </a:solidFill>
                <a:latin typeface="Aptos"/>
              </a:defRPr>
            </a:pPr>
            <a:r>
              <a:t>Injection Mould Parts Explained — Illustrated PPT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7040880" cy="1325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Illustrated component diagrams</a:t>
            </a:r>
          </a:p>
          <a:p>
            <a:pPr>
              <a:spcAft>
                <a:spcPts val="5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Clear functions and design checks</a:t>
            </a:r>
          </a:p>
          <a:p>
            <a:pPr>
              <a:spcAft>
                <a:spcPts val="5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Practical troubleshooting and revision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89320"/>
            <a:ext cx="8046720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26B1BB"/>
                </a:solidFill>
                <a:latin typeface="Aptos"/>
              </a:defRPr>
            </a:pPr>
            <a:r>
              <a:t>ADD YOUR LOGO • BRAND NAME • CONTACT DETAILS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1828800"/>
            <a:ext cx="1143000" cy="2468880"/>
          </a:xfrm>
          <a:prstGeom prst="rect">
            <a:avLst/>
          </a:prstGeom>
          <a:solidFill>
            <a:srgbClr val="28629E"/>
          </a:solidFill>
          <a:ln>
            <a:solidFill>
              <a:srgbClr val="12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54896" y="2176272"/>
            <a:ext cx="1143000" cy="2286000"/>
          </a:xfrm>
          <a:prstGeom prst="rect">
            <a:avLst/>
          </a:prstGeom>
          <a:solidFill>
            <a:srgbClr val="26B1BB"/>
          </a:solidFill>
          <a:ln>
            <a:solidFill>
              <a:srgbClr val="12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65792" y="2523744"/>
            <a:ext cx="1143000" cy="2103120"/>
          </a:xfrm>
          <a:prstGeom prst="rect">
            <a:avLst/>
          </a:prstGeom>
          <a:solidFill>
            <a:srgbClr val="EFAD3D"/>
          </a:solidFill>
          <a:ln>
            <a:solidFill>
              <a:srgbClr val="12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76688" y="2871216"/>
            <a:ext cx="1143000" cy="1920240"/>
          </a:xfrm>
          <a:prstGeom prst="rect">
            <a:avLst/>
          </a:prstGeom>
          <a:solidFill>
            <a:srgbClr val="6E91B4"/>
          </a:solidFill>
          <a:ln>
            <a:solidFill>
              <a:srgbClr val="12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87584" y="3218688"/>
            <a:ext cx="1143000" cy="1737360"/>
          </a:xfrm>
          <a:prstGeom prst="rect">
            <a:avLst/>
          </a:prstGeom>
          <a:solidFill>
            <a:srgbClr val="D2E1EE"/>
          </a:solidFill>
          <a:ln>
            <a:solidFill>
              <a:srgbClr val="12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7955279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C8D5E2"/>
                </a:solidFill>
                <a:latin typeface="Aptos"/>
              </a:defRPr>
            </a:pPr>
            <a:r>
              <a:t>Technical diagrams are schematic and not to scale. Verify all production designs against approved drawings.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