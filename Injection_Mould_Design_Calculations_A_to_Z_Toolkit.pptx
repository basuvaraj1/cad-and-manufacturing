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20040" cy="685800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5440" y="640080"/>
            <a:ext cx="2194560" cy="73152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35440" y="914400"/>
            <a:ext cx="2194560" cy="73152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0" y="1188720"/>
            <a:ext cx="2194560" cy="73152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0" y="5029200"/>
            <a:ext cx="2926080" cy="73152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4360"/>
            <a:ext cx="6858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AB4BE"/>
                </a:solidFill>
                <a:latin typeface="Aptos"/>
              </a:defRPr>
            </a:pPr>
            <a:r>
              <a:t>PRACTICAL ENGINEERING TOOLKIT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6766560" cy="1828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INJECTION MOULD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DESIGN &amp; CALCULATIONS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10128"/>
            <a:ext cx="65836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EE7F1"/>
                </a:solidFill>
                <a:latin typeface="Aptos"/>
              </a:defRPr>
            </a:pPr>
            <a:r>
              <a:t>A–Z formulas • worked examples • design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51960"/>
            <a:ext cx="63093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DEE7F1"/>
                </a:solidFill>
                <a:latin typeface="Aptos"/>
              </a:defRPr>
            </a:pPr>
            <a:r>
              <a:t>For students, junior designers and manufacturing professionals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989320"/>
            <a:ext cx="6400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AB4BE"/>
                </a:solidFill>
                <a:latin typeface="Aptos"/>
              </a:defRPr>
            </a:pPr>
            <a:r>
              <a:t>EDUCATIONAL EDITION  |  SI UNITS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828800"/>
            <a:ext cx="2103120" cy="1143000"/>
          </a:xfrm>
          <a:prstGeom prst="rect">
            <a:avLst/>
          </a:prstGeom>
          <a:solidFill>
            <a:srgbClr val="E2EBF4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6840" y="3154680"/>
            <a:ext cx="2103120" cy="1143000"/>
          </a:xfrm>
          <a:prstGeom prst="rect">
            <a:avLst/>
          </a:prstGeom>
          <a:solidFill>
            <a:srgbClr val="BFD3E5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0" y="2212848"/>
            <a:ext cx="914400" cy="1737360"/>
          </a:xfrm>
          <a:prstGeom prst="rect">
            <a:avLst/>
          </a:prstGeom>
          <a:solidFill>
            <a:srgbClr val="2AB4BE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663440"/>
            <a:ext cx="3383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MOULD • MATERIAL •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How to use this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82296" cy="1874519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280160"/>
            <a:ext cx="31729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01  Learn the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37360"/>
            <a:ext cx="3172968" cy="117957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Each calculation includes the purpose, equation and required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82296" cy="1874519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280160"/>
            <a:ext cx="31729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02  Follow the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37360"/>
            <a:ext cx="3172968" cy="117957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Worked examples use illustrative values and SI units.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82296" cy="1874519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280160"/>
            <a:ext cx="31729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03  Verify the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37360"/>
            <a:ext cx="3172968" cy="117957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Confirm results with CAD, material data, machine limits and trials.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789920" cy="1325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11F36"/>
                </a:solidFill>
                <a:latin typeface="Aptos"/>
              </a:defRPr>
            </a:pPr>
            <a:r>
              <a:t>Scope: conventional thermoplastic injection moulding. This is a practical reference—not a substitute for a mould-flow study, detailed mechanical design, supplier data or a qualified engineering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97A"/>
                </a:solidFill>
                <a:latin typeface="Aptos"/>
              </a:defRPr>
            </a:pPr>
            <a:r>
              <a:t>All numerical values are examples unless explicitly identified as a standard or supplier specification.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A–Z mould calculation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DESIGN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34440"/>
            <a:ext cx="2084831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34440"/>
            <a:ext cx="82296" cy="15087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371600"/>
            <a:ext cx="1737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01  Part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828800"/>
            <a:ext cx="1737360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4"/>
                </a:solidFill>
                <a:latin typeface="Aptos"/>
              </a:defRPr>
            </a:pPr>
            <a:r>
              <a:t>Collect drawing, volume, wall thickness and quality needs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234440"/>
            <a:ext cx="2084831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98648" y="1234440"/>
            <a:ext cx="82296" cy="15087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6" y="1371600"/>
            <a:ext cx="1737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02  Material &amp; shrinkage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1828800"/>
            <a:ext cx="1737360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4"/>
                </a:solidFill>
                <a:latin typeface="Aptos"/>
              </a:defRPr>
            </a:pPr>
            <a:r>
              <a:t>Use grade-specific supplier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1234440"/>
            <a:ext cx="2084831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30368" y="1234440"/>
            <a:ext cx="82296" cy="150876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1536" y="1371600"/>
            <a:ext cx="1737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03  Cavity 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1828800"/>
            <a:ext cx="1737360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4"/>
                </a:solidFill>
                <a:latin typeface="Aptos"/>
              </a:defRPr>
            </a:pPr>
            <a:r>
              <a:t>Balance productivity, cost and machine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1234440"/>
            <a:ext cx="2084831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2088" y="1234440"/>
            <a:ext cx="82296" cy="15087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63256" y="1371600"/>
            <a:ext cx="1737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04  Projected area &amp; clamp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3256" y="1828800"/>
            <a:ext cx="1737360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4"/>
                </a:solidFill>
                <a:latin typeface="Aptos"/>
              </a:defRPr>
            </a:pPr>
            <a:r>
              <a:t>Use projected area at the parting 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93807" y="1234440"/>
            <a:ext cx="2084831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93807" y="1234440"/>
            <a:ext cx="82296" cy="15087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4976" y="1371600"/>
            <a:ext cx="1737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05  Shot &amp; machine 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4976" y="1828800"/>
            <a:ext cx="1737360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4"/>
                </a:solidFill>
                <a:latin typeface="Aptos"/>
              </a:defRPr>
            </a:pPr>
            <a:r>
              <a:t>Check shot volume, pressure and tie-bar spacing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383280"/>
            <a:ext cx="2084831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383280"/>
            <a:ext cx="82296" cy="150876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520440"/>
            <a:ext cx="1737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06  Runner /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3977640"/>
            <a:ext cx="1737360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4"/>
                </a:solidFill>
                <a:latin typeface="Aptos"/>
              </a:defRPr>
            </a:pPr>
            <a:r>
              <a:t>Balance flow length, pressure drop and filling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98648" y="3383280"/>
            <a:ext cx="2084831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98648" y="3383280"/>
            <a:ext cx="82296" cy="15087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9816" y="3520440"/>
            <a:ext cx="1737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07  Cooling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816" y="3977640"/>
            <a:ext cx="1737360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4"/>
                </a:solidFill>
                <a:latin typeface="Aptos"/>
              </a:defRPr>
            </a:pPr>
            <a:r>
              <a:t>Estimate heat load and channel performance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30368" y="3383280"/>
            <a:ext cx="2084831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30368" y="3383280"/>
            <a:ext cx="82296" cy="15087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31536" y="3520440"/>
            <a:ext cx="1737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08  Ejection / venting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31536" y="3977640"/>
            <a:ext cx="1737360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4"/>
                </a:solidFill>
                <a:latin typeface="Aptos"/>
              </a:defRPr>
            </a:pPr>
            <a:r>
              <a:t>Check release, draft, vents and safe ejection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62088" y="3383280"/>
            <a:ext cx="2084831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62088" y="3383280"/>
            <a:ext cx="82296" cy="150876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63256" y="3520440"/>
            <a:ext cx="1737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09  Steel &amp; tolerances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63256" y="3977640"/>
            <a:ext cx="1737360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4"/>
                </a:solidFill>
                <a:latin typeface="Aptos"/>
              </a:defRPr>
            </a:pPr>
            <a:r>
              <a:t>Choose steel and tolerances for life and accuracy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93807" y="3383280"/>
            <a:ext cx="2084831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93807" y="3383280"/>
            <a:ext cx="82296" cy="1508760"/>
          </a:xfrm>
          <a:prstGeom prst="rect">
            <a:avLst/>
          </a:prstGeom>
          <a:solidFill>
            <a:srgbClr val="267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94976" y="3520440"/>
            <a:ext cx="1737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10  Trials &amp; 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94976" y="3977640"/>
            <a:ext cx="1737360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4"/>
                </a:solidFill>
                <a:latin typeface="Aptos"/>
              </a:defRPr>
            </a:pPr>
            <a:r>
              <a:t>Measure parts and optimise process window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Start with reliable input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PART &amp; MATERIAL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303520" cy="4480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 3D CAD model and 2D drawing with critical dimensions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 Part volume, mass, projected area and maximum flow length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 Nominal wall thickness, ribs, bosses, holes and undercuts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 Resin grade, density, shrinkage range and processing window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 Surface finish, appearance, tolerance and annual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029200" cy="4480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 Machine: shot capacity, injection pressure, clamp force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 Tie-bar spacing, platen size, daylight and ejector stroke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 Cavity count, runner type and gate concept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 Cooling-water temperature, flow and available connections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 Production constraints, safety factors and validation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Rule: do not calculate from a screenshot alone when the CAD model, resin grade or machine data is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1. Mould shrinkage &amp; cavity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DIMENSIONING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874519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49560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Basic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4956048" cy="117957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Mould dimension ≈ finished-part dimension ÷ (1 − shrinkage fraction)</a:t>
            </a: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Use the material supplier's definition and shrinkage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874519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49560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4956048" cy="117957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Finished dimension = 100.00 mm</a:t>
            </a: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Assumed linear shrinkage = 1.5% = 0.015</a:t>
            </a: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Mould dimension ≈ 100 ÷ 0.985 = 101.52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98480" cy="1371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11F36"/>
                </a:solidFill>
                <a:latin typeface="Aptos"/>
              </a:defRPr>
            </a:pPr>
            <a:r>
              <a:t>Important: shrinkage is not a universal constant. It varies with resin grade, glass/mineral fill, flow direction, wall thickness, packing pressure, gate location, mould temperature and part geometry.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492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97A"/>
                </a:solidFill>
                <a:latin typeface="Aptos"/>
              </a:defRPr>
            </a:pPr>
            <a:r>
              <a:t>For filled polymers, anisotropic shrinkage and warpage may require simulation and measured tool corrections.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2. Part volume &amp; shot mass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MATERIAL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82880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Part mass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5001768" cy="11338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Mass (g) = Volume (cm³) × Density (g/cm³)</a:t>
            </a: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Example: 42 cm³ × 1.05 g/cm³ = 44.1 g per part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82880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Total shot mass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01768" cy="11338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Shot mass ≈ (part mass × cavity count) + runner / sprue mass</a:t>
            </a: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Example: 4 × 44.1 g + 18 g runner = 194.4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9848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Use CAD volume for complex geometry. Density must match the exact resin grade and conditioning basis. Hot-runner systems may reduce or eliminate cold-runner mass but still require a validated shot-size check.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03520"/>
            <a:ext cx="10515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97A"/>
                </a:solidFill>
                <a:latin typeface="Aptos"/>
              </a:defRPr>
            </a:pPr>
            <a:r>
              <a:t>Do not confuse theoretical shot capacity with the machine's usable process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3. Projected area &amp; clamp force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MACHINE 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9659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Projected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Use the silhouette projected onto the parting plane.</a:t>
            </a: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For a rectangle: A = length × width</a:t>
            </a: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For complex parts: use CAD projection.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Clamp force 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Clamp force ≈ total projected area × cavity pressure</a:t>
            </a: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Keep units consistent: cm² × MPa → force in N after conversion.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11880"/>
            <a:ext cx="10698480" cy="1600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11F36"/>
                </a:solidFill>
                <a:latin typeface="Aptos"/>
              </a:defRPr>
            </a:pPr>
            <a:r>
              <a:t>Quick unit relation: 1 MPa = 1 N/mm². Therefore, if area is in mm² and cavity pressure is in MPa, force in N = area × pressure. Divide by 1,000 to obtain kN; divide kN by 9.80665 for metric tonnes-force.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Include all cavities and runner area that contribute to parting-line opening force.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4. Worked example: clamp tonnage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MACHINE 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205740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31729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Given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3172968" cy="1362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4 cavities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Projected area / part = 80 cm²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Assumed average cavity pressure = 35 MPa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82296" cy="205740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280160"/>
            <a:ext cx="31729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Total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37360"/>
            <a:ext cx="3172968" cy="1362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4 × 80 = 320 cm²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320 cm² = 32,000 mm²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Force = 32,000 × 35 = 1,120,000 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82296" cy="205740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280160"/>
            <a:ext cx="31729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37360"/>
            <a:ext cx="3172968" cy="1362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1,120 kN ≈ 114 metric tonnes-force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Apply a justified process/design margin and verify against actual cavity pressure.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1060704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This is an illustrative estimate only. Actual cavity pressure depends on resin, flow path, gate, wall thickness, fill speed and packing. Use mould-flow analysis or validated process data when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5. Choosing the number of cavities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486400" cy="43891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Estimate demand, annual production hours and target cycle time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Check shot capacity and clamp force for the proposed cavity count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Confirm platen size, tie-bar spacing and mould envelope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Balance runner layout, filling and cooling between cavities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Consider tool cost, maintenance, reject rate and changeover needs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234440"/>
            <a:ext cx="4754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23444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371600"/>
            <a:ext cx="440740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Demand-based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828800"/>
            <a:ext cx="440740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Required parts/hour = demand ÷ planned production hours</a:t>
            </a: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Cavities needed ≈ parts/hour × cycle time (s) ÷ 3,600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657600"/>
            <a:ext cx="4572000" cy="1143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B03A2E"/>
                </a:solidFill>
                <a:latin typeface="Aptos"/>
              </a:defRPr>
            </a:pPr>
            <a:r>
              <a:t>Round up only after checking the machine, tooling and economics. Add planned uptime and scrap assumptions separately.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6. Shot capacity &amp; machine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MACHINE 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577840" cy="4480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Compare total shot mass with the machine's rated shot capacity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Use the resin-specific capacity basis (often PS-equivalent) carefully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Check injection pressure at the required flow rate—not just the maximum label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Verify screw recovery time, cushion, plasticising capacity and residence time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Confirm mould height, opening stroke, daylight and ejector stroke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234440"/>
            <a:ext cx="4572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234440"/>
            <a:ext cx="82296" cy="201168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371600"/>
            <a:ext cx="42245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Shot 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1828800"/>
            <a:ext cx="4224528" cy="13167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Shot utilisation (%) = required shot mass ÷ rated usable shot mass × 100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Use the machine maker's guidance for the preferred operating range.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49039"/>
            <a:ext cx="448056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1F36"/>
                </a:solidFill>
                <a:latin typeface="Aptos"/>
              </a:defRPr>
            </a:pPr>
            <a:r>
              <a:t>Too small: unstable filling or insufficient shot. Too large: long residence time or poor process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7. Runner, sprue &amp; gate calculations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FEED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9659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Runner volume (circular)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V = π × d² ÷ 4 × L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For multiple runner segments, calculate each segment and add volumes. Convert units consistently.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Gate design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Balance gate size, shear heating, freeze-off, vestige, packing and cosmetic needs.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Gate dimensions are validated by resin data, flow analysis and trials.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98480" cy="1325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A simple volume estimate helps shot sizing, but runner/gate sizing cannot be safely finalised from one universal formula. Consider pressure drop, shear rate, gate seal time, weld lines and cavity balance.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96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97A"/>
                </a:solidFill>
                <a:latin typeface="Aptos"/>
              </a:defRPr>
            </a:pPr>
            <a:r>
              <a:t>Hot runner: include manifold/nozzle layout, thermal balance and maintenance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8. Injection pressure &amp; filling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PROCESS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9659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Machine injection pressure must overcome pressure losses through the nozzle, sprue, runner, gate and part flow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Check these factors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Resin viscosity • wall thickness • flow length • fill speed • gate size • melt temperature • venting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9848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Do not equate hydraulic pressure, specific injection pressure and cavity pressure without checking the machine's pressure intensification ratio and measurement basis. Use machine documentation and cavity-pressure data where available.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97A"/>
                </a:solidFill>
                <a:latin typeface="Aptos"/>
              </a:defRPr>
            </a:pPr>
            <a:r>
              <a:t>Use a short-shot study and process monitoring to validate the filling profile.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9. Cooling time: first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THERMAL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9659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Simplified plate estimate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For a flat plate, a common first approximation is:</a:t>
            </a:r>
          </a:p>
          <a:p>
            <a:pPr>
              <a:spcAft>
                <a:spcPts val="700"/>
              </a:spcAft>
              <a:defRPr sz="14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t ≈ (s² / (π² α)) × ln[ (4/π) × (Tm − Tw)/(Te − Tw)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Symbols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s = wall thickness (m)</a:t>
            </a:r>
          </a:p>
          <a:p>
            <a:pPr>
              <a:spcAft>
                <a:spcPts val="7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α = polymer thermal diffusivity (m²/s)</a:t>
            </a:r>
          </a:p>
          <a:p>
            <a:pPr>
              <a:spcAft>
                <a:spcPts val="7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Tm = melt temperature; Tw = mould-wall temperature; Te = ejection 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98480" cy="1325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This idealised relation assumes simplified geometry and boundary conditions. Real cooling depends on geometry, crystallinity, contact, cooling-channel placement and ejection stiffness; use simulation and trial measurements for final cycle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96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97A"/>
                </a:solidFill>
                <a:latin typeface="Aptos"/>
              </a:defRPr>
            </a:pPr>
            <a:r>
              <a:t>Cooling is often a major contributor to total cycle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10. Cooling heat-load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THERMAL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9659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Polymer heat removed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Q̇ ≈ m × Δh ÷ cycle time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m = polymer mass per cycle; Δh = enthalpy removed per unit mass (use resin data).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Coolant heat 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Q̇ = ṁwater × cp × ΔTwater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cp water ≈ 4.18 kJ/(kg·K) near room temperature.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9848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Compare the heat-load estimate with cooling-system capacity and measured inlet/outlet temperatures. Flow rate alone does not guarantee performance; turbulent flow, channel layout, scale and circuit balance matter.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A697A"/>
                </a:solidFill>
                <a:latin typeface="Aptos"/>
              </a:defRPr>
            </a:pPr>
            <a:r>
              <a:t>Use appropriate units and a consistent time basis.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11. Cooling-channel design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THERMAL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486400" cy="4480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Keep channel distance and spacing consistent where geometry permits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Avoid channels too close to cavity surfaces or thin steel sections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Check pressure drop, flow balance, fittings and leak risk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Use baffles, bubblers or conformal channels only when justified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Measure each circuit's flow and inlet/outlet temperature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234440"/>
            <a:ext cx="4709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23444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371600"/>
            <a:ext cx="43616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Reynolds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828800"/>
            <a:ext cx="436168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Re = ρ v D ÷ μ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ρ = coolant density; v = mean velocity; D = hydraulic diameter; μ = dynamic viscosity.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03320"/>
            <a:ext cx="448056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1F36"/>
                </a:solidFill>
                <a:latin typeface="Aptos"/>
              </a:defRPr>
            </a:pPr>
            <a:r>
              <a:t>Higher Reynolds number generally indicates stronger mixing; use a cooling-design reference and supplier limits to set target 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12. Total cycle-time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9659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Cycle-time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Total cycle ≈ fill + pack/hold + cooling + mould open/eject + mould close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Some machine actions overlap; avoid double-counting.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Output 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Parts/hour = cavities × 3,600 ÷ cycle time (s)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Example: 2 cavities, 30 s cycle = 240 parts/hour before downtime and rejects.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9848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Real output depends on uptime, changeovers, scrap, operator handling, robot time, material drying and quality checks. Use OEE or a plant-specific availability factor for planning.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13. Draft, ejection &amp; release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TOOL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486400" cy="4480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Draft angle depends on texture, depth, resin and surface finish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Provide uniform, well-supported ejector contact where possible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Avoid ejector pins on fragile or highly cosmetic surfaces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Check core pull, slides, lifters and undercut release sequence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Estimate ejection force only with realistic friction and contact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234440"/>
            <a:ext cx="4709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234440"/>
            <a:ext cx="82296" cy="196596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371600"/>
            <a:ext cx="43616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Ejection force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828800"/>
            <a:ext cx="436168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F ≈ friction coefficient × normal contact force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This is a conceptual relation—not a universal mould-sizing equation.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03320"/>
            <a:ext cx="44805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1F36"/>
                </a:solidFill>
                <a:latin typeface="Aptos"/>
              </a:defRPr>
            </a:pPr>
            <a:r>
              <a:t>Use part geometry, shrink-on-core behaviour, surface finish and resin-specific trials to determine the actual release requirement.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14. Venting &amp; air-trap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TOOL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9659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Why venting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Trapped air can cause burns, short shots, poor weld lines and unstable filling.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Design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Place vents at last-to-fill regions and likely air traps. Vent depth and land length depend on resin and supplier guidance.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98480" cy="1371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Vent dimensions are material-sensitive: too shallow can block flow; too deep can flash. Use the resin supplier's recommendations, moulding references and controlled trial adjustments.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Do not use a single vent-depth value for every polymer.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15. Mould steel &amp; tool-life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TOOL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486400" cy="44805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Select steel by expected shots, resin abrasiveness and corrosion risk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Consider polishability, hardness, toughness and machinability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Use corrosion-resistant grades where resin or coolant chemistry demands it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Match inserts and wear components to expected maintenance strategy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Confirm heat treatment, surface treatment and supplier certificates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234440"/>
            <a:ext cx="4709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23444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371600"/>
            <a:ext cx="43616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Typical decision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828800"/>
            <a:ext cx="436168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Production volume • glass-filled resin • texture / polish • corrosion • repair strategy •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03320"/>
            <a:ext cx="448056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11F36"/>
                </a:solidFill>
                <a:latin typeface="Aptos"/>
              </a:defRPr>
            </a:pPr>
            <a:r>
              <a:t>Steel selection is not a calculation alone. Use a toolmaker's material specification and documented hardness targets.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16. Tolerances &amp; tool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96596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Tolerance stack-up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Identify critical dimensions, datum scheme, GD&amp;T, assembly function and measurement method before cutting steel.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96596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50017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Correction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01768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Tool trial → measure parts → compare to drawing → separate shrinkage / process / tool effects → correct and revalidate.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98480" cy="1325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Do not automatically compensate every out-of-tolerance dimension by changing the cavity. Process settings, moisture, conditioning, temperature and measurement technique can also shift dimensions.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17. Quick formula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9270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6583680"/>
                <a:gridCol w="219456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Formula / relationship</a:t>
                      </a:r>
                    </a:p>
                  </a:txBody>
                  <a:tcPr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11F3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Part mass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Volume ×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g or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Shot mass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Parts mass + cold runner / sprue mass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g or kg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Clamp 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Projected area × cavity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N, kN, tonne-force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Parts/hour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Cavities × 3,600 ÷ cycle time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parts/h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Runner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π × d² ÷ 4 ×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mm³ or cm³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Coolant heat rate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Mass flow × cp × coolant ΔT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W or kW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Reynolds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ρ × velocity × hydraulic diameter ÷ viscosity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dimensionless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Shrinkage estimate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Mould size ≈ part size ÷ (1 − shrinkage)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18. Integrated example: 4-cavity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82296" cy="192024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280160"/>
            <a:ext cx="31729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Part &amp; resin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37360"/>
            <a:ext cx="3172968" cy="12252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Part volume: 42 cm³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Density: 1.05 g/cm³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Part mass: 44.1 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82296" cy="192024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280160"/>
            <a:ext cx="31729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Shot 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37360"/>
            <a:ext cx="3172968" cy="12252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4 × 44.1 g = 176.4 g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Cold runner: 18 g</a:t>
            </a:r>
          </a:p>
          <a:p>
            <a:pPr>
              <a:spcAft>
                <a:spcPts val="7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Total shot ≈ 194.4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82296" cy="192024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280160"/>
            <a:ext cx="31729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Clamp estimate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37360"/>
            <a:ext cx="3172968" cy="12252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Projected area total: 320 cm²</a:t>
            </a:r>
          </a:p>
          <a:p>
            <a:pPr>
              <a:spcAft>
                <a:spcPts val="7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Assumed cavity pressure: 35 MPa</a:t>
            </a:r>
          </a:p>
          <a:p>
            <a:pPr>
              <a:spcAft>
                <a:spcPts val="7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Force ≈ 1,120 kN ≈ 114 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10789920" cy="1143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Next checks: machine usable shot capacity, clamp rating with justified margin, tie-bar spacing, injection pressure, runner balance, cooling time and dimensional capability.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03A2E"/>
                </a:solidFill>
                <a:latin typeface="Aptos"/>
              </a:defRPr>
            </a:pPr>
            <a:r>
              <a:t>Illustrative numbers only. Do not use as a released production design.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19. Defects: what to check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PROCESS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82296" cy="123444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Short 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4910328" cy="5394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Filling pressure/speed, venting, gate restriction, melt temperature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82296" cy="123444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016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4910328" cy="5394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Clamp force, parting-line damage, pressure, viscosity, mould alignment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1576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15768"/>
            <a:ext cx="82296" cy="123444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852927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Sink / voids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310127"/>
            <a:ext cx="4910328" cy="5394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Wall transitions, packing pressure/time, gate seal, cooling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1576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15768"/>
            <a:ext cx="82296" cy="1234440"/>
          </a:xfrm>
          <a:prstGeom prst="rect">
            <a:avLst/>
          </a:prstGeom>
          <a:solidFill>
            <a:srgbClr val="1E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852927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Warp / dimension 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10127"/>
            <a:ext cx="4910328" cy="5394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Cooling balance, material shrinkage, fibre orientation, packing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8853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288536"/>
            <a:ext cx="82296" cy="1234440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425696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Burn 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882896"/>
            <a:ext cx="4910328" cy="5394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Air traps, venting, fill speed, decompression / process profile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88536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288536"/>
            <a:ext cx="82296" cy="123444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425696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Weld lines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882896"/>
            <a:ext cx="4910328" cy="5394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4"/>
                </a:solidFill>
                <a:latin typeface="Aptos"/>
              </a:defRPr>
            </a:pPr>
            <a:r>
              <a:t>Gate location, flow-front temperature, venting, filling pattern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20. Pre-release design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QUALITY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394960" cy="4800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Part data and resin grade are confirmed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Shrinkage assumption is documented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Cavity count and layout are balanced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Clamp force and shot capacity are checked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Runner, gate and vent concepts are reviewed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Cooling circuits and heat load are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120640" cy="4800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Draft, undercuts and ejection sequence are checked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Steel, hardness and tool-life requirements are specified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Critical dimensions and measurement plan are agreed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Machine envelope and safety clearances are verified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Trial plan and acceptance criteria are documented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 Calculations are reviewed and revision-controlled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11F36"/>
                </a:solidFill>
                <a:latin typeface="Aptos"/>
              </a:defRPr>
            </a:pPr>
            <a:r>
              <a:t>Engineering references &amp;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32104"/>
            <a:ext cx="11064240" cy="32004"/>
          </a:xfrm>
          <a:prstGeom prst="rect">
            <a:avLst/>
          </a:prstGeom>
          <a:solidFill>
            <a:srgbClr val="2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A697A"/>
                </a:solidFill>
                <a:latin typeface="Aptos"/>
              </a:defRPr>
            </a:pPr>
            <a:r>
              <a:t>FINAL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A697A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486400" cy="4206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Use the exact polymer supplier datasheet and processing guide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Use the injection-moulding machine maker's specifications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Use recognised plastics processing / mould design references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Use CAD measurement, mould-flow analysis and trial data where appropriate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•  Record assumptions, units, revision and reviewer for every calculation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234440"/>
            <a:ext cx="47091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234440"/>
            <a:ext cx="82296" cy="237744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371600"/>
            <a:ext cx="43616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1F36"/>
                </a:solidFill>
                <a:latin typeface="Aptos"/>
              </a:defRPr>
            </a:pPr>
            <a:r>
              <a:t>Important 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828800"/>
            <a:ext cx="4361688" cy="16824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This educational toolkit provides preliminary estimation methods. It is not a certified design, and it does not replace qualified engineering review, simulation, machine-maker limits, safety requirements or production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97A"/>
                </a:solidFill>
                <a:latin typeface="Aptos"/>
              </a:defRPr>
            </a:pPr>
            <a:r>
              <a:t>Marketing note: customise the cover with your brand, logo, contact details and edition number before selling.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AB4BE"/>
                </a:solidFill>
                <a:latin typeface="Aptos"/>
              </a:defRPr>
            </a:pPr>
            <a:r>
              <a:t>ENGINEERING KNOWLEDGE • PRACTICAL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DESIGN SMARTER.</a:t>
            </a:r>
          </a:p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CALCULATE WITH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8755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DCE6F0"/>
                </a:solidFill>
                <a:latin typeface="Aptos"/>
              </a:defRPr>
            </a:pPr>
            <a:r>
              <a:t>Injection Mould Design &amp; Calculations — A–Z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132320" cy="1645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Core formulas and worked examples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Machine sizing, runners, cooling and quality checks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A practical starting point for students and junior engineers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80760"/>
            <a:ext cx="7772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AB4BE"/>
                </a:solidFill>
                <a:latin typeface="Aptos"/>
              </a:defRPr>
            </a:pPr>
            <a:r>
              <a:t>ADD YOUR BRAND / PAGE NAME / CONTACT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828800"/>
            <a:ext cx="1143000" cy="2468880"/>
          </a:xfrm>
          <a:prstGeom prst="rect">
            <a:avLst/>
          </a:prstGeom>
          <a:solidFill>
            <a:srgbClr val="1E5FA0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54896" y="2176272"/>
            <a:ext cx="1143000" cy="2286000"/>
          </a:xfrm>
          <a:prstGeom prst="rect">
            <a:avLst/>
          </a:prstGeom>
          <a:solidFill>
            <a:srgbClr val="2AB4BE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5792" y="2523744"/>
            <a:ext cx="1143000" cy="2103120"/>
          </a:xfrm>
          <a:prstGeom prst="rect">
            <a:avLst/>
          </a:prstGeom>
          <a:solidFill>
            <a:srgbClr val="F5B142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76688" y="2871216"/>
            <a:ext cx="1143000" cy="1920240"/>
          </a:xfrm>
          <a:prstGeom prst="rect">
            <a:avLst/>
          </a:prstGeom>
          <a:solidFill>
            <a:srgbClr val="6E91B4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87584" y="3218688"/>
            <a:ext cx="1143000" cy="1737360"/>
          </a:xfrm>
          <a:prstGeom prst="rect">
            <a:avLst/>
          </a:prstGeom>
          <a:solidFill>
            <a:srgbClr val="D2E1EE"/>
          </a:solidFill>
          <a:ln>
            <a:solidFill>
              <a:srgbClr val="11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