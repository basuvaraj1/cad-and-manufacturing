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669280" cy="11430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5600" b="1">
                <a:solidFill>
                  <a:srgbClr val="FFFFFF"/>
                </a:solidFill>
                <a:latin typeface="Aptos"/>
              </a:defRPr>
            </a:pPr>
            <a:r>
              <a:t>GD&amp;T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6400800" cy="10972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AEDCE9"/>
                </a:solidFill>
                <a:latin typeface="Aptos"/>
              </a:defRPr>
            </a:pPr>
            <a:r>
              <a:t>GEOMETRIC DIMENSIONING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AEDCE9"/>
                </a:solidFill>
                <a:latin typeface="Aptos"/>
              </a:defRPr>
            </a:pPr>
            <a:r>
              <a:t>&amp; TOLERANCING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6126480" cy="4572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Complete Mechanical Engineering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6035040" cy="9144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DCE6F0"/>
                </a:solidFill>
                <a:latin typeface="Aptos"/>
              </a:defRPr>
            </a:pPr>
            <a:r>
              <a:t>Symbols • Datums • Feature Control Frames • Tolerance Zones • Inspection • Worked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914400"/>
            <a:ext cx="3931920" cy="4480560"/>
          </a:xfrm>
          <a:prstGeom prst="roundRect">
            <a:avLst/>
          </a:prstGeom>
          <a:solidFill>
            <a:srgbClr val="1C3752"/>
          </a:solidFill>
          <a:ln>
            <a:solidFill>
              <a:srgbClr val="487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22860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22860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2" y="243230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22860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43230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19" y="22860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2" y="243230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95559" y="22860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22992" y="243230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3063240"/>
            <a:ext cx="0" cy="594360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138159" y="3383280"/>
            <a:ext cx="566928" cy="438912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138159" y="3044952"/>
            <a:ext cx="393193" cy="338328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31352" y="3044952"/>
            <a:ext cx="566928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05087" y="3044952"/>
            <a:ext cx="393193" cy="338328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7" y="3044952"/>
            <a:ext cx="393193" cy="338328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05087" y="3383280"/>
            <a:ext cx="0" cy="438911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138159" y="3822191"/>
            <a:ext cx="566928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144000" y="3538728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354311" y="3383280"/>
            <a:ext cx="0" cy="132588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19" y="379476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43800" y="4709160"/>
            <a:ext cx="3474720" cy="5486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For Diploma / BE / B.Tech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Design • Quality • Manufacturing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69848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BECDDC"/>
                </a:solidFill>
                <a:latin typeface="Aptos"/>
              </a:defRPr>
            </a:pPr>
            <a:r>
              <a:t>Illustrations are schematic. Always follow the drawing standard and revision specified by your organization.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1.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What you will be able to do after this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Understand why geometric tolerances are used beyond size tolerances.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Read feature control frames (FCFs), datum references and common symbols.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Distinguish form, orientation, location, profile and runout controls.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Understand tolerance zones, MMC/LMC/RFS concepts and bonus tolerance.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Plan inspection using gauges, indicators, CMMs and functional fixtures.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Read the control, identify the datum, understand the zone.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2. What Is GD&amp;T?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Definition and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GD&amp;T is a symbolic language used on engineering drawings to define allowable geometric variation.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controls form, orientation, location, profile and runout of features.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communicates design intent more clearly than coordinate dimensions alone.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GD&amp;T helps ensure assembly, interchangeability, function and consistent inspection.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Common standards include ASME Y14.5 and ISO GPS standards; requirements differ by standard and edition.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GD&amp;T controls geometry, not just feature size.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3. Why Size Tolerances Are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Size vs.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hole can be within diameter limits but still be in the wrong position.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surface may meet a size requirement yet be bowed, twisted or tilted.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GD&amp;T defines how a feature relates to ideal geometry and functional datums.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can permit useful variation while protecting assembly function.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Example: a bolt pattern needs both hole-size limits and positional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Size compliance does not guarantee location or orientation.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4. Basic Drawing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Terms used throughout GD&amp;T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Feature: a physical point, line, surface, hole, slot or derived axis/plane.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Nominal/true geometry: the theoretically exact shape or location.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Actual geometry: the manufactured feature, which varies within permitted limits.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Tolerance zone: the region within which the controlled feature must lie.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Basic dimensions: theoretically exact dimensions, commonly boxed on drawings.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Basic dimensions locate the ideal zone; the geometric tolerance defines its size.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5. GD&amp;T 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Five commonly taught control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Form: straightness, flatness, circularity and cylindricity.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Orientation: parallelism, perpendicularity and angularity.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Location: position; some standards also define concentricity and symmetry.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Profile: profile of a line and profile of a surface.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Runout: circular runout and total runout.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Choose the control based on functional intent.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6. How to Read a Feature Control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Feature Control Frame (FCF)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First compartment: geometric characteristic symbol.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Next compartment: tolerance value, sometimes preceded by diameter symbol.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Material-condition modifier may follow the tolerance value: Ⓜ MMC or Ⓛ LMC; no modifier commonly means RFS under ASME practice.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compartments identify the referenced datum features in order.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Read the complete frame together with the feature, dimensions and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Symbol + tolerance zone + modifiers + datum references.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7. Datums and Datum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Reference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datum is a theoretically exact reference derived from a real datum feature.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datum feature is the physical feature identified on the part, such as a face, hole or cylinder.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simulators represent ideal planes, pins or other perfect references during setup/inspection.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symbols are attached to the feature outline, extension line or dimension as permitted by the standard.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references constrain the part in a repeatable coordinate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3880" y="3977639"/>
            <a:ext cx="32004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E88B2F"/>
                </a:solidFill>
                <a:latin typeface="Aptos"/>
              </a:defRPr>
            </a:pPr>
            <a: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913631"/>
            <a:ext cx="0" cy="338329"/>
          </a:xfrm>
          <a:prstGeom prst="line">
            <a:avLst/>
          </a:prstGeom>
          <a:ln w="254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 datum is ideal; a datum feature is real.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8. 3-2-1 Datum Setup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Conceptual datum reference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Primary datum typically constrains three degrees of freedom.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Secondary datum typically constrains two additional degrees of freedom.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Tertiary datum constrains the final remaining degree of freedom.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Exact constraints depend on feature geometry and datum simulator contact.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a stable, functional setup that reproduces how the part assembles or operates.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2651760"/>
            <a:ext cx="2651760" cy="164592"/>
          </a:xfrm>
          <a:prstGeom prst="rect">
            <a:avLst/>
          </a:prstGeom>
          <a:solidFill>
            <a:srgbClr val="2464A0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3017520"/>
            <a:ext cx="1051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3218687"/>
            <a:ext cx="123444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2263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 3-2-1 setup is a useful model, not a substitute for standard-specific rules.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9. Datum Order: A | B |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Datum reference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A is the primary reference; B is secondary; C is tertiary in the referenced frame.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Order is meaningful: changing the order can change how the tolerance is evaluated.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Primary datum establishes the first and most important orientation/constraint.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features should be selected from functional interfaces where possible.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 not assume every drawing needs three datums; use only those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3880" y="3977639"/>
            <a:ext cx="32004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E88B2F"/>
                </a:solidFill>
                <a:latin typeface="Aptos"/>
              </a:defRPr>
            </a:pPr>
            <a: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913631"/>
            <a:ext cx="0" cy="338329"/>
          </a:xfrm>
          <a:prstGeom prst="line">
            <a:avLst/>
          </a:prstGeom>
          <a:ln w="254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Use functional datum selection—not simply the easiest surfaces to measure.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10. Straightness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how straight a line element or derived median line must be.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Surface-line straightness: each considered line element must lie between two parallel lines.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Axis/median-line straightness can use a cylindrical tolerance zone when the diameter symbol is shown.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Straightness is a form control and does not require a datum reference.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Check the exact application and symbol rules in the governing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3977639"/>
            <a:ext cx="2926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4069079"/>
            <a:ext cx="2926080" cy="0"/>
          </a:xfrm>
          <a:prstGeom prst="line">
            <a:avLst/>
          </a:prstGeom>
          <a:ln w="127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No datum is required for a form tolerance.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11. Flatness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all points of a surface to lie between two parallel planes.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Flatness does not require a datum reference.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Tolerance value is the separation between the two planes.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Surface finish, fixture distortion and measurement strategy can affect results.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Inspection examples: surface plate with indicator, CMM, or suitable flatness instrument.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3977639"/>
            <a:ext cx="2926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4069079"/>
            <a:ext cx="2926080" cy="0"/>
          </a:xfrm>
          <a:prstGeom prst="line">
            <a:avLst/>
          </a:prstGeom>
          <a:ln w="127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Flatness controls the surface itself, not its orientation to a datum.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12. Circularity (Roundness)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each circular cross-section so its points lie between two concentric circles.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does not control the full cylinder's straightness or taper.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does not require a datum reference.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Often checked with a roundness tester or suitable rotary measurement system.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 not confuse circularity with circular runout; runout references a datum axis.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Circularity is evaluated in individual cross-sections.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13. Cylindricity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the entire cylindrical surface between two coaxial cylinders.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combines requirements related to circularity, straightness and taper over the surface.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It is a form control and does not require a datum reference.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Measurement may require a CMM or specialized form-measuring equipment.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it when the entire cylindrical form is functionally important.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Cylindricity controls the whole surface, not just one section.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14. 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Orientation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a surface, line element or derived axis to be parallel to a datum.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The tolerance zone may be two parallel planes or a cylindrical zone, depending on the controlled feature and symbol usage.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reference is required.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Parallelism does not by itself control the feature's location.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Example: a guide rail surface kept parallel to a base datum.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3977639"/>
            <a:ext cx="2926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4069079"/>
            <a:ext cx="2926080" cy="0"/>
          </a:xfrm>
          <a:prstGeom prst="line">
            <a:avLst/>
          </a:prstGeom>
          <a:ln w="127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Parallelism controls orientation relative to a datum.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15. Perpendicularity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Orientation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a surface, axis or center plane at 90° to a datum.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Tolerance zone depends on whether a surface, axis or center plane is controlled.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reference is required.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Basic dimensions may define the theoretically exact 90° relationship.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Example: a mounting face perpendicular to a locating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3977639"/>
            <a:ext cx="2926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4069079"/>
            <a:ext cx="2926080" cy="0"/>
          </a:xfrm>
          <a:prstGeom prst="line">
            <a:avLst/>
          </a:prstGeom>
          <a:ln w="127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Perpendicularity controls 90° orientation.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16. Angularity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Orientation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a surface, axis or center plane at a specified basic angle to a datum.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The angle is theoretically exact; the tolerance zone permits variation around that orientation.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reference is required.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basic angle dimensions with the appropriate geometric tolerance.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Example: a machined ramp held at 30° relative to a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21040" y="3977639"/>
            <a:ext cx="2926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4069079"/>
            <a:ext cx="2926080" cy="0"/>
          </a:xfrm>
          <a:prstGeom prst="line">
            <a:avLst/>
          </a:prstGeom>
          <a:ln w="127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Angularity is for an angle other than the 90° controlled by perpendicularity.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17. Position (True Position)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Location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the location of a feature of size, such as a hole or pin, relative to datums.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Often used with basic dimensions to locate hole centers or axes.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diametrical tolerance zone is common for axes of holes/pins.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references establish the coordinate frame; modifiers may affect the permitted variation.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Position is widely used for bolt patterns and interchangeable assemblies.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Position is not the same as measuring X and Y deviations independently.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18. Position Tolerance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Understanding the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For a hole axis, a diameter symbol before the tolerance commonly indicates a cylindrical zone.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The actual axis/derived median line must remain within the specified zone.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Basic dimensions locate the zone theoretically exactly.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Datum mobility and material-condition modifiers can change how the zone is established or evaluated.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Always interpret the feature control frame, feature size and datum modifiers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 ⌀ tolerance defines a cylindrical zone when the standard and application specify 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19. MMC, LMC and RFS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Material condition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MMC: maximum material condition—most material in the feature; smallest hole or largest shaft.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LMC: least material condition—least material; largest hole or smallest shaft.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RFS: regardless of feature size; tolerance applies independently of actual size under ASME usage.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Material-condition modifiers are applied only where permitted by the governing standard.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ISO GPS uses its own rules and terminology; do not mix systems without checking.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For a hole: MMC is its smallest permitted diameter.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20. Bonus Tolerance and Virtual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Calculation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When a position tolerance is specified at MMC, bonus tolerance is generally gained as the feature departs from MMC.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Hole example: bonus = actual hole size − hole MMC size.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Virtual condition for an internal feature under common ASME MMC application: hole MMC size minus position tolerance.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External features use the opposite size direction for virtual-condition calculation.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These rules depend on feature type, datum modifiers and the standard; verify before release.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Bonus tolerance is not extra size tolerance; it is extra geometric tolerance.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21. Worked Example: Hole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Drawing: hole diameter 10.0–10.2 mm; position ⌀0.2 at MMC relative to A|B|C.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Hole MMC = 10.0 mm. Actual measured hole = 10.1 mm.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Bonus tolerance = 10.1 − 10.0 = 0.1 mm.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Total allowed position tolerance = 0.2 + 0.1 = ⌀0.3 mm.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Assumes standard-compatible MMC application and no additional datum-shift contribution.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Actual hole size increases clearance, so allowable position tolerance can increase.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22. Profile of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Profile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the shape of a line element of a surface in a specified section.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Tolerance zone is usually two offset curves around the true profile.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May be applied with or without datum references depending on design intent.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Can control complex contours that are difficult to dimension with many coordinates.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Specify the section/extent clearly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Profile can control complex geometry with one coherent requirement.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23. Profile of a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Profile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the entire surface relative to a true profile.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Tolerance zone is typically two offset surfaces surrounding the theoretically exact surface.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Can control form, orientation and location depending on datum references and specification.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Often used for castings, moulded parts, airfoils, ergonomic surfaces and complex machined contours.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Inspect using CMM, scanning, templates or dedicated fixtures as appropriate.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Datum references determine how the profile is located and oriented.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24. Circular Runout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Runout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variation of a surface during one full rotation about a datum axis.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Measured at each circular cross-section while the part rotates.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Combines effects of surface form and eccentricity relative to the datum axis.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Requires a datum axis, typically established from a bearing journal or other functional cylinder.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Often inspected with a dial indicator and suitable rotary setup.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Circular runout is checked section by section.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25. Total Runout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Runout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variation over the full surface while rotating the part about a datum axis.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Indicator traverses along the surface as the part rotates.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Controls cumulative effects including form, alignment and surface variation relative to the axis.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Requires a datum axis and a suitable measurement setup.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Common for shafts, spindles, sealing surfaces and rotating components.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Total runout evaluates the whole controlled surface.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26. Concentricity and Symmetry: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Legacy drawing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These controls are found in some editions/standards and may be treated differently across systems.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ASME Y14.5-2018 removed concentricity and symmetry as geometric controls; legacy drawings may still use them.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Many functional applications can be better controlled with position, runout or profile.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 not silently reinterpret legacy symbols—confirm the drawing standard and engineering authority.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ISO GPS terminology and rules are not identical to ASME.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Always identify the applicable standard and edition.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27. Projected Tolerance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Special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projected tolerance zone extends beyond the part surface by a specified height.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Useful when a fastener or pin must remain perpendicular over its projecting length.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Often applied to position of holes for studs, dowels or threaded fasteners.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Projection height is specified with the applicable symbol and value.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Inspection should represent the functional projecting element.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Use when alignment matters beyond the surface of the part.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28. Tangent Plane and Unequally Disposed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Advanced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Tangent-plane modifier can define a perfect plane tangent to high points of a surface where permitted.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Unequally disposed profile allocates different portions of a profile tolerance zone on each side of true profile.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These controls address specific functional requirements and are standard-dependent.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 not assume a profile zone is equally split if a modifier says otherwise.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Read all modifiers and notes before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Modifiers change how the tolerance zone is positioned or evaluated.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29. Free State and Flexible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Special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Flexible, non-rigid parts may deform under their own weight or inspection forces.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Free-state requirements specify evaluation without externally applied restraint, when invoked.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Restrained-condition requirements define a fixture or loading state for inspection.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Drawings must clearly state the applicable condition and any force/fixture details.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Examples include thin sheet metal, rubber seals and plastic covers.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2651760"/>
            <a:ext cx="2651760" cy="164592"/>
          </a:xfrm>
          <a:prstGeom prst="rect">
            <a:avLst/>
          </a:prstGeom>
          <a:solidFill>
            <a:srgbClr val="2464A0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3017520"/>
            <a:ext cx="1051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3218687"/>
            <a:ext cx="123444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2263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Inspect flexible parts in the condition specified by the drawing.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30. Common GD&amp;T Symbols: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Symbol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Straightness — line; flatness — parallelogram; circularity — circle; cylindricity — circle between parallel lines.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Profile of line — arc/profile symbol; profile of surface — profile symbol with added line.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Parallelism — parallel lines; perpendicularity — right-angle symbol; angularity — angle symbol.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Position — target/crosshair; circular runout — single runout arrow; total runout — double runout arrow.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Symbol appearance can vary by font/rendering; use the official symbol table in the applicable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Verify exact symbols in the drawing standard; fonts may render them differently.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31. GD&amp;T Inspection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Measurement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Calipers and micrometers: verify feature size, not all geometric controls.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Dial indicators and fixtures: useful for runout, alignment and comparative checks.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Surface plate, height gauge and squares: support basic setup and orientation checks.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CMM/vision/scanning systems: evaluate complex geometry and datum relationships.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Functional gauges: fast acceptance checks when designed to the correct virtual-condition requirement.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2651760"/>
            <a:ext cx="2651760" cy="164592"/>
          </a:xfrm>
          <a:prstGeom prst="rect">
            <a:avLst/>
          </a:prstGeom>
          <a:solidFill>
            <a:srgbClr val="2464A0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3017520"/>
            <a:ext cx="1051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3218687"/>
            <a:ext cx="123444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2263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Use equipment suited to the tolerance and measurement uncertainty.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32. Inspection Planning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Practical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Confirm drawing revision, units and governing GD&amp;T standard/edition.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Identify the controlled feature, FCF, basic dimensions, datum features and modifiers.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Choose a datum setup that simulates functional assembly and is repeatable.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Select equipment with adequate resolution and measurement uncertainty.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Define sampling, temperature, cleanliness, fixturing and reporting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Document results and resolve ambiguous or conflicting requirements with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2651760"/>
            <a:ext cx="2651760" cy="164592"/>
          </a:xfrm>
          <a:prstGeom prst="rect">
            <a:avLst/>
          </a:prstGeom>
          <a:solidFill>
            <a:srgbClr val="2464A0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0" y="2514600"/>
            <a:ext cx="164592" cy="14630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3017520"/>
            <a:ext cx="1051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3218687"/>
            <a:ext cx="123444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2263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Never inspect from a cropped drawing without the notes and standard.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33. Common GD&amp;T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Avoid these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Confusing datum and datum feature.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Treating basic dimensions as plus/minus tolerances.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Reading a diametrical position tolerance as separate X and Y limits.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Ignoring MMC/LMC modifiers or incorrectly calculating bonus tolerance.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Using runout when a form control alone is intended—or vice versa.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Mixing ASME and ISO rules without checking the specified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The full drawing specification governs acceptance.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34. Worked Example: Datum-Based Perpendicularity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Inspection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Requirement: a mounting face must be perpendicular to datum A within 0.05 mm.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Set datum A on an appropriate simulator or surface plate, per the drawing setup.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Measure the controlled face with a height gauge/indicator or CMM.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Evaluate the full surface against the permitted pair of parallel planes oriented 90° to datum A.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 not judge perpendicularity only from one edge or one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3977639"/>
            <a:ext cx="2926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4069079"/>
            <a:ext cx="2926080" cy="0"/>
          </a:xfrm>
          <a:prstGeom prst="line">
            <a:avLst/>
          </a:prstGeom>
          <a:ln w="127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Tolerance-zone evaluation—not a single angle reading—determines compliance.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35. Worked Example: Runout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Inspection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 shaft journal establishes datum axis A; a second cylindrical surface has circular runout 0.03 mm to A.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Mount the shaft using a setup that establishes datum axis A reliably.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Rotate one full revolution and record indicator variation at a specified cross-section.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Total indicator reading (TIR) is the maximum minus minimum reading for that revolution.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Acceptance depends on the specified runout control and proper setup; TIR alone is not a universal substitute for every GD&amp;T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651760"/>
            <a:ext cx="1931670" cy="82296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651760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2514600"/>
            <a:ext cx="0" cy="141732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072384"/>
            <a:ext cx="301752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24160" y="3246120"/>
            <a:ext cx="6400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7A85"/>
                </a:solidFill>
                <a:latin typeface="Aptos"/>
              </a:defRPr>
            </a:pPr>
            <a:r>
              <a:t>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The datum axis and setup are part of the requirement.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36. GD&amp;T vs. Traditional ± Dimensioning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± dimensions are intuitive for size and coordinate limits but can overconstrain patterns.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GD&amp;T defines functional tolerance zones and datum relationships.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Position tolerances can better represent bolt-pattern assembly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Profile can simplify complex contours compared with many individual coordinates.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both dimensioning methods where appropriate; GD&amp;T is not a replacement for all size dimensions.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64040" y="2761487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606039"/>
            <a:ext cx="0" cy="1325881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017520"/>
            <a:ext cx="2971800" cy="0"/>
          </a:xfrm>
          <a:prstGeom prst="line">
            <a:avLst/>
          </a:prstGeom>
          <a:ln w="127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Choose the clearest, functionally correct specification.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37. Design Review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For design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Does each control protect a real functional requirement?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Are datum features stable, accessible and related to assembly function?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Are basic dimensions and tolerance values complete and unambiguous?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Are modifiers and datum material-boundary requirements intentional?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Can the supplier inspect the requirement with a realistic method?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Are tolerances achievable for the process, cost and measurement capability?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606039"/>
            <a:ext cx="1842516" cy="877824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0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51392" y="2267712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0716" y="2267712"/>
            <a:ext cx="393192" cy="338327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00716" y="2606039"/>
            <a:ext cx="0" cy="877824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58200" y="3483863"/>
            <a:ext cx="1842516" cy="0"/>
          </a:xfrm>
          <a:prstGeom prst="line">
            <a:avLst/>
          </a:prstGeom>
          <a:ln w="2540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3880" y="3977639"/>
            <a:ext cx="32004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E88B2F"/>
                </a:solidFill>
                <a:latin typeface="Aptos"/>
              </a:defRPr>
            </a:pPr>
            <a: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913631"/>
            <a:ext cx="0" cy="338329"/>
          </a:xfrm>
          <a:prstGeom prst="line">
            <a:avLst/>
          </a:prstGeom>
          <a:ln w="25400">
            <a:solidFill>
              <a:srgbClr val="E8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 good GD&amp;T drawing is functional, clear and inspectable.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38.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1) Which family includes flatness and circularity?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2) Does flatness require a datum reference?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3) For a hole, what size is MMC?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4) What does a diameter symbol before a position tolerance commonly indicate?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5) What is the key difference between circular runout and total runout?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6) What should you check before interpreting a legacy drawing?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Answer key follows.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39. Quiz 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Review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1) Form.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2) No; flatness is a form control.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3) The smallest permitted hole diameter.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4) A cylindrical tolerance zone for the controlled axis/derived median line, when applicable.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5) Circular runout evaluates cross-sections; total runout evaluates the full surface during rotation.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6) The governing standard and edition, plus drawing notes and engineering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When uncertain, confirm interpretation with the drawing owner.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40. Final Revision &amp; 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Read the complete feature control frame and related dimensions.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Identify the controlled feature and the datum reference frame.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Understand the tolerance zone and all modifiers before measuring.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the correct standard and edition; ASME Y14.5 and ISO GPS are not interchangeable.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official standards for production acceptance, supplier disputes and regulated applications.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Training deck is educational; it does not replace licensed/controlled standards or company procedures.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743200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889503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520439"/>
            <a:ext cx="0" cy="594361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54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Interpretation must follow the drawing's specified standard.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41. Further Study &amp;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E7A85"/>
                </a:solidFill>
                <a:latin typeface="Aptos"/>
              </a:defRPr>
            </a:pPr>
            <a:r>
              <a:t>Use controlled, current editions for contractual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892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ASME Y14.5 — Dimensioning and Tolerancing (use the edition named on the drawing).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ISO GPS standards — relevant standards may include ISO 1101 (geometrical tolerancing), ISO 5459 (datums), ISO 8015 (fundamentals) and related documents.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Company drafting manual, inspection procedure, customer-specific requirements and drawing notes.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Training recommendation: practise reading real drawings, setting datums and evaluating one control at a time.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Important: this presentation summarizes concepts; exact symbol rules, defaults and evaluation procedures are standard- and edition-dependent.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53312"/>
            <a:ext cx="3977639" cy="4709160"/>
          </a:xfrm>
          <a:prstGeom prst="roundRect">
            <a:avLst/>
          </a:prstGeom>
          <a:solidFill>
            <a:srgbClr val="F2F6FA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4290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8B8B"/>
                </a:solidFill>
                <a:latin typeface="Aptos"/>
              </a:defRPr>
            </a:pPr>
            <a:r>
              <a:t>REFERENCE /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2834639"/>
            <a:ext cx="3108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834639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98094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834639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98094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⌀0.10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834639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298094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834639"/>
            <a:ext cx="777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2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980944"/>
            <a:ext cx="713232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2D3741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3611880"/>
            <a:ext cx="0" cy="594360"/>
          </a:xfrm>
          <a:prstGeom prst="line">
            <a:avLst/>
          </a:prstGeom>
          <a:ln w="19050">
            <a:solidFill>
              <a:srgbClr val="24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470916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28032"/>
            <a:ext cx="9144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8B8B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56632"/>
            <a:ext cx="315468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2263F"/>
                </a:solidFill>
                <a:latin typeface="Aptos"/>
              </a:defRPr>
            </a:pPr>
            <a:r>
              <a:t>Read the frame, identify datums, sketch the zone, plan inspection.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5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GD&amp;T • Geometric Dimensioning &amp; Tolerancing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E7A85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