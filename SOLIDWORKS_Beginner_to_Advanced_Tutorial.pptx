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58368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COMPLETE LEARNING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SOLIDWORKS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487168"/>
            <a:ext cx="987552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DAE6F2"/>
                </a:solidFill>
                <a:latin typeface="Aptos"/>
              </a:defRPr>
            </a:pPr>
            <a:r>
              <a:t>Beginner to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29000"/>
            <a:ext cx="81381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0">
                <a:solidFill>
                  <a:srgbClr val="DAE6F2"/>
                </a:solidFill>
                <a:latin typeface="Aptos"/>
              </a:defRPr>
            </a:pPr>
            <a:r>
              <a:t>A practical, step-by-step guide to 3D part design, assemblies,</a:t>
            </a:r>
            <a:br/>
            <a:r>
              <a:t>engineering drawings and manufacturing-ready models.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8595360" y="1371600"/>
            <a:ext cx="2103120" cy="1371600"/>
          </a:xfrm>
          <a:prstGeom prst="parallelogram">
            <a:avLst/>
          </a:prstGeom>
          <a:solidFill>
            <a:srgbClr val="2370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9692640" y="2377440"/>
            <a:ext cx="1554480" cy="1097280"/>
          </a:xfrm>
          <a:prstGeom prst="parallelogram">
            <a:avLst/>
          </a:prstGeom>
          <a:solidFill>
            <a:srgbClr val="3FBE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8229600" y="3017520"/>
            <a:ext cx="1463040" cy="1097280"/>
          </a:xfrm>
          <a:prstGeom prst="parallelogram">
            <a:avLst/>
          </a:prstGeom>
          <a:solidFill>
            <a:srgbClr val="F293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06440"/>
            <a:ext cx="7772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1">
                <a:solidFill>
                  <a:srgbClr val="3FBEDC"/>
                </a:solidFill>
                <a:latin typeface="Aptos"/>
              </a:defRPr>
            </a:pPr>
            <a:r>
              <a:t>TRAIN • PRACTICE • BUILD A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C8D2E1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What you will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From the first sketch to a complete engineering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5204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3152" cy="155448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37944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01 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13432"/>
            <a:ext cx="3154680" cy="8412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Interface, planes, units, file types and sketching.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5204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91640"/>
            <a:ext cx="73152" cy="155448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837944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02  Part modeling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13432"/>
            <a:ext cx="3154680" cy="8412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Extrude, revolve, cuts, patterns, fillets and design intent.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5204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91640"/>
            <a:ext cx="73152" cy="155448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837944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03  Assemblies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13432"/>
            <a:ext cx="3154680" cy="8412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Components, mates, clearances, motion checks and BOM.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35204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566160"/>
            <a:ext cx="73152" cy="1554480"/>
          </a:xfrm>
          <a:prstGeom prst="rect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712463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04  Drawings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187952"/>
            <a:ext cx="3154680" cy="8412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Views, dimensions, tolerances, sections and annotations.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566160"/>
            <a:ext cx="35204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566160"/>
            <a:ext cx="73152" cy="155448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3712463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05  Advanced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4187952"/>
            <a:ext cx="3154680" cy="8412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Sheet metal, weldments, surfaces, configurations and equations.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566160"/>
            <a:ext cx="35204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566160"/>
            <a:ext cx="73152" cy="155448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712463"/>
            <a:ext cx="32004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06  Job-ready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187952"/>
            <a:ext cx="3154680" cy="8412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Design a small fixture assembly and publish a drawing pack.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The learning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Recommended sequence — move forward only when you can repeat each skill independently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2011680" cy="2011680"/>
          </a:xfrm>
          <a:prstGeom prst="round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267712"/>
            <a:ext cx="17830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LEVEL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724912"/>
            <a:ext cx="17830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Interface + sketches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493008"/>
            <a:ext cx="17830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Weeks 1–2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40" y="3017520"/>
            <a:ext cx="301751" cy="0"/>
          </a:xfrm>
          <a:prstGeom prst="line">
            <a:avLst/>
          </a:prstGeom>
          <a:ln w="25400">
            <a:solidFill>
              <a:srgbClr val="57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26079" y="2011680"/>
            <a:ext cx="2011680" cy="2011680"/>
          </a:xfrm>
          <a:prstGeom prst="round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267712"/>
            <a:ext cx="17830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LEVEL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724912"/>
            <a:ext cx="17830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Core part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493008"/>
            <a:ext cx="17830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Weeks 3–4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37760" y="3017520"/>
            <a:ext cx="301752" cy="0"/>
          </a:xfrm>
          <a:prstGeom prst="line">
            <a:avLst/>
          </a:prstGeom>
          <a:ln w="25400">
            <a:solidFill>
              <a:srgbClr val="57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57800" y="2011680"/>
            <a:ext cx="2011680" cy="2011680"/>
          </a:xfrm>
          <a:prstGeom prst="roundRect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7528" y="2267712"/>
            <a:ext cx="17830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LEVEL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724912"/>
            <a:ext cx="17830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Assemblies + drawings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3493008"/>
            <a:ext cx="17830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Weeks 5–6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69480" y="3017520"/>
            <a:ext cx="301751" cy="0"/>
          </a:xfrm>
          <a:prstGeom prst="line">
            <a:avLst/>
          </a:prstGeom>
          <a:ln w="25400">
            <a:solidFill>
              <a:srgbClr val="57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89519" y="2011680"/>
            <a:ext cx="2011680" cy="2011680"/>
          </a:xfrm>
          <a:prstGeom prst="round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7" y="2267712"/>
            <a:ext cx="17830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LEVEL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7" y="2724912"/>
            <a:ext cx="17830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Advanced modeling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7" y="3493008"/>
            <a:ext cx="17830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Weeks 7–8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01200" y="3017520"/>
            <a:ext cx="301751" cy="0"/>
          </a:xfrm>
          <a:prstGeom prst="line">
            <a:avLst/>
          </a:prstGeom>
          <a:ln w="25400">
            <a:solidFill>
              <a:srgbClr val="57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921240" y="2011680"/>
            <a:ext cx="2011680" cy="2011680"/>
          </a:xfrm>
          <a:prstGeom prst="roundRect">
            <a:avLst/>
          </a:prstGeom>
          <a:solidFill>
            <a:srgbClr val="1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30967" y="2267712"/>
            <a:ext cx="17830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LEVEL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7" y="2724912"/>
            <a:ext cx="17830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Capstone + portfolio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7" y="3493008"/>
            <a:ext cx="17830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Weeks 9–10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709160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131F34"/>
                </a:solidFill>
                <a:latin typeface="Aptos"/>
              </a:defRPr>
            </a:pPr>
            <a:r>
              <a:t>Suggested pace: 45–60 minutes per day, 5 days per week. Every lesson should include a model you build yourself.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Getting started with SOLIDWORKS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Understand the interface and how parametric CAD stores design intent.</a:t>
            </a:r>
          </a:p>
        </p:txBody>
      </p:sp>
      <p:sp>
        <p:nvSpPr>
          <p:cNvPr id="5" name="Hexagon 4"/>
          <p:cNvSpPr/>
          <p:nvPr/>
        </p:nvSpPr>
        <p:spPr>
          <a:xfrm>
            <a:off x="969264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7844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900684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1.1  Understand the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Names can vary slightly by version and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41732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FeatureManager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21992"/>
            <a:ext cx="3108960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Lists sketches, features, planes and assembly components.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41732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Graphics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21992"/>
            <a:ext cx="3108960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Main workspace for viewing and editing the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41732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CommandManager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21992"/>
            <a:ext cx="3108960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Tabs group tools such as Features, Sketch and Evaluate.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37560"/>
            <a:ext cx="3474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337560"/>
            <a:ext cx="73152" cy="1417320"/>
          </a:xfrm>
          <a:prstGeom prst="rect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48386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PropertyManager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959352"/>
            <a:ext cx="3108960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Options and settings for the selected command.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337560"/>
            <a:ext cx="3474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337560"/>
            <a:ext cx="73152" cy="141732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348386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Heads-up toolbar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3959352"/>
            <a:ext cx="3108960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Common view and display controls near the model.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337560"/>
            <a:ext cx="3474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337560"/>
            <a:ext cx="73152" cy="141732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48386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Mouse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959352"/>
            <a:ext cx="3108960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Rotate, zoom and pan to inspect the model.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16636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131F34"/>
                </a:solidFill>
                <a:latin typeface="Aptos"/>
              </a:defRPr>
            </a:pPr>
            <a:r>
              <a:t>Practice: open a new Part, identify the three default planes, then save a file as Training_Block.SLDPRT.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1.2  Files, units and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Start every project with clear file and unit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Part: .SLDPRT  •  Assembly: .SLDASM  •  Drawing: .SLDDRW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Choose units deliberately: MMGS (millimeter, gram, second) is common in mechanical design.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meaningful filenames and revision identifiers; avoid names like final_final2.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Ctrl+S frequently and keep related part, assembly and drawing files together.</a:t>
            </a:r>
          </a:p>
          <a:p>
            <a:pPr>
              <a:spcAft>
                <a:spcPts val="10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Use the right mouse button for context-sensitive commands; use the shortcut bar for frequent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2370BE"/>
                </a:solidFill>
                <a:latin typeface="Aptos"/>
              </a:defRPr>
            </a:pPr>
            <a:r>
              <a:t>Good habit: confirm units before entering dimensions from a drawing.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Sketching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Build fully defined, editable sketches before adding 3D features.</a:t>
            </a:r>
          </a:p>
        </p:txBody>
      </p:sp>
      <p:sp>
        <p:nvSpPr>
          <p:cNvPr id="5" name="Hexagon 4"/>
          <p:cNvSpPr/>
          <p:nvPr/>
        </p:nvSpPr>
        <p:spPr>
          <a:xfrm>
            <a:off x="969264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7844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900684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2.1  Sketch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A reliable sketch is the foundation of a reliable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508760"/>
            <a:ext cx="502920" cy="502920"/>
          </a:xfrm>
          <a:prstGeom prst="ellipse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08760"/>
            <a:ext cx="24688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Choose a plane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508760"/>
            <a:ext cx="67665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Front, Top or Right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59151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331720"/>
            <a:ext cx="24688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Draw geometry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31720"/>
            <a:ext cx="67665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Line, rectangle, circle, arc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154680"/>
            <a:ext cx="502920" cy="502920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82112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54680"/>
            <a:ext cx="24688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Add relations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154680"/>
            <a:ext cx="67665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Horizontal, vertical, tangent, concentric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77639"/>
            <a:ext cx="502920" cy="502920"/>
          </a:xfrm>
          <a:prstGeom prst="ellipse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05072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77639"/>
            <a:ext cx="24688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977639"/>
            <a:ext cx="67665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Set exact sizes and positions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800600"/>
            <a:ext cx="502920" cy="502920"/>
          </a:xfrm>
          <a:prstGeom prst="ellipse">
            <a:avLst/>
          </a:prstGeom>
          <a:solidFill>
            <a:srgbClr val="1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28032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800600"/>
            <a:ext cx="24688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Check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800600"/>
            <a:ext cx="67665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Aim for fully defined geometry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71500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2370BE"/>
                </a:solidFill>
                <a:latin typeface="Aptos"/>
              </a:defRPr>
            </a:pPr>
            <a:r>
              <a:t>Rule of thumb: fully define the sketch when dimensions and relationships should not drift.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2.2  Sketch relations and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Relations control shape; dimensions control size and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73152" cy="182880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9222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Geometric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67712"/>
            <a:ext cx="3108960" cy="11155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Horizontal / vertical</a:t>
            </a:r>
            <a:br/>
            <a:r>
              <a:t>Coincident</a:t>
            </a:r>
            <a:br/>
            <a:r>
              <a:t>Tangent</a:t>
            </a:r>
            <a:br/>
            <a:r>
              <a:t>Concentric</a:t>
            </a:r>
            <a:br/>
            <a:r>
              <a:t>Equal / parallel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73152" cy="182880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9222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Driving dimensions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67712"/>
            <a:ext cx="3108960" cy="11155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Length, diameter, radius, angle and distance from origin.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4592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645920"/>
            <a:ext cx="73152" cy="182880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79222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Sketch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267712"/>
            <a:ext cx="3108960" cy="11155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Blue geometry is typically under-defined; black is typically fully defined (display may vary).</a:t>
            </a:r>
          </a:p>
        </p:txBody>
      </p:sp>
      <p:sp>
        <p:nvSpPr>
          <p:cNvPr id="19" name="Oval 18"/>
          <p:cNvSpPr/>
          <p:nvPr/>
        </p:nvSpPr>
        <p:spPr>
          <a:xfrm>
            <a:off x="1691640" y="4389120"/>
            <a:ext cx="1188720" cy="1188720"/>
          </a:xfrm>
          <a:prstGeom prst="ellipse">
            <a:avLst/>
          </a:prstGeom>
          <a:solidFill>
            <a:srgbClr val="F2F6FA"/>
          </a:solidFill>
          <a:ln w="25400">
            <a:solidFill>
              <a:srgbClr val="23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11680" y="4709159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9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4160520"/>
            <a:ext cx="7680960" cy="11430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Exercise: sketch a plate outline 100 × 60 mm with four Ø8 mm holes, each 10 mm from its nearest edges. Dimension the sketch instead of estimating by eye.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2.3  Common sketch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Practice each tool in a separate sketch before combining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Line / Centerline — edges, axes and construction geometry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Corner Rectangle / Center Rectangle — plates, blocks and symmetric profiles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Circle / Slot — holes, pins, elongated mounting holes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Arc / Spline — curved profiles; use splines only when needed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Trim Entities / Extend Entities — clean up intersecting geometry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Offset Entities / Convert Entities — reuse existing geometry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Mirror Entities — maintain symmetry and reduce duplicate sketching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Core 3D part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Learn how sketches become features and how features form a clear model tree.</a:t>
            </a:r>
          </a:p>
        </p:txBody>
      </p:sp>
      <p:sp>
        <p:nvSpPr>
          <p:cNvPr id="5" name="Hexagon 4"/>
          <p:cNvSpPr/>
          <p:nvPr/>
        </p:nvSpPr>
        <p:spPr>
          <a:xfrm>
            <a:off x="969264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7844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900684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3.1  Essential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Understand what each feature adds to or removes from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0078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Extruded Boss/Base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76272"/>
            <a:ext cx="3108960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Adds depth to a sketch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70078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Revolved Boss/Base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176272"/>
            <a:ext cx="3108960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Rotates a profile around an axis.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70078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Extruded Cut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176272"/>
            <a:ext cx="3108960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Removes material along a direction.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290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429000"/>
            <a:ext cx="73152" cy="1508760"/>
          </a:xfrm>
          <a:prstGeom prst="rect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5753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Hole Wizard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050791"/>
            <a:ext cx="3108960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Creates standard hole types and callouts.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4290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4290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35753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Fillet / Chamfer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4050791"/>
            <a:ext cx="3108960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Rounds or bevels selected edges.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4290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4290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5753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Pattern / Mirror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4050791"/>
            <a:ext cx="3108960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Repeats or reflects features predictably.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3.2  Practice model: mounting block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Build this simple component using a feature-based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834640"/>
            <a:ext cx="1097280" cy="777240"/>
          </a:xfrm>
          <a:prstGeom prst="rect">
            <a:avLst/>
          </a:prstGeom>
          <a:solidFill>
            <a:srgbClr val="2370BE"/>
          </a:solidFill>
          <a:ln>
            <a:solidFill>
              <a:srgbClr val="13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1097280" y="2423160"/>
            <a:ext cx="1097280" cy="457200"/>
          </a:xfrm>
          <a:prstGeom prst="parallelogram">
            <a:avLst/>
          </a:prstGeom>
          <a:solidFill>
            <a:srgbClr val="3FBEDC"/>
          </a:solidFill>
          <a:ln>
            <a:solidFill>
              <a:srgbClr val="13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2057400" y="2697480"/>
            <a:ext cx="502920" cy="777240"/>
          </a:xfrm>
          <a:prstGeom prst="parallelogram">
            <a:avLst/>
          </a:prstGeom>
          <a:solidFill>
            <a:srgbClr val="195491"/>
          </a:solidFill>
          <a:ln>
            <a:solidFill>
              <a:srgbClr val="13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645920"/>
            <a:ext cx="81381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31F34"/>
                </a:solidFill>
                <a:latin typeface="Aptos"/>
              </a:defRPr>
            </a:pPr>
            <a:r>
              <a:t>Model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057400"/>
            <a:ext cx="841248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Sketch a centered rectangle: 80 × 50 mm.</a:t>
            </a:r>
          </a:p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Extruded Boss/Base: thickness 12 mm.</a:t>
            </a:r>
          </a:p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Sketch two Ø10 mm holes; position them symmetrically.</a:t>
            </a:r>
          </a:p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Use Extruded Cut — Through All, or Hole Wizard when appropriate.</a:t>
            </a:r>
          </a:p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Add a 2 mm fillet only where the design and manufacturing process allow.</a:t>
            </a:r>
          </a:p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Rename important features: Base_Extrude, Mounting_Holes, Edge_Fillet.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2370BE"/>
                </a:solidFill>
                <a:latin typeface="Aptos"/>
              </a:defRPr>
            </a:pPr>
            <a:r>
              <a:t>Check: edit the base width and confirm the hole positions remain correct.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3.3  Design intent and feature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A model should be easy for another engineer to 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Build from stable references: origin planes, axes and robust faces.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symmetry, equal relations, patterns and mirror features rather than duplicate dimensions.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Prefer fewer, meaningful features over one complicated sketch.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Avoid unnecessary external references and fragile face-to-face dependencies.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Rename key features; group logically and suppress optional features only when needed.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Rebuild after edits and resolve all errors before releasing the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Intermediate &amp; advanced part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Expand beyond simple extrudes into complex forms, sheet metal and design automation.</a:t>
            </a:r>
          </a:p>
        </p:txBody>
      </p:sp>
      <p:sp>
        <p:nvSpPr>
          <p:cNvPr id="5" name="Hexagon 4"/>
          <p:cNvSpPr/>
          <p:nvPr/>
        </p:nvSpPr>
        <p:spPr>
          <a:xfrm>
            <a:off x="969264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7844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900684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4.1  Intermediate modeling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Use each tool for the geometry it is designed to 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46304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Sweep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21992"/>
            <a:ext cx="3108960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Move a profile along a path — e.g., a tube or handle.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46304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Loft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21992"/>
            <a:ext cx="3108960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Blend profiles across planes to create transitions.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46304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Rib / 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21992"/>
            <a:ext cx="3108960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Add thin supports or hollow a body with controlled wall thickness.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8328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383280"/>
            <a:ext cx="73152" cy="1463040"/>
          </a:xfrm>
          <a:prstGeom prst="rect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52958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Configurations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005072"/>
            <a:ext cx="3108960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Create controlled size or feature variations in one file.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38328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383280"/>
            <a:ext cx="73152" cy="146304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352958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Equations / Design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4005072"/>
            <a:ext cx="3108960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Drive dimensions from parameters and tabulated variants.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383280"/>
            <a:ext cx="34747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383280"/>
            <a:ext cx="73152" cy="146304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52958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Multi-body parts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005072"/>
            <a:ext cx="3108960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Manage multiple solid bodies in a single part file.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4.2  Sheet metal essentials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Model parts with manufacturing operations in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Base Flange/Tab — start from a sheet profile and thickness.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Edge Flange, Miter Flange and Hem — create formed edges.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Jog, Sketched Bend and Flatten — represent bends and flat patterns.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Set thickness, bend radius and K-factor using your shop's material/process guidance.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Inspect the flat pattern and bend lines before creating manufacturing drawings.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Do not assume default bend allowances match every machine or material.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2370BE"/>
                </a:solidFill>
                <a:latin typeface="Aptos"/>
              </a:defRPr>
            </a:pPr>
            <a:r>
              <a:t>Practice: create an L-bracket, add two flanges, then generate its flat pattern.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4.3  Weldments and structural frames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Useful for machine bases, guards, supports and fabrication 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Create a 2D or 3D sketch to represent the member centerlines.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Structural Member with the correct profile and size.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Trim/Extend to manage member intersections.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Add end caps, gussets or plates where the design requires them.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Create a cut list and verify member lengths, orientation and quantity.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Confirm profile libraries and material specifications before issuing fabrication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4.4  Surface modeling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Use surfaces for complex shapes and controlled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Surface Extrude / Revolve — create open surface geometry.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Boundary Surface / Lofted Surface — build smooth transitions between curves.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Trim, Knit and Extend — shape and join surface patches.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Thicken — convert a suitable surface into a solid.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curvature and zebra-stripe checks when surface quality matters.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Repair gaps and mismatched edges before attempting to form a closed solid.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Assemblies and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Bring parts together with mates, check fit and communicate how a mechanism works.</a:t>
            </a:r>
          </a:p>
        </p:txBody>
      </p:sp>
      <p:sp>
        <p:nvSpPr>
          <p:cNvPr id="5" name="Hexagon 4"/>
          <p:cNvSpPr/>
          <p:nvPr/>
        </p:nvSpPr>
        <p:spPr>
          <a:xfrm>
            <a:off x="969264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7844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900684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5.1  Assembly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A stable assembly starts with correct component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Create a new Assembly and insert the base component first; fix it where appropriate.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Insert remaining components from clean, named part files.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Apply mates: coincident, concentric, distance, angle, parallel and width as needed.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Avoid over-defining components; inspect degrees of freedom when motion is expected.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interference detection and clearance checks before release.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exploded views to communicate assembly order and service access.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235440" y="4663440"/>
            <a:ext cx="594360" cy="411480"/>
          </a:xfrm>
          <a:prstGeom prst="rect">
            <a:avLst/>
          </a:prstGeom>
          <a:solidFill>
            <a:srgbClr val="2370BE"/>
          </a:solidFill>
          <a:ln>
            <a:solidFill>
              <a:srgbClr val="13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0" y="4663440"/>
            <a:ext cx="594360" cy="411480"/>
          </a:xfrm>
          <a:prstGeom prst="rect">
            <a:avLst/>
          </a:prstGeom>
          <a:solidFill>
            <a:srgbClr val="F29337"/>
          </a:solidFill>
          <a:ln>
            <a:solidFill>
              <a:srgbClr val="13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5212079"/>
            <a:ext cx="594360" cy="411480"/>
          </a:xfrm>
          <a:prstGeom prst="rect">
            <a:avLst/>
          </a:prstGeom>
          <a:solidFill>
            <a:srgbClr val="2F9B6E"/>
          </a:solidFill>
          <a:ln>
            <a:solidFill>
              <a:srgbClr val="13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5.2  Mates — practical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Choose mates based on the real mechanical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41732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Concentric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21992"/>
            <a:ext cx="3108960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Shaft in a bearing; pin in a round hole.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41732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Coincident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21992"/>
            <a:ext cx="3108960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Two planar faces touching or a point on a plane.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41732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Distance / 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21992"/>
            <a:ext cx="3108960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Set a gap, travel stop or fixed orientation.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37560"/>
            <a:ext cx="3474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337560"/>
            <a:ext cx="73152" cy="1417320"/>
          </a:xfrm>
          <a:prstGeom prst="rect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48386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Limit Distance / Angle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959352"/>
            <a:ext cx="3108960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Restrict motion between minimum and maximum values.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337560"/>
            <a:ext cx="3474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337560"/>
            <a:ext cx="73152" cy="141732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348386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Width Mate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3959352"/>
            <a:ext cx="3108960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Center a tab or component within a slot.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337560"/>
            <a:ext cx="3474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337560"/>
            <a:ext cx="73152" cy="141732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48386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Mechanical mates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959352"/>
            <a:ext cx="3108960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Gear, rack-and-pinion, screw or hinge-style relationships when supported.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5.3  Assembly quality checks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CAD fit checks support engineering review but do not replace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Interference Detection — identify overlapping solids that may be unintended.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Clearance Verification — assess gaps against defined design requirements.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Move Component / Rotate Component — inspect expected motion and access.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Mass Properties — check mass and center of mass using assigned materials.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Large assemblies: simplify detail, use lightweight/resolved options thoughtfully, and suppress unused components.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Verify fasteners, tooling access, maintenance access and cable/hose clearances.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Engineering drawings and GD&amp;T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Turn 3D design data into clear, manufacturing-ready documentation.</a:t>
            </a:r>
          </a:p>
        </p:txBody>
      </p:sp>
      <p:sp>
        <p:nvSpPr>
          <p:cNvPr id="5" name="Hexagon 4"/>
          <p:cNvSpPr/>
          <p:nvPr/>
        </p:nvSpPr>
        <p:spPr>
          <a:xfrm>
            <a:off x="969264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7844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900684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6.1  Create a drawing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A drawing must communicate size, shape, tolerances and manufacturing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Create Drawing from Part/Assembly and select an appropriate sheet size.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Place standard orthographic views; add isometric view when it helps visualization.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section, detail and auxiliary views where necessary.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Add dimensions with clear references; avoid duplicate or ambiguous dimensions.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Add center marks, centerlines, notes, material, finish and revision information.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the required projection method and company drawing template.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6.2  Tolerances and GD&amp;T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Apply tolerances based on function, process capability and inspection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Size tolerances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21992"/>
            <a:ext cx="3108960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Limits, plus/minus tolerances and fits for shafts and holes.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Datums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21992"/>
            <a:ext cx="3108960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Reference features that establish how a part is located and inspected.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Geometric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21992"/>
            <a:ext cx="3108960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Position, flatness, perpendicularity, parallelism, profile and runout.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069848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Use the drawing standard required by your organization (e.g., ASME or ISO); do not mix rules casually.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Tolerance only what is functionally necessary — tighter tolerances can increase cost.</a:t>
            </a:r>
          </a:p>
          <a:p>
            <a:pPr>
              <a:spcAft>
                <a:spcPts val="9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Confirm datum scheme, material condition modifiers and inspection access with the design/quality team.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Manufacturing-aware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Use CAD to help prevent production problems before parts are made.</a:t>
            </a:r>
          </a:p>
        </p:txBody>
      </p:sp>
      <p:sp>
        <p:nvSpPr>
          <p:cNvPr id="5" name="Hexagon 4"/>
          <p:cNvSpPr/>
          <p:nvPr/>
        </p:nvSpPr>
        <p:spPr>
          <a:xfrm>
            <a:off x="969264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7844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900684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7.1  Design for manufacturing (DFM)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Model the part that can be made, inspected and assembled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Machining: check tool access, internal corners, hole depth, setups and clamping.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Sheet metal: check bend relief, minimum flange length, bend radius and flat pattern.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Welding: consider weld access, joint preparation, distortion and inspection.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Moulded parts: consider draft, wall thickness, ribs, bosses, gates and ejection.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Assembly: provide locating features, fastening access, poka-yoke and service clearance.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material, process and finish requirements that match the intended supplier and specification.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7.2  Simulation and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Simulation is a decision-support tool — validate assumptions and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Define the question first: stress, displacement, thermal behavior, motion or flow.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Assign realistic materials, contacts, fixtures and loads.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a suitable mesh; refine where gradients or stress concentrations are important.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Check units, boundary conditions, reaction forces and whether results make physical sense.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Run mesh/convergence checks for important studies and document assumptions.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Confirm critical designs with appropriate engineering review and physical testing.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Productivity and professional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Use repeatable habits to make your models faster to edit and easier to release.</a:t>
            </a:r>
          </a:p>
        </p:txBody>
      </p:sp>
      <p:sp>
        <p:nvSpPr>
          <p:cNvPr id="5" name="Hexagon 4"/>
          <p:cNvSpPr/>
          <p:nvPr/>
        </p:nvSpPr>
        <p:spPr>
          <a:xfrm>
            <a:off x="969264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7844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900684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8.1  Professional workflow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Before sending a CAD package to another person or supplier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512064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1700784"/>
            <a:ext cx="320040" cy="320040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1664207"/>
            <a:ext cx="434340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1">
                <a:solidFill>
                  <a:srgbClr val="232D3A"/>
                </a:solidFill>
                <a:latin typeface="Aptos"/>
              </a:defRPr>
            </a:pPr>
            <a:r>
              <a:t>Sketches and feature tree are understandable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12064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65392" y="1700784"/>
            <a:ext cx="320040" cy="320040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1664207"/>
            <a:ext cx="434340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1">
                <a:solidFill>
                  <a:srgbClr val="232D3A"/>
                </a:solidFill>
                <a:latin typeface="Aptos"/>
              </a:defRPr>
            </a:pPr>
            <a:r>
              <a:t>All features rebuild without errors or warnings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14600"/>
            <a:ext cx="512064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2660904"/>
            <a:ext cx="320040" cy="320040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2624328"/>
            <a:ext cx="434340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1">
                <a:solidFill>
                  <a:srgbClr val="232D3A"/>
                </a:solidFill>
                <a:latin typeface="Aptos"/>
              </a:defRPr>
            </a:pPr>
            <a:r>
              <a:t>Units, materials and custom properties are correct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514600"/>
            <a:ext cx="512064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65392" y="2660904"/>
            <a:ext cx="320040" cy="320040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2624328"/>
            <a:ext cx="434340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1">
                <a:solidFill>
                  <a:srgbClr val="232D3A"/>
                </a:solidFill>
                <a:latin typeface="Aptos"/>
              </a:defRPr>
            </a:pPr>
            <a:r>
              <a:t>Part/assembly references are not missing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474720"/>
            <a:ext cx="512064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7552" y="3621024"/>
            <a:ext cx="320040" cy="320040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4752" y="3584448"/>
            <a:ext cx="434340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1">
                <a:solidFill>
                  <a:srgbClr val="232D3A"/>
                </a:solidFill>
                <a:latin typeface="Aptos"/>
              </a:defRPr>
            </a:pPr>
            <a:r>
              <a:t>Interferences and clearances are reviewed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474720"/>
            <a:ext cx="512064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65392" y="3621024"/>
            <a:ext cx="320040" cy="320040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2592" y="3584448"/>
            <a:ext cx="434340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1">
                <a:solidFill>
                  <a:srgbClr val="232D3A"/>
                </a:solidFill>
                <a:latin typeface="Aptos"/>
              </a:defRPr>
            </a:pPr>
            <a:r>
              <a:t>Drawing views, dimensions and tolerances are complete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34840"/>
            <a:ext cx="512064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7552" y="4581144"/>
            <a:ext cx="320040" cy="320040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44752" y="4544568"/>
            <a:ext cx="434340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1">
                <a:solidFill>
                  <a:srgbClr val="232D3A"/>
                </a:solidFill>
                <a:latin typeface="Aptos"/>
              </a:defRPr>
            </a:pPr>
            <a:r>
              <a:t>Revision, title block and filenames are correct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434840"/>
            <a:ext cx="512064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65392" y="4581144"/>
            <a:ext cx="320040" cy="320040"/>
          </a:xfrm>
          <a:prstGeom prst="ellipse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4544568"/>
            <a:ext cx="434340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>
              <a:defRPr sz="1300" b="1">
                <a:solidFill>
                  <a:srgbClr val="232D3A"/>
                </a:solidFill>
                <a:latin typeface="Aptos"/>
              </a:defRPr>
            </a:pPr>
            <a:r>
              <a:t>Neutral export (STEP/PDF/DXF as required) is checked after export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8.2  Keyboard and modeling habits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Shortcuts vary by setup; customize them to match your daily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S for the shortcut bar in many SOLIDWORKS setups; customize it for your workflow.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Ctrl+8 for Normal To; use standard view controls to orient sketches and models.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the mouse wheel to zoom; middle mouse button to rotate in common default settings.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Use rollback and suppress carefully when diagnosing a feature-tree problem.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Create templates for units, drafting standards, title blocks and material properties.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Learn search and command discovery so you can find unfamiliar tools quickly.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MODULE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0">
                <a:solidFill>
                  <a:srgbClr val="D7E1EE"/>
                </a:solidFill>
                <a:latin typeface="Aptos"/>
              </a:defRPr>
            </a:pPr>
            <a:r>
              <a:t>Apply the complete workflow by designing a simple machine fixture or mounting assembly.</a:t>
            </a:r>
          </a:p>
        </p:txBody>
      </p:sp>
      <p:sp>
        <p:nvSpPr>
          <p:cNvPr id="5" name="Hexagon 4"/>
          <p:cNvSpPr/>
          <p:nvPr/>
        </p:nvSpPr>
        <p:spPr>
          <a:xfrm>
            <a:off x="9692640" y="4023360"/>
            <a:ext cx="1005840" cy="1005840"/>
          </a:xfrm>
          <a:prstGeom prst="hexagon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378440" y="4434840"/>
            <a:ext cx="685800" cy="685800"/>
          </a:xfrm>
          <a:prstGeom prst="hexagon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9006840" y="4754880"/>
            <a:ext cx="502920" cy="502920"/>
          </a:xfrm>
          <a:prstGeom prst="hexagon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Capstone: design a small fixture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Example scope — adapt dimensions to your own safe training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Part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21992"/>
            <a:ext cx="3108960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Base plate, support blocks, locating pins, clamps and fasteners.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50876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Assembly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21992"/>
            <a:ext cx="3108960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Mate parts, check movement, access and interference.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50876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Drawing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21992"/>
            <a:ext cx="3108960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Part drawings, assembly drawing, BOM and exploded 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10607040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Deliverable 1: organized feature tree and editable part files.</a:t>
            </a:r>
          </a:p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Deliverable 2: assembly with sensible mates and no unintended interference.</a:t>
            </a:r>
          </a:p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Deliverable 3: manufacturing drawings with dimensions and tolerances.</a:t>
            </a:r>
          </a:p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Deliverable 4: neutral export and a short design review explaining key decisions.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10-week practice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Consistency beats watching tutorials without building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0876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6400800"/>
                <a:gridCol w="38404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1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1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Practice output</a:t>
                      </a:r>
                    </a:p>
                  </a:txBody>
                  <a:tcPr>
                    <a:solidFill>
                      <a:srgbClr val="131F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D3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Interface, navigation, units, sketch relations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5 simple sketches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D3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Dimensions, fully defined sketches, constraints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Plate with holes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D3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Extrude, cut, revolve, fillet, chamfer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Mounting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D3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Patterns, mirrors, Hole Wizard, design intent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Flanged bracket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D3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Assembly basics and mates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Pin-and-bracket assembly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D3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Drawings, sections, dimensions, BOM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Drawing pack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D3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Sheet metal and flat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L-bracket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D3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Weldments, configurations, equations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Frame or size variants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D3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Advanced part tools, surfaces, validation basics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Selected advanced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D3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Capstone, review, portfolio and exports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A"/>
                          </a:solidFill>
                        </a:defRPr>
                      </a:pPr>
                      <a:r>
                        <a:t>Complete design package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Practice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Try these without copying a video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82880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Beginner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21992"/>
            <a:ext cx="3108960" cy="11155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Create a 100 × 60 × 10 mm plate with four mounting holes. Fully define the sketch.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82880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Intermediate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21992"/>
            <a:ext cx="3108960" cy="11155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Build a shaft support with a revolved profile, mounting holes and a drawing.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82880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46504"/>
            <a:ext cx="31546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Advanced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21992"/>
            <a:ext cx="3108960" cy="11155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Create a small adjustable fixture assembly with mates, configurations and BOM.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051560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800" b="1">
                <a:solidFill>
                  <a:srgbClr val="131F34"/>
                </a:solidFill>
                <a:latin typeface="Aptos"/>
              </a:defRPr>
            </a:pPr>
            <a:r>
              <a:t>For every challenge: save the native files, capture a clean isometric view, create a drawing and explain why you chose each feature.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1208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600" b="1">
                <a:solidFill>
                  <a:srgbClr val="2370BE"/>
                </a:solidFill>
                <a:latin typeface="Aptos"/>
              </a:defRPr>
            </a:pPr>
            <a:r>
              <a:t>Self-check: Can you change a key dimension without breaking the model?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31F34"/>
                </a:solidFill>
                <a:latin typeface="Aptos"/>
              </a:defRPr>
            </a:pPr>
            <a:r>
              <a:t>Official learning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914400" cy="54864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576577"/>
                </a:solidFill>
                <a:latin typeface="Aptos"/>
              </a:defRPr>
            </a:pPr>
            <a:r>
              <a:t>Use this deck with the official tutorials and help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035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73152" cy="132588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00784"/>
            <a:ext cx="4983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SOLIDWORKS Tutorials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76272"/>
            <a:ext cx="4937759" cy="6126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Step-by-step videos for beginner through advanced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49377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1">
                <a:solidFill>
                  <a:srgbClr val="2370BE"/>
                </a:solidFill>
                <a:latin typeface="Aptos"/>
              </a:defRPr>
            </a:pPr>
            <a:r>
              <a:t>youtube.com/@solidworkstutorials_official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3035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1325880"/>
          </a:xfrm>
          <a:prstGeom prst="rect">
            <a:avLst/>
          </a:prstGeom>
          <a:solidFill>
            <a:srgbClr val="3F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700784"/>
            <a:ext cx="4983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In-software Tutorials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76272"/>
            <a:ext cx="4937759" cy="6126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Open Help → SOLIDWORKS Tutorials (menu wording varies by version).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48463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1">
                <a:solidFill>
                  <a:srgbClr val="2370BE"/>
                </a:solidFill>
                <a:latin typeface="Aptos"/>
              </a:defRPr>
            </a:pPr>
            <a:r>
              <a:t>help.solidworks.com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40"/>
            <a:ext cx="53035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20440"/>
            <a:ext cx="73152" cy="1325880"/>
          </a:xfrm>
          <a:prstGeom prst="rect">
            <a:avLst/>
          </a:prstGeom>
          <a:solidFill>
            <a:srgbClr val="F2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666744"/>
            <a:ext cx="4983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Official training courses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142232"/>
            <a:ext cx="4937759" cy="6126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Design essentials, drawings, assemblies, advanced parts, sheet metal and more.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49377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1">
                <a:solidFill>
                  <a:srgbClr val="2370BE"/>
                </a:solidFill>
                <a:latin typeface="Aptos"/>
              </a:defRPr>
            </a:pPr>
            <a:r>
              <a:t>solidworks.com/support/training/classroom-training-courses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520440"/>
            <a:ext cx="53035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520440"/>
            <a:ext cx="73152" cy="1325880"/>
          </a:xfrm>
          <a:prstGeom prst="rect">
            <a:avLst/>
          </a:prstGeom>
          <a:solidFill>
            <a:srgbClr val="2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666744"/>
            <a:ext cx="4983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31F34"/>
                </a:solidFill>
                <a:latin typeface="Aptos"/>
              </a:defRPr>
            </a:pPr>
            <a:r>
              <a:t>Beginner's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142232"/>
            <a:ext cx="4937759" cy="6126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32D3A"/>
                </a:solidFill>
                <a:latin typeface="Aptos"/>
              </a:defRPr>
            </a:pPr>
            <a:r>
              <a:t>Start with sketches, parts, holes, assemblies and revisions.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46320"/>
            <a:ext cx="48463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2370BE"/>
                </a:solidFill>
                <a:latin typeface="Aptos"/>
              </a:defRPr>
            </a:pPr>
            <a:r>
              <a:t>blogs.solidworks.com/products/solidworks/beginners-guide-to-solidworks/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69280"/>
            <a:ext cx="104241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576577"/>
                </a:solidFill>
                <a:latin typeface="Aptos"/>
              </a:defRPr>
            </a:pPr>
            <a:r>
              <a:t>Official resources may describe features that depend on your SOLIDWORKS version or license.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1">
                <a:solidFill>
                  <a:srgbClr val="576577"/>
                </a:solidFill>
                <a:latin typeface="Aptos"/>
              </a:defRPr>
            </a:pPr>
            <a:r>
              <a:t>SOLIDWORKS LEARNING PATH  •  BEGINNER → ADVANCED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576577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104241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3FBEDC"/>
                </a:solidFill>
                <a:latin typeface="Aptos"/>
              </a:defRPr>
            </a:pPr>
            <a:r>
              <a:t>YOUR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Open SOLIDWORKS. Build one part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80360"/>
            <a:ext cx="987552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0">
                <a:solidFill>
                  <a:srgbClr val="DCE6F2"/>
                </a:solidFill>
                <a:latin typeface="Aptos"/>
              </a:defRPr>
            </a:pPr>
            <a:r>
              <a:t>Start with a fully dimensioned sketch, create a simple feature, save the file, and repeat until the workflow feels natural.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00600"/>
            <a:ext cx="987552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3FBEDC"/>
                </a:solidFill>
                <a:latin typeface="Aptos"/>
              </a:defRPr>
            </a:pPr>
            <a:r>
              <a:t>Learn the tool • understand the engineering • practice the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1">
                <a:solidFill>
                  <a:srgbClr val="C8D2E1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