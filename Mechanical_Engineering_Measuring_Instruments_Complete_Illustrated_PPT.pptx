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6692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EB9137"/>
                </a:solidFill>
                <a:latin typeface="Aptos"/>
              </a:rPr>
              <a:t>MECHANICAL ENGINEERING • TECHNICAL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669280" cy="1463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MEASURING INSTRUMENTS
COMPLETE STUDY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DCE6F0"/>
                </a:solidFill>
                <a:latin typeface="Aptos"/>
              </a:rPr>
              <a:t>Instrument purpose, parts, working principles, least count, use, errors, calibration and interview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4389120" cy="566928"/>
          </a:xfrm>
          <a:prstGeom prst="roundRect">
            <a:avLst/>
          </a:prstGeom>
          <a:solidFill>
            <a:srgbClr val="2768A5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25112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ILLUSTRATED • PRACTICAL • INTERVIEW READY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0" y="2926080"/>
            <a:ext cx="429768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543800" y="2514600"/>
            <a:ext cx="1005840" cy="77724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7726679" y="1554480"/>
            <a:ext cx="0" cy="960120"/>
          </a:xfrm>
          <a:prstGeom prst="line">
            <a:avLst/>
          </a:prstGeom>
          <a:ln w="50800">
            <a:solidFill>
              <a:srgbClr val="32A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321040" y="1554480"/>
            <a:ext cx="0" cy="960120"/>
          </a:xfrm>
          <a:prstGeom prst="line">
            <a:avLst/>
          </a:prstGeom>
          <a:ln w="50800">
            <a:solidFill>
              <a:srgbClr val="32A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26679" y="1554480"/>
            <a:ext cx="594361" cy="0"/>
          </a:xfrm>
          <a:prstGeom prst="line">
            <a:avLst/>
          </a:prstGeom>
          <a:ln w="50800">
            <a:solidFill>
              <a:srgbClr val="32A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26679" y="2926080"/>
            <a:ext cx="0" cy="868680"/>
          </a:xfrm>
          <a:prstGeom prst="line">
            <a:avLst/>
          </a:prstGeom>
          <a:ln w="50800">
            <a:solidFill>
              <a:srgbClr val="32A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2926080"/>
            <a:ext cx="0" cy="868680"/>
          </a:xfrm>
          <a:prstGeom prst="line">
            <a:avLst/>
          </a:prstGeom>
          <a:ln w="50800">
            <a:solidFill>
              <a:srgbClr val="32A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23960" y="2633472"/>
            <a:ext cx="11887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651760"/>
            <a:ext cx="109728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58E67"/>
                </a:solidFill>
                <a:latin typeface="Aptos"/>
              </a:rPr>
              <a:t>12.45 mm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040880" y="2706624"/>
            <a:ext cx="0" cy="21945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32904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24928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616952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808976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001000" y="2706624"/>
            <a:ext cx="0" cy="21945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193024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385048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577072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769096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61120" y="2706624"/>
            <a:ext cx="0" cy="21945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153144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345168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537192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729216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921240" y="2706624"/>
            <a:ext cx="0" cy="21945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113264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305288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497312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689336" y="2816352"/>
            <a:ext cx="0" cy="10972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881360" y="2706624"/>
            <a:ext cx="0" cy="21945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6035040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BECDDA"/>
                </a:solidFill>
                <a:latin typeface="Aptos"/>
              </a:rPr>
              <a:t>For diploma, ITI, technician, quality, production and maintenance interviews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1. Measurement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The language of dimensional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Measurement compares an unknown quantity with an accepted standard.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Accuracy: closeness to the reference value; precision: repeatability of readings.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Resolution is the smallest displayed/readable increment; it is not the same as accuracy.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Least count is the smallest value an instrument can resolve by its scale/design.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Tolerance is the permitted dimensional variation; uncertainty describes doubt in a result.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Always record the value with units and the instrument identification when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92240" y="3291840"/>
            <a:ext cx="4480560" cy="0"/>
          </a:xfrm>
          <a:prstGeom prst="line">
            <a:avLst/>
          </a:prstGeom>
          <a:ln w="635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2940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3056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3173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290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3407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3524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3640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37575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3874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3991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4108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4224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4341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4458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44575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4692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4808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04925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5042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5159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5276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40880" y="2971800"/>
            <a:ext cx="1005840" cy="73152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7315200" y="2331720"/>
            <a:ext cx="0" cy="59436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72400" y="2331720"/>
            <a:ext cx="0" cy="59436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2331720"/>
            <a:ext cx="457200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32320" y="3337560"/>
            <a:ext cx="0" cy="73152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63840" y="3337560"/>
            <a:ext cx="0" cy="73152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12280" y="434340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Outside • inside • depth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382512"/>
            <a:ext cx="10698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Interview tip: Be able to explain accuracy, precision, resolution, least count and tolerance distinctly.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2. Choosing the Right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Match instrument, feature and tolerance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Steel rule: quick approximate length checks.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Vernier caliper: external, internal and depth dimensions across a useful range.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Micrometer: accurate outside diameter or thickness measurements.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Bore gauge: internal diameter variation; often used with a setting standard.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Dial indicator: comparative displacement, runout and alignment checks.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an instrument whose range and uncertainty suit the tolerance being inspected.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3. Steel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Simple length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Purpose: quick measurement and layout for general workshop work.</a:t>
            </a:r>
          </a:p>
          <a:p>
            <a:pPr>
              <a:spcAft>
                <a:spcPts val="9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Common graduations: millimetres and sometimes half-millimetres or inches.</a:t>
            </a:r>
          </a:p>
          <a:p>
            <a:pPr>
              <a:spcAft>
                <a:spcPts val="9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Working principle: align the zero/reference edge and read the scale at the feature.</a:t>
            </a:r>
          </a:p>
          <a:p>
            <a:pPr>
              <a:spcAft>
                <a:spcPts val="9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Keep the rule straight, clean and close to the measured line.</a:t>
            </a:r>
          </a:p>
          <a:p>
            <a:pPr>
              <a:spcAft>
                <a:spcPts val="900"/>
              </a:spcAft>
              <a:defRPr sz="1400">
                <a:solidFill>
                  <a:srgbClr val="2A3541"/>
                </a:solidFill>
                <a:latin typeface="Aptos"/>
              </a:defRPr>
            </a:pPr>
            <a:r>
              <a:t>Limitations: lower precision than calipers or micrometers; damaged zero edges cause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92240" y="3291840"/>
            <a:ext cx="4480560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2940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3056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3173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290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3407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3524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3640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37575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3874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3991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4108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4224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4341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4458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44575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4692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4808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04925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5042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5159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5276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12280" y="370332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Graduated steel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11480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667584"/>
                </a:solidFill>
                <a:latin typeface="Aptos"/>
              </a:rPr>
              <a:t>Read from zero; avoid parallax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82512"/>
            <a:ext cx="10698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Interview tip: Avoid parallax by looking squarely at the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4. Vernier Caliper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External, internal and depth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Main parts: main scale, vernier scale, fixed jaw, sliding jaw, depth rod and lock.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External jaws measure outside dimensions; inside jaws measure internal dimensions.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Depth rod measures hole or step depth when correctly seated.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Traditional least count = one main-scale division − one vernier-scale division.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Reading = main-scale reading + (coinciding vernier division × least count).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Close the jaws gently and check zero error before measuring.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92240" y="3291840"/>
            <a:ext cx="4480560" cy="0"/>
          </a:xfrm>
          <a:prstGeom prst="line">
            <a:avLst/>
          </a:prstGeom>
          <a:ln w="635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2940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3056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3173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290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3407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3524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3640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37575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3874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3991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4108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4224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4341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4458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44575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4692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4808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04925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5042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5159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5276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40880" y="2971800"/>
            <a:ext cx="1005840" cy="73152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7315200" y="2331720"/>
            <a:ext cx="0" cy="59436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72400" y="2331720"/>
            <a:ext cx="0" cy="59436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2331720"/>
            <a:ext cx="457200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32320" y="3337560"/>
            <a:ext cx="0" cy="73152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63840" y="3337560"/>
            <a:ext cx="0" cy="73152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12280" y="434340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Outside • inside • depth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382512"/>
            <a:ext cx="10698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Interview tip: For a typical 0.02 mm least-count caliper, verify the actual instrument marking.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5. Digital Caliper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Electronic display and practical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Uses a sensor and digital display to show the measured dimension.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Common functions: mm/inch conversion, zero/set and relative measurement.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battery condition, jaw cleanliness and zero reading before use.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Press zero only when the reference position is correct for the measurement.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Do not use the jaws as a clamp or expose the tool to chips, coolant or impact beyond its rating.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Digital display resolution does not guarantee equal measurement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92240" y="3291840"/>
            <a:ext cx="4480560" cy="0"/>
          </a:xfrm>
          <a:prstGeom prst="line">
            <a:avLst/>
          </a:prstGeom>
          <a:ln w="635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2940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3056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3173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290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3407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3524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3640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37575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3874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3991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4108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4224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4341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4458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44575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4692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4808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04925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5042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5159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5276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40880" y="2971800"/>
            <a:ext cx="1005840" cy="73152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7315200" y="2331720"/>
            <a:ext cx="0" cy="59436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72400" y="2331720"/>
            <a:ext cx="0" cy="59436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2331720"/>
            <a:ext cx="457200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32320" y="3337560"/>
            <a:ext cx="0" cy="73152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63840" y="3337560"/>
            <a:ext cx="0" cy="73152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38160" y="3017520"/>
            <a:ext cx="960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8" y="3044952"/>
            <a:ext cx="8229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58E67"/>
                </a:solidFill>
                <a:latin typeface="Aptos"/>
              </a:rPr>
              <a:t>12.45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34340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Outside • inside • depth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6. Outside Micrometer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Precision outside diameter and thickness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Main parts: frame, anvil, spindle, sleeve/barrel, thimble, ratchet and lock.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Spindle advances by a precision screw as the thimble rotates.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Read the sleeve scale and thimble scale; add them using the instrument’s scale convention.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the ratchet/friction device for consistent measuring force.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zero at the closed position and use a setting standard for larger ranges.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Keep measuring faces clean and avoid heating the tool with prolonged hand contact.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6812280" y="2103120"/>
            <a:ext cx="2103120" cy="2560320"/>
          </a:xfrm>
          <a:prstGeom prst="arc">
            <a:avLst/>
          </a:prstGeom>
          <a:noFill/>
          <a:ln w="13970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2880360"/>
            <a:ext cx="1371600" cy="59436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64040" y="2743200"/>
            <a:ext cx="457200" cy="868680"/>
          </a:xfrm>
          <a:prstGeom prst="round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84632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Measure outside diameter or thickness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82512"/>
            <a:ext cx="1069848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67584"/>
                </a:solidFill>
                <a:latin typeface="Aptos"/>
              </a:rPr>
              <a:t>Interview tip: Know the range and least count stamped on the specific micrometer.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7. Inside Micrometer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Internal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Measures internal diameters or distances between internal surfaces.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Types include rod/tubular and two-point or three-point designs.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the correct extension rods and setting method for the range.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Align the instrument with the bore axis; avoid tilt and excessive force.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Take readings at more than one depth and direction when checking bore geometry.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Set or verify against a ring gauge or other suitable standard when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78040" y="2834640"/>
            <a:ext cx="3200400" cy="36576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2423160"/>
            <a:ext cx="914400" cy="365760"/>
          </a:xfrm>
          <a:prstGeom prst="round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84048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Measure internal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8. Depth Gauge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Depth of holes, slots and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Base sits on a clean reference surface while the blade or rod enters the feature.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Depth micrometers provide fine adjustment; calipers may use an integral depth rod.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Ensure the base bridges the feature correctly and does not rock.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Remove burrs and chips from both the reference surface and measured feature.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zero on a suitable flat reference surface before use.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Do not confuse depth from the top face with depth from another datum.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92240" y="3291840"/>
            <a:ext cx="4480560" cy="0"/>
          </a:xfrm>
          <a:prstGeom prst="line">
            <a:avLst/>
          </a:prstGeom>
          <a:ln w="635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2940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3056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3173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290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3407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3524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3640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37575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3874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3991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4108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4224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4341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4458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44575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4692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4808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04925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5042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5159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5276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40880" y="3017520"/>
            <a:ext cx="2560320" cy="22860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321040" y="3154680"/>
            <a:ext cx="0" cy="960120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12280" y="448056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Base rests on reference surface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9. Height Gauge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Height measurement and marking-out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Usually used on a surface plate with a scriber or measuring probe.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Measures heights from a datum and can mark lines at specified heights.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Digital, dial and vernier versions are available.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Clean the surface plate and gauge base; move the instrument without lifting it unintentionally.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a suitable probe and keep the column aligned.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Accuracy depends on setup, reference flatness, cleanliness and operator technique.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492240" y="3291840"/>
            <a:ext cx="4480560" cy="0"/>
          </a:xfrm>
          <a:prstGeom prst="line">
            <a:avLst/>
          </a:prstGeom>
          <a:ln w="635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2940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3056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3173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3290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43407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3524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3640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37575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3874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3991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4108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4224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4341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24458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44575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4692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848088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0049256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50424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51592" y="3182112"/>
            <a:ext cx="0" cy="109728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652760" y="3063240"/>
            <a:ext cx="0" cy="22860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949440" y="3017520"/>
            <a:ext cx="2377440" cy="256032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178040" y="3154680"/>
            <a:ext cx="0" cy="100584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78040" y="4160520"/>
            <a:ext cx="731520" cy="0"/>
          </a:xfrm>
          <a:prstGeom prst="line">
            <a:avLst/>
          </a:prstGeom>
          <a:ln w="38100">
            <a:solidFill>
              <a:srgbClr val="276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12280" y="457200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Height measurement from datum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10. Dial Indicator / Dial Test Indicator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Comparative measurement and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Shows small movement of a contact point using a dial or electronic display.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Applications: shaft runout, flatness comparison, alignment, parallelism and setup checks.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Mount rigidly on a suitable stand; avoid loose magnetic bases or flexible fixtures.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Preload the contact within the specified range and align the probe appropriately.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Zero against a reference, then compare changes rather than treating every reading as an absolute dimension.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Do not exceed travel limits or force the plunger sideways.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0" y="2194560"/>
            <a:ext cx="1508760" cy="1508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069579" y="2290572"/>
            <a:ext cx="0" cy="9144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353044" y="2378776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560554" y="2619756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36507" y="2948940"/>
            <a:ext cx="91441" cy="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60554" y="3232404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53044" y="3439914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69579" y="3515868"/>
            <a:ext cx="0" cy="9144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740396" y="3439914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99416" y="3232404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11211" y="2948940"/>
            <a:ext cx="91441" cy="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99416" y="2619756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740396" y="2378776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069579" y="2606040"/>
            <a:ext cx="342901" cy="342900"/>
          </a:xfrm>
          <a:prstGeom prst="line">
            <a:avLst/>
          </a:prstGeom>
          <a:ln w="25400">
            <a:solidFill>
              <a:srgbClr val="BE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18120" y="3703320"/>
            <a:ext cx="50292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606040"/>
            <a:ext cx="20116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Dial 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30352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Check zero and movement before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11. Bore Gauge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Internal diameter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Common dial bore gauges compare a bore with a known setting dimension.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Set the gauge using a ring gauge or a micrometer setting arrangement.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Rock gently through the bore to find the reversal point, following the gauge design.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Take readings at several depths and orientations to assess taper and out-of-roundness.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Clean anvils/contact points and verify the setting before measurement.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Confirm whether the instrument displays deviation from nominal or a direct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0" y="2194560"/>
            <a:ext cx="1508760" cy="1508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069579" y="2290572"/>
            <a:ext cx="0" cy="9144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353044" y="2378776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560554" y="2619756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36507" y="2948940"/>
            <a:ext cx="91441" cy="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60554" y="3232404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53044" y="3439914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69579" y="3515868"/>
            <a:ext cx="0" cy="9144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740396" y="3439914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99416" y="3232404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11211" y="2948940"/>
            <a:ext cx="91441" cy="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99416" y="2619756"/>
            <a:ext cx="79189" cy="45720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740396" y="2378776"/>
            <a:ext cx="45719" cy="79189"/>
          </a:xfrm>
          <a:prstGeom prst="line">
            <a:avLst/>
          </a:prstGeom>
          <a:ln w="12700">
            <a:solidFill>
              <a:srgbClr val="16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069579" y="2606040"/>
            <a:ext cx="342901" cy="342900"/>
          </a:xfrm>
          <a:prstGeom prst="line">
            <a:avLst/>
          </a:prstGeom>
          <a:ln w="25400">
            <a:solidFill>
              <a:srgbClr val="BE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18120" y="3703320"/>
            <a:ext cx="50292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074152" y="4754880"/>
            <a:ext cx="0" cy="411480"/>
          </a:xfrm>
          <a:prstGeom prst="line">
            <a:avLst/>
          </a:prstGeom>
          <a:ln w="381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915400" y="2606040"/>
            <a:ext cx="20116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Bore measurement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30352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Check zero and movement before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12. Feeler Gauge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Checking small clearances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Consists of thin leaves with known thicknesses.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Used for spark-plug gaps, valve clearances, machine gaps and fit-up checks where specified.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Select the leaf or combination that fits with the specified light drag.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Keep leaves clean and flat; do not force them into a gap.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Read the marked thickness and use combinations only as permitted by the procedure.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the specified temperature and setup conditions for critical clearances.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Thin thickness leaves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13. Thread Pitch Gauge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Identify thread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Leaves have profiles matched to standard thread pitches.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Select the leaf that seats correctly across several thread crests without visible gaps.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Metric pitch is measured as distance between adjacent thread crests in millimetres.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Pitch gauge helps identify pitch; it does not fully verify thread diameter or tolerance class.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thread plug/ring gauges or specified measuring methods for acceptance inspection.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Confirm thread standard and form before selecting a gauge.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Thread pitch leaves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14. Radius Gauge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Concave and convex radii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Contains leaves with known radius profiles.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concave or convex leaf according to the part surface.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Hold against a clean profile and inspect for gaps under suitable lighting.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Useful for quick checks of fillets and rounded edges.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Not a substitute for a calibrated profile projector or CMM when tighter verification is required.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Choose the radius range and units appropriate to the drawing.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2788920"/>
            <a:ext cx="438912" cy="100584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788920"/>
            <a:ext cx="438912" cy="100584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200400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62B49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9768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Concave / convex radius leaves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15. Slip Gauges / Gauge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Precision length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Precision blocks provide known lengths for setting and calibration tasks.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Blocks can be wrung together using clean, controlled technique where permitted.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Used to set micrometers, height gauges, comparators and sine-bar setups.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Protect blocks from corrosion, scratches and temperature changes.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Handle with clean hands or suitable gloves as required by the quality system.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Return blocks to their case after use and follow calibration/traceability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3017520"/>
            <a:ext cx="621792" cy="45720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944368"/>
            <a:ext cx="621792" cy="45720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3017520"/>
            <a:ext cx="621792" cy="45720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2944368"/>
            <a:ext cx="621792" cy="45720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3017520"/>
            <a:ext cx="621792" cy="45720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93192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Precision length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16. Surface Plate &amp; Straight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Reference surfaces for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Surface plate provides a stable reference plane for layout and measurement.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Straight edge checks straightness or surface variation by an appropriate method.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Keep surfaces free of burrs, chips, dust and oil films that could affect readings.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Do not use a surface plate as a workbench or hammering surface.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calibration status and support conditions.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Granite and cast-iron plates have different handling and maintenance considerations.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3383280"/>
            <a:ext cx="3657600" cy="41148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2971800"/>
            <a:ext cx="3017520" cy="411480"/>
          </a:xfrm>
          <a:prstGeom prst="rect">
            <a:avLst/>
          </a:prstGeom>
          <a:solidFill>
            <a:srgbClr val="DCEBF6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Stable datum for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17. Sine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Precision angle setting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Uses known roller-centre distance and slip-gauge height to establish an angle.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Relation: sin θ = height difference / roller centre distance.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Example: for 100 mm centre distance and 25 mm height, θ = sin⁻¹(0.25) ≈ 14.48°.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a stable surface plate and appropriate gauge blocks.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Small height errors can cause angle error, especially at larger angles.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Confirm sine-bar length and the intended reference geometry.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3200400"/>
            <a:ext cx="3840480" cy="274320"/>
          </a:xfrm>
          <a:prstGeom prst="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04888" y="2880360"/>
            <a:ext cx="512064" cy="512064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48088" y="2880360"/>
            <a:ext cx="512064" cy="512064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Angle set-up with slip gauges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18. Surface Roughness Tester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Surface texture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Measures or compares surface texture parameters such as Ra when configured for them.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Stylus instruments trace a surface over a specified evaluation length.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Set cutoff, filter, measurement direction and parameter according to the drawing/standard.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Measure perpendicular to the dominant lay where required by the method.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Keep the stylus and workpiece clean; avoid edges and damaged areas unless specified.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Ra alone does not describe every aspect of surface texture.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0" y="2560320"/>
            <a:ext cx="3474720" cy="118872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040880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34072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27264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0456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13648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06840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00032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93224" y="2788920"/>
            <a:ext cx="0" cy="6858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Surface texture comparator / tester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19. Tachometer &amp; Stroboscope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Rotational speed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Tachometer measures rotational speed, often in revolutions per minute (rpm).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Contact tachometers need safe, suitable contact; non-contact models may use reflective tape or optical sensing.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Stroboscope flashes at a controlled frequency to make periodic motion appear stationary.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Keep clear of rotating shafts, belts and chucks; follow machine safety rules.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units and whether the instrument reports rpm, rps or frequency.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Reflections, missed pulses and harmonics can cause incorrect readings.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0" y="2286000"/>
            <a:ext cx="1463040" cy="1463040"/>
          </a:xfrm>
          <a:prstGeom prst="ellipse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74320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768A5"/>
                </a:solidFill>
                <a:latin typeface="Aptos"/>
              </a:rPr>
              <a:t>RPM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788920"/>
            <a:ext cx="1188720" cy="54864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834640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20. Temperature Instruments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Thermometer and infrared pyrometer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Contact thermometers measure temperature through a probe or sensor.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Infrared pyrometers estimate surface temperature from emitted infrared radiation.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Emissivity, distance-to-spot ratio, viewing angle and surface finish affect IR readings.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Shiny metal can give misleading infrared readings if settings and method are unsuitable.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the correct range and calibration status.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Do not touch hot parts without an approved safe method and PPE.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78040" y="2468880"/>
            <a:ext cx="50292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42632" y="2880360"/>
            <a:ext cx="164592" cy="1143000"/>
          </a:xfrm>
          <a:prstGeom prst="roundRect">
            <a:avLst/>
          </a:prstGeom>
          <a:solidFill>
            <a:srgbClr val="BE4B4B"/>
          </a:solidFill>
          <a:ln w="1524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3794760"/>
            <a:ext cx="777240" cy="594360"/>
          </a:xfrm>
          <a:prstGeom prst="roundRect">
            <a:avLst/>
          </a:prstGeom>
          <a:solidFill>
            <a:srgbClr val="BE4B4B"/>
          </a:solidFill>
          <a:ln w="1524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017520"/>
            <a:ext cx="21031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62B49"/>
                </a:solidFill>
                <a:latin typeface="Aptos"/>
              </a:rPr>
              <a:t>Temperature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21. Pressure Gauge &amp; Flow 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Pressure and fluid-flow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Pressure gauge indicates pressure relative to its reference, often gauge pressure.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range, units, connection, pulsation and calibration status.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Flow meters measure volume or mass flow using a technology suited to the fluid and process.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Install according to manufacturer requirements, including flow direction and straight-run needs where applicable.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Depressurize safely before removing a gauge or fitting.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Never use a gauge beyond its pressure or temperature rating.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0" y="2286000"/>
            <a:ext cx="1645920" cy="1645920"/>
          </a:xfrm>
          <a:prstGeom prst="ellipse">
            <a:avLst/>
          </a:prstGeom>
          <a:solidFill>
            <a:srgbClr val="FFFFFF"/>
          </a:solidFill>
          <a:ln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7955279" y="2697480"/>
            <a:ext cx="411481" cy="411480"/>
          </a:xfrm>
          <a:prstGeom prst="line">
            <a:avLst/>
          </a:prstGeom>
          <a:ln w="25400">
            <a:solidFill>
              <a:srgbClr val="BE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06840" y="2743200"/>
            <a:ext cx="14630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62B49"/>
                </a:solidFill>
                <a:latin typeface="Aptos"/>
              </a:rPr>
              <a:t>bar / 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22. Torque Wrench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Controlled fastener tightening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Applies a specified tightening torque to threaded fasteners.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Common types include click, beam, dial and electronic torque wrenches.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Select the correct torque and units from approved engineering data.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Apply force at the designated grip and use a smooth, controlled motion.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Do not use a torque wrench as a breaker bar unless designed for that purpose.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After use, store and maintain it as the manufacturer specifies; calibration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6903720" y="2560320"/>
            <a:ext cx="3200400" cy="914400"/>
          </a:xfrm>
          <a:prstGeom prst="line">
            <a:avLst/>
          </a:prstGeom>
          <a:ln w="101600">
            <a:solidFill>
              <a:srgbClr val="91A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29800" y="2331720"/>
            <a:ext cx="548640" cy="457200"/>
          </a:xfrm>
          <a:prstGeom prst="round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411480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Apply specified tightening torque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23. Weighing Scale &amp; Load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Mass, load and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Scales and load cells convert force or mass-related loading into a readable value.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capacity, resolution, zero and calibration status.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Place the load centrally and avoid shock loading or side loading.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Mass is expressed in kilograms; force is expressed in newtons.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approved lifting equipment and never stand beneath suspended loads.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Record units and any tare or zeroing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286000"/>
            <a:ext cx="2926080" cy="15544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2560320"/>
            <a:ext cx="20116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8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615184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358E67"/>
                </a:solidFill>
                <a:latin typeface="Aptos"/>
              </a:rPr>
              <a:t>12.50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24. Calibration, Zero Error &amp;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How to protect measurement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Calibration compares an instrument with standards and documents its relationship to reference values.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Zero error is a non-zero indication when the instrument should indicate zero under the defined condition.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Clean the part and instrument; control burrs, temperature and measuring force.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Avoid parallax, tilted contact, poor alignment and reading the wrong scale.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Use instruments within range and check calibration status before critical inspection.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Do not adjust or repair a controlled instrument unless authorized.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25. Instrument Selection by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Common inspection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Outside diameter: micrometer for precision; caliper for general range and convenience.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Internal bore: bore gauge or inside micrometer, set with a suitable standard.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Depth: depth micrometer, depth gauge or caliper depth rod as tolerance permits.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Runout/alignment: dial indicator with a rigid, suitable fixture.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Thread pitch: pitch gauge for identification; thread gauges for conformity.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Surface roughness: specified roughness tester or comparator method.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26. Interview Questions —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Practise clear, short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is the difference between accuracy and precision?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is least count? Is it the same as accuracy?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How do you read a vernier caliper?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are the parts of an outside micrometer?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Why must zero error be checked?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When would you use a dial indicator instead of a caliper?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is calibration and why is traceability important?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27. Interview Questions — Practical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Explain the safe, systematic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micrometer does not return to zero. What do you do?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Two instruments give different readings. How do you investigate?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 bore is within diameter limits at one end but not the other. What could this indicate?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How would you check shaft runout?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can cause an incorrect infrared temperature reading on shiny metal?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An instrument is overdue for calibration. Can you use it for product acceptance?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How do you record and handle a nonconforming measurement?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28. Formula &amp; Reading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Remember the measurement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Vernier reading = main-scale reading + (coinciding division × least count).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Traditional vernier least count = one main-scale division − one vernier-scale division.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Micrometer reading = sleeve/barrel reading + thimble reading, following that scale design.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Sine bar: sin θ = height difference / roller-centre distance.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Dimensional error = measured value − reference value (sign convention must be stated).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Always check instrument-specific instructions; scale layouts and resolutions differ.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29.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Try before checking the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Which instrument is commonly used for precise outside diameter measurement?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does a dial indicator typically measure?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Which instrument identifies thread pitch?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is the relation used by a sine bar?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Why can an infrared thermometer misread shiny metal?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What must be done before using an instrument for critical acceptance?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30. Quiz Answer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Review the reasoning, not just the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Outside micrometer, when its range and accuracy suit the part.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Small displacement or change relative to a reference.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Thread pitch gauge; it does not by itself certify the full thread.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sin θ = height difference / roller-centre distance.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Emissivity and reflected radiation can affect the infrared reading.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Check cleanliness, range, zero/condition and calibration status per procedure.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62B49"/>
                </a:solidFill>
                <a:latin typeface="Aptos"/>
              </a:rPr>
              <a:t>31. Final Checklist for the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67584"/>
                </a:solidFill>
                <a:latin typeface="Aptos"/>
              </a:rPr>
              <a:t>Show practical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33271"/>
            <a:ext cx="1097280" cy="45720"/>
          </a:xfrm>
          <a:prstGeom prst="rect">
            <a:avLst/>
          </a:prstGeom>
          <a:solidFill>
            <a:srgbClr val="EB9137"/>
          </a:solidFill>
          <a:ln w="1524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67584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98348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Identify the instrument and explain what feature it measures.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Name the key parts and describe the working principle.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Explain least count or resolution and show how to read it.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State common errors and how to avoid them.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Give one realistic workshop or inspection example.</a:t>
            </a:r>
          </a:p>
          <a:p>
            <a:pPr>
              <a:spcAft>
                <a:spcPts val="900"/>
              </a:spcAft>
              <a:defRPr sz="1300">
                <a:solidFill>
                  <a:srgbClr val="2A3541"/>
                </a:solidFill>
                <a:latin typeface="Aptos"/>
              </a:defRPr>
            </a:pPr>
            <a:r>
              <a:t>Always mention calibration, cleanliness, safe handling and recording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371600"/>
            <a:ext cx="5715000" cy="4937760"/>
          </a:xfrm>
          <a:prstGeom prst="roundRect">
            <a:avLst/>
          </a:prstGeom>
          <a:solidFill>
            <a:srgbClr val="F0F5F9"/>
          </a:solidFill>
          <a:ln w="1524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95160" y="2560320"/>
            <a:ext cx="3200400" cy="1097280"/>
          </a:xfrm>
          <a:prstGeom prst="roundRect">
            <a:avLst/>
          </a:prstGeom>
          <a:solidFill>
            <a:srgbClr val="91A3B3"/>
          </a:solidFill>
          <a:ln w="15240">
            <a:solidFill>
              <a:srgbClr val="276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88036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MEASURING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62B49"/>
                </a:solidFill>
                <a:latin typeface="Aptos"/>
              </a:rPr>
              <a:t>Use correct range and calibrated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48920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667584"/>
                </a:solidFill>
                <a:latin typeface="Aptos"/>
              </a:rPr>
              <a:t>INSTRUMENT SCHEMATIC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EB9137"/>
                </a:solidFill>
                <a:latin typeface="Aptos"/>
              </a:rPr>
              <a:t>MEASUREMENT SKILLS BUILD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987552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Choose the right instrument. Use it correctly. Verify the result. Record it clearly.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241280" cy="1234440"/>
          </a:xfrm>
          <a:prstGeom prst="roundRect">
            <a:avLst/>
          </a:prstGeom>
          <a:solidFill>
            <a:srgbClr val="23557D"/>
          </a:solidFill>
          <a:ln w="15240">
            <a:solidFill>
              <a:srgbClr val="23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978408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CLEAN • ZERO CHECK • MEASURE • VERIFY •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98755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CDDAE5"/>
                </a:solidFill>
                <a:latin typeface="Aptos"/>
              </a:rPr>
              <a:t>This PPT uses editable schematic illustrations for learning. They are not manufacturer-specific product images or calibration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9672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ECDDA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Mechanical Engineering Measuring Instruments - Complete Illustrated Guide</dc:title>
  <dc:subject>Measuring instruments, working principles, least count, calibration and interview questions</dc:subject>
  <dc:creator>OpenAI</dc:creator>
  <cp:keywords>mechanical engineering, metrology, measuring instruments, vernier caliper, micrometer, dial indicator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