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228600" cy="685800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81160" y="914400"/>
            <a:ext cx="2011680" cy="73152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160" y="1234440"/>
            <a:ext cx="2011680" cy="73152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81160" y="1554480"/>
            <a:ext cx="2011680" cy="73152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67665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6AEB8"/>
                </a:solidFill>
                <a:latin typeface="Aptos"/>
              </a:defRPr>
            </a:pPr>
            <a:r>
              <a:t>PRACTICAL INJECTION MOULDING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6858000" cy="1554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MOULDING DEFECTS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&amp; TROUBLESHOOTING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658368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DEE7F1"/>
                </a:solidFill>
                <a:latin typeface="Aptos"/>
              </a:defRPr>
            </a:pPr>
            <a:r>
              <a:t>Causes • Prevention • Corrective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630936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DEE7F1"/>
                </a:solidFill>
                <a:latin typeface="Aptos"/>
              </a:defRPr>
            </a:pPr>
            <a:r>
              <a:t>A practical reference for students, operators and junior engineers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89320"/>
            <a:ext cx="6400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AEB8"/>
                </a:solidFill>
                <a:latin typeface="Aptos"/>
              </a:defRPr>
            </a:pPr>
            <a:r>
              <a:t>CAD &amp; MANUFACTURING  |  EDUCATIONAL EDITION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011680"/>
            <a:ext cx="1828800" cy="960120"/>
          </a:xfrm>
          <a:prstGeom prst="rect">
            <a:avLst/>
          </a:prstGeom>
          <a:solidFill>
            <a:srgbClr val="EBF2F8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3200400"/>
            <a:ext cx="1828800" cy="960120"/>
          </a:xfrm>
          <a:prstGeom prst="rect">
            <a:avLst/>
          </a:prstGeom>
          <a:solidFill>
            <a:srgbClr val="BAD3E7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2331720"/>
            <a:ext cx="731520" cy="1508760"/>
          </a:xfrm>
          <a:prstGeom prst="rect">
            <a:avLst/>
          </a:prstGeom>
          <a:solidFill>
            <a:srgbClr val="26AEB8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572000"/>
            <a:ext cx="30175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IDENTIFY → CHECK → CORRECT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How to troubleshoot a moulding defect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61872"/>
            <a:ext cx="3200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1. 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09928"/>
            <a:ext cx="3200400" cy="11704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Record defect location, frequency, machine settings and material lot.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182880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61872"/>
            <a:ext cx="3200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2. Check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09928"/>
            <a:ext cx="3200400" cy="11704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Change one factor at a time. Check material, tool, machine and process.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73152" cy="182880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261872"/>
            <a:ext cx="3200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3.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09928"/>
            <a:ext cx="3200400" cy="11704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Run a controlled trial and confirm part dimensions, appearance and repeatability.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060704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11F36"/>
                </a:solidFill>
                <a:latin typeface="Aptos"/>
              </a:defRPr>
            </a:pPr>
            <a:r>
              <a:t>Troubleshooting rule: do not randomly increase temperature, pressure or speed. First confirm the defect, establish a stable baseline, and change one parameter at a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03A2E"/>
                </a:solidFill>
                <a:latin typeface="Aptos"/>
              </a:defRPr>
            </a:pPr>
            <a:r>
              <a:t>Safety: follow machine lockout and guarding procedures. Never reach into a running machine or hot mould.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Common injection moulding defects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73152" cy="1024128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70431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Short 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18488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Part is incompletely filled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051560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051560"/>
            <a:ext cx="73152" cy="1024128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170431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618488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Thin excess plastic at the parting 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051560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051560"/>
            <a:ext cx="73152" cy="1024128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170431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Sink marks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618488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Local depressions on the surface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04288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304288"/>
            <a:ext cx="73152" cy="1024128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423160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Voids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871216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Internal cavities inside thick areas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304288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2304288"/>
            <a:ext cx="73152" cy="1024128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423160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Warping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871216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Part bends or twists after moulding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304288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2304288"/>
            <a:ext cx="73152" cy="1024128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423160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Burn 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871216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Brown/black marks from trapped gas or overheating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557016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3557016"/>
            <a:ext cx="73152" cy="1024128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675888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Weld 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123944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Visible line where flow fronts meet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3557016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3557016"/>
            <a:ext cx="73152" cy="1024128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3675888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Splay / silver streaks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123944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Streaks from moisture, gas or degradation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3557016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20" y="3557016"/>
            <a:ext cx="73152" cy="1024128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3675888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Jetting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123944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Snake-like flow marks near the gate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4809744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" y="4809744"/>
            <a:ext cx="73152" cy="1024128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928616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Ejector marks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76672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White spots or impressions from ejection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4809744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34840" y="4809744"/>
            <a:ext cx="73152" cy="1024128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928616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Bubbles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5376672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Gas pockets or surface blisters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5320" y="4809744"/>
            <a:ext cx="3566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5320" y="4809744"/>
            <a:ext cx="73152" cy="1024128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4928616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Dimensional variation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5376672"/>
            <a:ext cx="3246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2F3A"/>
                </a:solidFill>
                <a:latin typeface="Aptos"/>
              </a:defRPr>
            </a:pPr>
            <a:r>
              <a:t>Part size changes from shot to 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1. Short 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The cavity is not completely filled; the part may have missing edges, ribs or thin sections.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Insufficient shot size or fill time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Low melt / mould temperature or excessive viscosity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Restricted gate/runner, poor venting or excessive flow length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Injection pressure or speed limit reached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Confirm material is dried as specified and shot size is correct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gate/runner restrictions and vents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Review fill speed, melt temperature and mould temperature within supplier limits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machine pressure limits and transfer position; use a short-shot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Do not raise pressure blindly—check tool restrictions and machine limits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2. Flash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Thin excess plastic escapes at the parting line, inserts or slides.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Insufficient clamp force or uneven clamping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Damaged, dirty or worn parting surfaces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Excessive cavity pressure, overpacking or low melt viscosity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Mould misalignment or unsupported steel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Inspect and clean the parting line after safe shutdown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mould alignment, support and wear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Review fill/pack profile and transfer point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Verify clamp force against projected area and actual process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Do not simply increase clamp tonnage; excessive clamp force can damage the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3. Sink 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Surface depressions commonly appear over ribs, bosses or thick sections.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Thick-to-thin wall transitions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Insufficient packing pressure/time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Gate freezes before the section is packed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Uneven cooling or excessive local material volume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Improve wall uniformity and core out thick sections where design allows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Optimise packing pressure/time using a gate-seal study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gate size/location and cooling balance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Confirm resin-specific processing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Sink marks are often a design + packing + cooling issue; changing only temperature may not solve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4. Voids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Internal cavities form inside thick sections; some may not be visible externally.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Insufficient packing of the core of thick sections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Premature gate freeze-off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Local shrinkage as material cools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Entrapped gas or material-related issues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Inspect sectioned samples or use suitable inspection methods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Review wall thickness and packing profile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gate seal time and gate design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Confirm material condition and mould temperature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Do not assume every void is a gas bubble; shrinkage voids and gas-related voids need different fixes.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5. Warping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The part bends, twists or changes shape after ejection or conditioning.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Uneven cooling across the part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Non-uniform shrinkage or fibre orientation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Unbalanced packing / gate placement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Ejection while the part is too hot or poorly supported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Balance cooling circuits and verify actual flow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Review gate position, wall thickness and rib layout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Optimise packing and cooling time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Improve ejection support; measure after a defined conditioning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Check dimensions after consistent conditioning; hot parts may distort after ejection.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6. Burn 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Brown or black discoloration, often at end-of-fill areas or trapped-air locations.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Trapped air compressed rapidly (diesel effect)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Poor venting or blocked vents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Excessive fill speed in a trapped-air region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Material degradation from excessive temperature or residence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Clean and inspect vents; add/relocate vents only after tool review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Optimise fill speed near end-of-fill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melt temperature and residence time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Confirm material drying and purge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Burn marks can indicate compressed trapped gas; do not treat them only as a temperature problem.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7. Weld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A line or weak seam forms where two melt fronts meet around a hole or flow split.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Low flow-front temperature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Poor gate location or flow balance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Insufficient venting at the meeting point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Contamination or inadequate packing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Review gate location and flow path with mould-flow analysis if available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Optimise melt/mould temperature within grade limits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Improve venting and flow-front meeting conditions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Assess strength and cosmetic requirements at the weld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Do not promise that all weld lines can be eliminated; placement and strength may be the design goal.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8. Splay / silver streaks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Silvery lines or streaks follow the flow direction on the part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Moisture in hygroscopic resin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Air entrainment or decompression issues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Thermal/shear degradation or contamination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Incorrect drying, storage or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Verify dryer temperature, time and dew point against resin supplier guidance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material storage and sealed transfer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Review screw recovery, back pressure and decompression settings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Purge and inspect for contamination or degradation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Drying conditions vary by resin grade; do not apply one temperature/time to all polymers.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9. Jetting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A snake-like or worm-like surface mark appears near the gate.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Melt jet travels freely into a larger cavity before attaching to the wall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Gate directs flow too quickly into open space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High initial injection speed or unsuitable gate geometry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Review gate type, position and direction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Use a controlled slower initial fill stage if suitable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Encourage flow to attach to the cavity wall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Confirm changes do not create short shots or weld-line problems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Gate changes require toolmaker review and a controlled process trial.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10. Ejector marks / whitening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White spots, stress marks or pin impressions appear after ejection.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High ejection force or insufficient draft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Part too hot or stuck on the core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Ejector pins too small or poorly positioned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Surface texture, undercuts or uneven shrinkage increase drag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Confirm adequate draft and smooth release surfaces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Balance ejector layout and contact area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Optimise cooling before ejection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Inspect for undercuts, damage and core surface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Check pin layout and tool condition before changing ejection pressure.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11. Bubbles / blisters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Gas pockets, bubbles or raised blisters appear inside or on the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Moisture or volatile release from resin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Trapped air or poor venting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Excessive melt temperature or residence time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Local overheating or contamination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resin drying and storage requirements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Inspect vents and material cleanliness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Review melt temperature and residence time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Compare defect location with flow path and thick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Use cross-section inspection when needed to distinguish internal voids from surface blisters.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12. Dimensional variation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Critical dimensions vary between shots or drift over a production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Unstable melt / mould temperatures or cooling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Inconsistent packing, cushion or transfer point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Material lot, moisture or regrind variation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Measurement method or conditioning differences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Stabilise the process and monitor temperatures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cushion, transfer and packing repeatability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Control material lot, drying and regrind ratio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Use a consistent measurement method and sampling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Separate process variation from tool dimensions before cutting or modifying steel.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13. Flow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Flow-like bands or colour/texture differences appear on the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Uneven flow speed or temperature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Wall thickness changes or flow obstruction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Gate location and surface finish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Pigment or material mixing variation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Review fill profile and melt/mould temperature within limits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Improve flow path and wall transitions where feasible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gate position and material mixing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Compare defect location across cavities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5F6C7A"/>
                </a:solidFill>
                <a:latin typeface="Aptos"/>
              </a:defRPr>
            </a:pPr>
            <a:r>
              <a:t>Validate each change with a controlled trial and record the result.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14. Gate blush / halo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A cloudy ring or blush appears around the gate area.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High shear or excessive speed at gate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Gate geometry too small or sharp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Melt / mould temperature mismatch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Material degradation or stress concentration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Review initial injection speed and gate design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gate dimensions and edge condition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Confirm material processing window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Validate appearance after controlled trials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5F6C7A"/>
                </a:solidFill>
                <a:latin typeface="Aptos"/>
              </a:defRPr>
            </a:pPr>
            <a:r>
              <a:t>Validate each change with a controlled trial and record the result.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15. Delamination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DEFECT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What 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A"/>
                </a:solidFill>
                <a:latin typeface="Aptos"/>
              </a:defRPr>
            </a:pPr>
            <a:r>
              <a:t>Thin layers peel or separate from the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146304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16152"/>
            <a:ext cx="4983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Likely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7"/>
            <a:ext cx="4983480" cy="8046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Material incompatibility or contamination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Moisture or volatile contamination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Excessive shear or degraded material</a:t>
            </a:r>
          </a:p>
          <a:p>
            <a:pPr>
              <a:spcAft>
                <a:spcPts val="500"/>
              </a:spcAft>
              <a:defRPr sz="1300" b="0">
                <a:solidFill>
                  <a:srgbClr val="252F3A"/>
                </a:solidFill>
                <a:latin typeface="Aptos"/>
              </a:defRPr>
            </a:pPr>
            <a:r>
              <a:t>• Poor mixing or unsuitable regrind combination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10881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192024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10561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10561320" cy="12618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Check resin identity, colourant and regrind compatibility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Verify drying and material handling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Purge and inspect screw/nozzle for contamination</a:t>
            </a:r>
          </a:p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Consult the resin supplier before changing process settings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Delamination may indicate material incompatibility; process changes alone may not correct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A practical troubleshooting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SHOP-FLOOR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051560"/>
            <a:ext cx="438912" cy="438912"/>
          </a:xfrm>
          <a:prstGeom prst="ellipse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88136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042415"/>
            <a:ext cx="969264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Identify defect + location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" y="1499616"/>
            <a:ext cx="32004" cy="274320"/>
          </a:xfrm>
          <a:prstGeom prst="rect">
            <a:avLst/>
          </a:prstGeom>
          <a:solidFill>
            <a:srgbClr val="B7C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810512"/>
            <a:ext cx="438912" cy="438912"/>
          </a:xfrm>
          <a:prstGeom prst="ellipse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47088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801368"/>
            <a:ext cx="969264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Check material, drying and 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" y="2258568"/>
            <a:ext cx="32004" cy="274320"/>
          </a:xfrm>
          <a:prstGeom prst="rect">
            <a:avLst/>
          </a:prstGeom>
          <a:solidFill>
            <a:srgbClr val="B7C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2569463"/>
            <a:ext cx="438912" cy="438912"/>
          </a:xfrm>
          <a:prstGeom prst="ellipse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06039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60320"/>
            <a:ext cx="969264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Check tool: gate, vents, parting line, cooling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" y="3017520"/>
            <a:ext cx="32004" cy="274320"/>
          </a:xfrm>
          <a:prstGeom prst="rect">
            <a:avLst/>
          </a:prstGeom>
          <a:solidFill>
            <a:srgbClr val="B7C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328415"/>
            <a:ext cx="438912" cy="438912"/>
          </a:xfrm>
          <a:prstGeom prst="ellipse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64991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319272"/>
            <a:ext cx="969264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Check machine: shot, pressure, clamp, repeatability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" y="3776472"/>
            <a:ext cx="32004" cy="274320"/>
          </a:xfrm>
          <a:prstGeom prst="rect">
            <a:avLst/>
          </a:prstGeom>
          <a:solidFill>
            <a:srgbClr val="B7C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087368"/>
            <a:ext cx="438912" cy="438912"/>
          </a:xfrm>
          <a:prstGeom prst="ellipse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23944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078224"/>
            <a:ext cx="969264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Change one setting within approved limits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" y="4535424"/>
            <a:ext cx="32004" cy="274320"/>
          </a:xfrm>
          <a:prstGeom prst="rect">
            <a:avLst/>
          </a:prstGeom>
          <a:solidFill>
            <a:srgbClr val="B7C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846319"/>
            <a:ext cx="438912" cy="438912"/>
          </a:xfrm>
          <a:prstGeom prst="ellipse">
            <a:avLst/>
          </a:prstGeom>
          <a:solidFill>
            <a:srgbClr val="2B8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82895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837175"/>
            <a:ext cx="969264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Run trial, measure, document and standardise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Process parameters: what each one influences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PROCESS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43000"/>
          <a:ext cx="107899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46720"/>
              </a:tblGrid>
              <a:tr h="543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Potential influence (not a one-to-one fix)</a:t>
                      </a:r>
                    </a:p>
                  </a:txBody>
                  <a:tcPr>
                    <a:solidFill>
                      <a:srgbClr val="111F36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Melt 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Viscosity, flow, degradation, surface appearance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Mould temperature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Surface finish, weld lines, shrinkage, cycle time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Injection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Flow-front behaviour, shear, jetting, trapped-air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Injection pressure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Ability to fill; must remain within machine/material limits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Packing pressure/time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Sink, voids, weight and dimensions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Cooling time / flow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Ejection stability, warpage, cycle time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Back pressure / screw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Mixing, melt quality, shear and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Decompression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52F3A"/>
                          </a:solidFill>
                        </a:defRPr>
                      </a:pPr>
                      <a:r>
                        <a:t>Can affect drooling, air ingestion and splay</a:t>
                      </a:r>
                    </a:p>
                  </a:txBody>
                  <a:tcPr>
                    <a:solidFill>
                      <a:srgbClr val="E5E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Worked troubleshooting example: sink 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24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61872"/>
            <a:ext cx="3200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709928"/>
            <a:ext cx="3200400" cy="11704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Sink marks appear above thick ribs on a cosmetic part.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1828800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61872"/>
            <a:ext cx="3200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09928"/>
            <a:ext cx="3200400" cy="11704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Compare wall thickness, gate seal time, packing profile and cooling balance.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73152" cy="1828800"/>
          </a:xfrm>
          <a:prstGeom prst="rect">
            <a:avLst/>
          </a:prstGeom>
          <a:solidFill>
            <a:srgbClr val="EB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261872"/>
            <a:ext cx="32004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Trial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09928"/>
            <a:ext cx="3200400" cy="11704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Change one factor at a time; weigh parts and inspect the same locations.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10515600" cy="11887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Possible sequence: confirm the gate has not frozen too early → test packing time in small increments → verify weight stabilises → inspect sink depth → confirm dimensions and ejection stability.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03A2E"/>
                </a:solidFill>
                <a:latin typeface="Aptos"/>
              </a:defRPr>
            </a:pPr>
            <a:r>
              <a:t>If packing changes do not help, review rib thickness, gate location and cooling—not just machine settings.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Defect-prevention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QUALITY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303520" cy="480060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Use the correct resin grade and colourant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Dry and store material to supplier requirements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Keep vents, gates and parting surfaces clean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Verify cooling flow and mould temperature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Use a documented start-up and stabilisation procedure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Track cavity-wise defects and part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43000"/>
            <a:ext cx="5212080" cy="480060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Change only one process variable per trial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Record settings, lot number, time and defect rate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Use agreed inspection methods and conditioning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Maintain machine and mould on a planned schedule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Escalate recurring defects to process/tooling engineers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Revalidate after material, tool or process changes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6AEB8"/>
                </a:solidFill>
                <a:latin typeface="Aptos"/>
              </a:defRPr>
            </a:pPr>
            <a:r>
              <a:t>CAD &amp; MANUFACTURING • ENGINEERING LEARNING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FIND THE DEFECT.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FIX THE ROOT CAUSE.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7955279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DEE7F1"/>
                </a:solidFill>
                <a:latin typeface="Aptos"/>
              </a:defRPr>
            </a:pPr>
            <a:r>
              <a:t>Injection Moulding Defects &amp;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040880" cy="155448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15+ common defects explained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Causes, prevention and corrective actions</a:t>
            </a:r>
          </a:p>
          <a:p>
            <a:pPr>
              <a:spcAft>
                <a:spcPts val="800"/>
              </a:spcAft>
              <a:defRPr sz="1500">
                <a:solidFill>
                  <a:srgbClr val="252F3A"/>
                </a:solidFill>
                <a:latin typeface="Aptos"/>
              </a:defRPr>
            </a:pPr>
            <a:r>
              <a:t>•  Practical shop-floor troubleshooting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80760"/>
            <a:ext cx="7772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6AEB8"/>
                </a:solidFill>
                <a:latin typeface="Aptos"/>
              </a:defRPr>
            </a:pPr>
            <a:r>
              <a:t>ADD YOUR LOGO • BRAND NAME • CONTACT 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828800"/>
            <a:ext cx="1143000" cy="2468880"/>
          </a:xfrm>
          <a:prstGeom prst="rect">
            <a:avLst/>
          </a:prstGeom>
          <a:solidFill>
            <a:srgbClr val="245E9B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54896" y="2176272"/>
            <a:ext cx="1143000" cy="2286000"/>
          </a:xfrm>
          <a:prstGeom prst="rect">
            <a:avLst/>
          </a:prstGeom>
          <a:solidFill>
            <a:srgbClr val="26AEB8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5792" y="2523744"/>
            <a:ext cx="1143000" cy="2103120"/>
          </a:xfrm>
          <a:prstGeom prst="rect">
            <a:avLst/>
          </a:prstGeom>
          <a:solidFill>
            <a:srgbClr val="EBA6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76688" y="2871216"/>
            <a:ext cx="1143000" cy="1920240"/>
          </a:xfrm>
          <a:prstGeom prst="rect">
            <a:avLst/>
          </a:prstGeom>
          <a:solidFill>
            <a:srgbClr val="6E91B4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87584" y="3218688"/>
            <a:ext cx="1143000" cy="1737360"/>
          </a:xfrm>
          <a:prstGeom prst="rect">
            <a:avLst/>
          </a:prstGeom>
          <a:solidFill>
            <a:srgbClr val="D2E1EE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Important technical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018520" cy="32004"/>
          </a:xfrm>
          <a:prstGeom prst="rect">
            <a:avLst/>
          </a:prstGeom>
          <a:solidFill>
            <a:srgbClr val="26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A"/>
                </a:solidFill>
                <a:latin typeface="Aptos"/>
              </a:defRPr>
            </a:pPr>
            <a:r>
              <a:t>REFERENCE &amp; DISCLAIMER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A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6400800" cy="429768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52F3A"/>
                </a:solidFill>
                <a:latin typeface="Aptos"/>
              </a:defRPr>
            </a:pPr>
            <a:r>
              <a:t>•  Defects can have multiple causes; location and timing are useful clues.</a:t>
            </a:r>
          </a:p>
          <a:p>
            <a:pPr>
              <a:spcAft>
                <a:spcPts val="800"/>
              </a:spcAft>
              <a:defRPr sz="1600">
                <a:solidFill>
                  <a:srgbClr val="252F3A"/>
                </a:solidFill>
                <a:latin typeface="Aptos"/>
              </a:defRPr>
            </a:pPr>
            <a:r>
              <a:t>•  Processing recommendations must follow the exact resin supplier's guidance.</a:t>
            </a:r>
          </a:p>
          <a:p>
            <a:pPr>
              <a:spcAft>
                <a:spcPts val="800"/>
              </a:spcAft>
              <a:defRPr sz="1600">
                <a:solidFill>
                  <a:srgbClr val="252F3A"/>
                </a:solidFill>
                <a:latin typeface="Aptos"/>
              </a:defRPr>
            </a:pPr>
            <a:r>
              <a:t>•  Machine-specific limits, tooling condition and part design must be considered.</a:t>
            </a:r>
          </a:p>
          <a:p>
            <a:pPr>
              <a:spcAft>
                <a:spcPts val="800"/>
              </a:spcAft>
              <a:defRPr sz="1600">
                <a:solidFill>
                  <a:srgbClr val="252F3A"/>
                </a:solidFill>
                <a:latin typeface="Aptos"/>
              </a:defRPr>
            </a:pPr>
            <a:r>
              <a:t>•  Validate corrective actions with controlled trials and documented inspection.</a:t>
            </a:r>
          </a:p>
          <a:p>
            <a:pPr>
              <a:spcAft>
                <a:spcPts val="800"/>
              </a:spcAft>
              <a:defRPr sz="1600">
                <a:solidFill>
                  <a:srgbClr val="252F3A"/>
                </a:solidFill>
                <a:latin typeface="Aptos"/>
              </a:defRPr>
            </a:pPr>
            <a:r>
              <a:t>•  Use qualified engineering review for production-critical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38404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280160"/>
            <a:ext cx="73152" cy="233172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1399031"/>
            <a:ext cx="35204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Educational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847088"/>
            <a:ext cx="3520440" cy="1673351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This deck is a troubleshooting guide, not a universal recipe. Do not apply numerical settings without resin-, machine- and tool-specific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Prepared as an editable teaching / marketing PPT. Add your brand and review technical content before commercial sale.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