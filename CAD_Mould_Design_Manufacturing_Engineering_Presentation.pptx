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31520"/>
            <a:ext cx="118872" cy="411480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64008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CAD WITH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7040880" cy="1508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MOULD DESIGN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+ CALCULATIONS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46120"/>
            <a:ext cx="91440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D2E5F5"/>
                </a:solidFill>
                <a:latin typeface="Aptos"/>
              </a:defRPr>
            </a:pPr>
            <a:r>
              <a:t>CAD &amp; Mechanical Design • Manufacturing Tools • Materials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1508760"/>
            <a:ext cx="2377440" cy="2286000"/>
          </a:xfrm>
          <a:prstGeom prst="rect">
            <a:avLst/>
          </a:prstGeom>
          <a:solidFill>
            <a:srgbClr val="DC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1783080"/>
            <a:ext cx="914400" cy="173736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46920" y="1783080"/>
            <a:ext cx="914400" cy="173736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08592" y="2286000"/>
            <a:ext cx="658368" cy="73152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977639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MOULD SECTION (SCHEMATIC)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Practical engineering deck | Concepts • Formulas • Examples •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272784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Educational use: verify production designs against applicable standards and machine/tooling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What You Will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01  Mould design fundamentals and core mould elements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724912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15184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02  Calculations: shrinkage, projected area, clamping force and shot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557015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47287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03  CAD and mechanical design workflow, drawings, fits and tolerances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389120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79392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04  Manufacturing tools, machining processes and inspection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221224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111496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05  Engineering materials: tool steels, aluminium, plastics and selection factors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Use examples as learning templates—not final production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1. Mould Design: The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A mould is a tool that gives material a required shape through a controlled process.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724912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15184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Injection moulding: molten polymer is injected into a closed mould, cooled, and ejected.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557015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47287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Design targets include part quality, repeatability, cycle time, tool life and maintainability.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389120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79392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Inputs: 3D part model, material grade, annual volume, tolerances, surface finish and machine capability.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221224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111496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Start with part and process requirements before choosing the mould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2. Main Elements of an Injection Mould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155448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65376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Cavity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6771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Forms external part surfaces.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73736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737360"/>
            <a:ext cx="73152" cy="155448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865376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26771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Forms internal surfaces, holes and recesses.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73736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737360"/>
            <a:ext cx="73152" cy="155448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865376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Sprue / Runner /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26771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Carries melt from nozzle to cavity.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73736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737360"/>
            <a:ext cx="73152" cy="155448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865376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Cooling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26771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Remove heat and help control cycle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03320"/>
            <a:ext cx="73152" cy="155448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831335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Ejector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3367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Releases the part after cooling.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70332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0" y="3703320"/>
            <a:ext cx="73152" cy="155448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831335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Guide pillars / bushes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423367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Align the mould halves.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70332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3703320"/>
            <a:ext cx="73152" cy="155448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7688" y="3831335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423367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Allow displaced air and gases to escape.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3703320"/>
            <a:ext cx="2514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3703320"/>
            <a:ext cx="73152" cy="155448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8048" y="3831335"/>
            <a:ext cx="216712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Mould base / 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8" y="4233672"/>
            <a:ext cx="2148840" cy="95097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Support and locate mould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3. Parting Line, Draft and Undercuts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Parting line: interface where mould halves meet; choose it to simplify tooling and manage visible witness marks.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724912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15184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Draft angle: taper that helps the part release; the required amount depends on depth, texture and polymer.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557015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47287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Undercut: geometry blocking straight pull; may require slides, lifters or collapsible cores.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389120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79392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Uniform wall thickness helps reduce sink marks, voids, differential cooling and warpage.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221224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111496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Ribs and bosses must be designed carefully to avoid excessive local thickness.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No single draft angle or wall thickness suits every material, texture and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4. Mould Design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1. Review geometry, material, tolerances, appearance and production quantity.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4871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7744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2. Confirm shrinkage data with the material supplier and define moulding direction.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0815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7180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3. Identify parting line, draft, undercuts, slides/lifters and ejection strategy.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6758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56616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4. Design cavity/core, runner/gate, venting, cooling and support structure.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2702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16052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5. Check machine compatibility: platen, tie-bar spacing, mould height, opening stroke and clamp capacity.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8646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75488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6. Review manufacturability; use flow, cooling or structural analysis when appropriate.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4589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349240"/>
            <a:ext cx="10149840" cy="56692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7. Release controlled drawings, BOM, inspection requirements and revision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5. Calculation: Mould Shrinkage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0749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11095"/>
            <a:ext cx="472744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13432"/>
            <a:ext cx="4709159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Mould dimension ≈ required part dimension ÷ (1 − shrinkage fraction)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1663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73152" cy="123444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11095"/>
            <a:ext cx="48188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13432"/>
            <a:ext cx="4800600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Required part length = 100 mm; assumed shrinkage = 1.5% = 0.015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2365A"/>
                </a:solidFill>
                <a:latin typeface="Aptos"/>
              </a:defRPr>
            </a:pPr>
            <a:r>
              <a:t>Mould dimension ≈ 100 ÷ (1 − 0.015) = 100 ÷ 0.985 ≈ 101.52 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10287000" cy="100584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462272"/>
            <a:ext cx="9784080" cy="5943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Shrinkage depends on resin grade, process, geometry and flow direction. Use supplier data and mould trials. Confirm the shrinkage convention used by your organization.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273"/>
                </a:solidFill>
                <a:latin typeface="Aptos"/>
              </a:defRPr>
            </a:pPr>
            <a:r>
              <a:t>Simplified estimate only—not a final mould dimension.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6. Calculation: Clamping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0749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23444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65376"/>
            <a:ext cx="472744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4709159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Clamp force ≈ projected area × average cavity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1663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73152" cy="123444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65376"/>
            <a:ext cx="48188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4800600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Projected area = 120 cm²; average cavity pressure = 40 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24128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t>120 cm² = 0.012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2365A"/>
                </a:solidFill>
                <a:latin typeface="Aptos"/>
              </a:defRPr>
            </a:pPr>
            <a:r>
              <a:t>Force ≈ 0.012 × 40,000,000 = 480,000 N = 480 kN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10287000" cy="914400"/>
          </a:xfrm>
          <a:prstGeom prst="roundRect">
            <a:avLst/>
          </a:prstGeom>
          <a:solidFill>
            <a:srgbClr val="FFF5D8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73168"/>
            <a:ext cx="978408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Actual machine sizing must account for all cavity/runner projected areas, pressure distribution, suitable margin and machine/tooling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7. Calculation: Shot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07492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23444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65376"/>
            <a:ext cx="472744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4709159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Total shot volume ≈ (part volume × cavity count) + runner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16636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73152" cy="123444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65376"/>
            <a:ext cx="48188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4800600" cy="63093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Part volume = 32 cm³; 2 cavities; runner = 8 cm³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2365A"/>
                </a:solidFill>
                <a:latin typeface="Aptos"/>
              </a:defRPr>
            </a:pPr>
            <a:r>
              <a:t>Total shot volume ≈ (32 × 2) + 8 = 72 cm³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10149840" cy="5943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Check machine shot capacity for the chosen material. Convert volume to mass using material density when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20640"/>
            <a:ext cx="10287000" cy="59436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76088"/>
            <a:ext cx="9875520" cy="25603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12365A"/>
                </a:solidFill>
                <a:latin typeface="Aptos"/>
              </a:defRPr>
            </a:pPr>
            <a:r>
              <a:t>Also consider cushion, screw recovery, runner design and process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8. Mould Materials: Starting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P20 / pre-hardened mould steel: common in many general-purpose moulds, depending on grade and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724912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15184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H13 / hot-work tool steel: used in demanding tooling where toughness and thermal performance matter.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557015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47287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420 / corrosion-resistant mould steel: considered for corrosive polymers, moisture exposure or high-polish needs.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389120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79392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Aluminium tooling: useful for some prototypes and lower-volume applications; assess wear and temperature limits.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221224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111496"/>
            <a:ext cx="10149840" cy="804671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Selection depends on polymer, abrasiveness, corrosion, finish, volume, cooling and repair strategy.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Confirm exact grade, heat treatment and supplier data; trade names and grades vary.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CAD &amp; MECHANICAL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9. CAD &amp; Mechanical Design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Build a clean parametric model with a stable feature tree and clear design intent.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Use datums, named parameters, appropriate constraints and symmetry where useful.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Check assemblies for interference, clearances, motion and service access.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Create drawings with dimensions, tolerances, datums, surface finish and material/heat-treatment notes.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Use revision control, part numbering, BOMs and manufacturing/inspection feedback.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Validate critical parts with calculations, simulation or physical testing when risk justifies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CAD &amp; MECHANICAL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10. Engineering Drawing: Limits and 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41732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65376"/>
            <a:ext cx="303580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Basic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3017520" cy="81381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Nominal reference dimension, e.g. 25 mm.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141732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65376"/>
            <a:ext cx="303580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Tolerance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67712"/>
            <a:ext cx="3017520" cy="81381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Upper limit − lower limit.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73152" cy="141732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865376"/>
            <a:ext cx="303580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67712"/>
            <a:ext cx="3017520" cy="813816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Clearance, transition or interference relationship.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365A"/>
                </a:solidFill>
                <a:latin typeface="Aptos"/>
              </a:defRPr>
            </a:pPr>
            <a:r>
              <a:t>Hole: 25.000–25.021 mm     Shaft: 24.980–24.993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E8B57"/>
                </a:solidFill>
                <a:latin typeface="Aptos"/>
              </a:defRPr>
            </a:pPr>
            <a:r>
              <a:t>Minimum clearance = 25.000 − 24.993 = 0.007 mm = 7 µm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E8B57"/>
                </a:solidFill>
                <a:latin typeface="Aptos"/>
              </a:defRPr>
            </a:pPr>
            <a:r>
              <a:t>Maximum clearance = 25.021 − 24.980 = 0.041 mm = 41 µm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36273"/>
                </a:solidFill>
                <a:latin typeface="Aptos"/>
              </a:defRPr>
            </a:pPr>
            <a:r>
              <a:t>Illustrative limits only; select production limits from the applicable standard and functional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11. Manufacturing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Turning: cylindrical features such as shafts, pins and bushes.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Milling: faces, pockets, slots and profiles using a rotating cutter.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Drilling, boring and reaming: create or improve holes with different accuracy and finish capabilities.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Grinding: abrasive finishing for suitable tight-size or surface-finish requirements.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EDM / wire EDM: intricate features in electrically conductive materials.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Additive manufacturing: builds parts layer by layer; assess anisotropy, surface finish and post-processing.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TOOLS &amp;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12. Manufacturing Tools &amp; Cutting Tool Materials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0515600" cy="621792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9656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HSS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801368"/>
            <a:ext cx="7680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Tough and versatile; generally lower cutting speeds than carbide.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10515600" cy="621792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24328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Cemented carbide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06040"/>
            <a:ext cx="7680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High hot hardness and productivity; setup and vibration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00984"/>
            <a:ext cx="10515600" cy="621792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Ceramics / CBN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10712"/>
            <a:ext cx="7680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Used in selected high-speed or hard-material applications.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05656"/>
            <a:ext cx="10515600" cy="621792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33672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PCD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215384"/>
            <a:ext cx="7680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Useful for many non-ferrous materials and composites; not for every steel-cutting task.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10328"/>
            <a:ext cx="10515600" cy="621792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38344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Coated inserts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020056"/>
            <a:ext cx="7680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Coatings can improve wear and heat performance when matched to the operation.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13. Engineering Materials: Quick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160020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1109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Carbon / alloy steels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1343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Strength, machinability and heat-treatment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73152" cy="160020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91109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Stainless steels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1343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Corrosion resistance varies by grade.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783080"/>
            <a:ext cx="73152" cy="1600200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91109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Aluminium alloys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31343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Low density and good machinability; strength varies.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49039"/>
            <a:ext cx="73152" cy="160020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87705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Cast iron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27939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Good damping and machinability in many grades.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749039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749039"/>
            <a:ext cx="73152" cy="16002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87705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Engineering plastics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27939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Low weight; consider creep and thermal expansion.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749039"/>
            <a:ext cx="333756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3749039"/>
            <a:ext cx="73152" cy="160020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7928" y="3877055"/>
            <a:ext cx="29900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Copper alloys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279392"/>
            <a:ext cx="2971800" cy="99669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Useful thermal/electrical conductivity in selected uses.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14. Material Selection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Function and loads: static, fatigue, impact, wear and stiffness.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Environment: temperature, moisture, chemicals, corrosion and UV exposure.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Manufacturing: casting, machining, forming, welding, heat treatment and finishing.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Economics: material cost, machining time, tool wear, scrap risk and availability.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Quality: strength, hardness, surface finish, dimensional stability and traceability.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Verify the exact grade using an authoritative datasheet and applicable design standard.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Never substitute based on a generic name alone; grade, condition and heat treatment matter.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15. Measurement &amp; Quality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Vernier caliper: general outside, inside and depth measurement within its capability.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Outside micrometer: external diameter measurement; check zero and calibration.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Bore gauge: checks internal diameter and can reveal taper or out-of-roundness.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Dial indicator: checks runout, alignment and setup variation.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Surface roughness tester: measures specified surface texture parameters.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CMM / vision system: supports complex geometry inspection with a defined measurement strategy.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TOOLS &amp;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16. Machining Calculation: Spindle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074920" cy="128016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280160"/>
          </a:xfrm>
          <a:prstGeom prst="rect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65376"/>
            <a:ext cx="472744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Formula (metric)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4709159" cy="67665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N = (1000 × Vc) ÷ (π × 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166360" cy="1280160"/>
          </a:xfrm>
          <a:prstGeom prst="roundRect">
            <a:avLst/>
          </a:prstGeom>
          <a:solidFill>
            <a:srgbClr val="F6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73152" cy="1280160"/>
          </a:xfrm>
          <a:prstGeom prst="rect">
            <a:avLst/>
          </a:prstGeom>
          <a:solidFill>
            <a:srgbClr val="159A9C"/>
          </a:solidFill>
          <a:ln>
            <a:solidFill>
              <a:srgbClr val="15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65376"/>
            <a:ext cx="4818888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65A"/>
                </a:solidFill>
                <a:latin typeface="Aptos"/>
              </a:defRPr>
            </a:pPr>
            <a:r>
              <a:t>Given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4800600" cy="676655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Cutting speed Vc = 120 m/min; tool diameter D = 10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2365A"/>
                </a:solidFill>
                <a:latin typeface="Aptos"/>
              </a:defRPr>
            </a:pPr>
            <a:r>
              <a:t>N = (1000 × 120) ÷ (π × 10) ≈ 3,820 rpm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241280" cy="7315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Confirm tool-maker recommendations, workpiece material, tool overhang, coolant, rigidity and machine limits before selecting a setting.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10241280" cy="54864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9875520" cy="25603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N = spindle speed (rpm) • Vc = cutting speed (m/min) • D = tool diameter (mm)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DESIGN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17. Common Design &amp; Manufacturing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Using assumed shrinkage without checking resin grade, flow direction and process conditions.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Choosing a fit code without checking the basic-size range and actual limits.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Leaving insufficient draft, venting, cooling or ejection provisions in a mould.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Applying tight tolerances to non-functional features without a reason.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Selecting tools or materials without considering hardness, heat, wear and rigidity.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Releasing drawings without datums, inspection methods or revision control.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A short design review can prevent expensive tool changes and production delays.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18. 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1. What are the functions of the cavity and core?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2. Estimate mould dimension for a 60 mm target part size using 1.2% assumed shrinkage.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3. Calculate clamp force for 0.008 m² projected area at 35 MPa average cavity pressure.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4. Which instrument is typically used for precision external diameter measurement?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5. Name two factors that influence material selection.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6. Why are draft and venting important in injection mould design?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Try before checking answers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65A"/>
          </a:solidFill>
          <a:ln>
            <a:solidFill>
              <a:srgbClr val="12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2365A"/>
                </a:solidFill>
                <a:latin typeface="Aptos"/>
              </a:defRPr>
            </a:pPr>
            <a:r>
              <a:t>19. Knowledge Check —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137160"/>
            <a:ext cx="274320" cy="2011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36273"/>
                </a:solidFill>
                <a:latin typeface="Aptos"/>
              </a:defRPr>
            </a:pPr>
            <a:r>
              <a:t>Learn • Design • Build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92807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1. Cavity forms external surfaces; core forms internal features.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8622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7649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2. 60 ÷ (1 − 0.012) = 60 ÷ 0.988 ≈ 60.73 mm (simplified estimate).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7964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6992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3. 0.008 m² × 35,000,000 N/m² = 280,000 N = 280 kN.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97306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3339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4. Outside micrometer, when its range and resolution suit the requirement.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66648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676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5. Examples: load, temperature, corrosion, wear, density, machinability and cost.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359908"/>
            <a:ext cx="118872" cy="118872"/>
          </a:xfrm>
          <a:prstGeom prst="ellipse">
            <a:avLst/>
          </a:prstGeom>
          <a:solidFill>
            <a:srgbClr val="1E6AA8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50180"/>
            <a:ext cx="10149840" cy="66598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t>6. Draft helps release; vents allow air/gases to escape and help reduce defects.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33872"/>
            <a:ext cx="10744200" cy="438912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12365A"/>
                </a:solidFill>
                <a:latin typeface="Aptos"/>
              </a:defRPr>
            </a:pPr>
            <a:r>
              <a:t>Verify calculations and specifications before production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2B632"/>
                </a:solidFill>
                <a:latin typeface="Aptos"/>
              </a:defRPr>
            </a:pPr>
            <a:r>
              <a:t>CAD WITH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LEARN. DESIGN.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9144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2100" b="0">
                <a:solidFill>
                  <a:srgbClr val="DCEBF6"/>
                </a:solidFill>
                <a:latin typeface="Aptos"/>
              </a:defRPr>
            </a:pPr>
            <a:r>
              <a:t>Mould design • CAD • Mechanical design</a:t>
            </a:r>
          </a:p>
          <a:p>
            <a:pPr algn="ctr">
              <a:spcAft>
                <a:spcPts val="700"/>
              </a:spcAft>
              <a:defRPr sz="2100" b="0">
                <a:solidFill>
                  <a:srgbClr val="DCEBF6"/>
                </a:solidFill>
                <a:latin typeface="Aptos"/>
              </a:defRPr>
            </a:pPr>
            <a:r>
              <a:t>Manufacturing tools • Engineering materials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114800"/>
            <a:ext cx="3749039" cy="73152"/>
          </a:xfrm>
          <a:prstGeom prst="rect">
            <a:avLst/>
          </a:prstGeom>
          <a:solidFill>
            <a:srgbClr val="F2B632"/>
          </a:solidFill>
          <a:ln>
            <a:solidFill>
              <a:srgbClr val="F2B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996696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Follow for practical engineering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D2E1EE"/>
                </a:solidFill>
                <a:latin typeface="Aptos"/>
              </a:defRPr>
            </a:pPr>
            <a:r>
              <a:t>Educational resource • Verify calculations and specifications before production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