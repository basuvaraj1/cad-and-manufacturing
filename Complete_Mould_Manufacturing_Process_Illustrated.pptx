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675120" y="914400"/>
            <a:ext cx="1920240" cy="3474720"/>
          </a:xfrm>
          <a:prstGeom prst="roundRect">
            <a:avLst/>
          </a:prstGeom>
          <a:solidFill>
            <a:srgbClr val="697D9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823960" y="914400"/>
            <a:ext cx="1920240" cy="3474720"/>
          </a:xfrm>
          <a:prstGeom prst="roundRect">
            <a:avLst/>
          </a:prstGeom>
          <a:solidFill>
            <a:srgbClr val="B9C5C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52360" y="1600200"/>
            <a:ext cx="411480" cy="2011680"/>
          </a:xfrm>
          <a:prstGeom prst="rect">
            <a:avLst/>
          </a:prstGeom>
          <a:solidFill>
            <a:srgbClr val="EB9137"/>
          </a:solidFill>
          <a:ln w="1270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555480" y="1600200"/>
            <a:ext cx="411480" cy="2011680"/>
          </a:xfrm>
          <a:prstGeom prst="rect">
            <a:avLst/>
          </a:prstGeom>
          <a:solidFill>
            <a:srgbClr val="37AABE"/>
          </a:solidFill>
          <a:ln w="12700">
            <a:solidFill>
              <a:srgbClr val="37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01000" y="2103120"/>
            <a:ext cx="640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8595360" y="2606040"/>
            <a:ext cx="228600" cy="0"/>
          </a:xfrm>
          <a:prstGeom prst="line">
            <a:avLst/>
          </a:prstGeom>
          <a:ln w="25400">
            <a:solidFill>
              <a:srgbClr val="EB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914400"/>
            <a:ext cx="54864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EB9137"/>
                </a:solidFill>
                <a:latin typeface="Aptos"/>
              </a:rPr>
              <a:t>ENGINEERING PROCESS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508760"/>
            <a:ext cx="5669280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MOULD COMPLETE
MANUFACTURING 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539496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0">
                <a:solidFill>
                  <a:srgbClr val="DCE6F0"/>
                </a:solidFill>
                <a:latin typeface="Aptos"/>
              </a:rPr>
              <a:t>From part design and tool steel to machining, assembly, trials and production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572000"/>
            <a:ext cx="4389120" cy="530352"/>
          </a:xfrm>
          <a:prstGeom prst="roundRect">
            <a:avLst/>
          </a:prstGeom>
          <a:solidFill>
            <a:srgbClr val="2369AA"/>
          </a:solidFill>
          <a:ln w="12700"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626864"/>
            <a:ext cx="41148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ILLUSTRATED STEP-BY-STEP PPT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080760"/>
            <a:ext cx="64008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BECDDA"/>
                </a:solidFill>
                <a:latin typeface="Aptos"/>
              </a:rPr>
              <a:t>Educational reference • Schematics are illustrative, not production drawings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BECDDA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142A48"/>
                </a:solidFill>
                <a:latin typeface="Aptos"/>
              </a:rPr>
              <a:t>1. Complete Process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97280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647382"/>
                </a:solidFill>
                <a:latin typeface="Aptos"/>
              </a:rPr>
              <a:t>The typical workflow for an injection mould tool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88136"/>
            <a:ext cx="1143000" cy="50292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47382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4709160" cy="4892040"/>
          </a:xfrm>
          <a:prstGeom prst="rect">
            <a:avLst/>
          </a:prstGeom>
          <a:noFill/>
        </p:spPr>
        <p:txBody>
          <a:bodyPr wrap="square" lIns="73152" rIns="54864" tIns="54864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Define the part, resin and production target.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Design the mould and release manufacturing drawings.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Procure certified steel and standard components.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Machine, heat-treat and finish precision details.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Assemble, fit and test the mould.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Run trials, validate parts and release production.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371600"/>
            <a:ext cx="5989320" cy="4983480"/>
          </a:xfrm>
          <a:prstGeom prst="roundRect">
            <a:avLst/>
          </a:prstGeom>
          <a:solidFill>
            <a:srgbClr val="EFF5F9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89320" y="2011680"/>
            <a:ext cx="1417320" cy="777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2048256"/>
            <a:ext cx="25603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EB9137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5352" y="2194560"/>
            <a:ext cx="10972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42A48"/>
                </a:solidFill>
                <a:latin typeface="Aptos"/>
              </a:rPr>
              <a:t>Design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2011680"/>
            <a:ext cx="1417320" cy="777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2048256"/>
            <a:ext cx="25603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EB9137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1" y="2194560"/>
            <a:ext cx="10972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42A48"/>
                </a:solidFill>
                <a:latin typeface="Aptos"/>
              </a:rPr>
              <a:t>Steel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55480" y="2011680"/>
            <a:ext cx="1417320" cy="777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0" y="2048256"/>
            <a:ext cx="25603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EB9137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11511" y="2194560"/>
            <a:ext cx="10972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42A48"/>
                </a:solidFill>
                <a:latin typeface="Aptos"/>
              </a:rPr>
              <a:t>Machine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3703320"/>
            <a:ext cx="1417320" cy="777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3739896"/>
            <a:ext cx="25603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EB9137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2" y="3886200"/>
            <a:ext cx="10972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42A48"/>
                </a:solidFill>
                <a:latin typeface="Aptos"/>
              </a:rPr>
              <a:t>Fit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3703320"/>
            <a:ext cx="1417320" cy="777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20" y="3739896"/>
            <a:ext cx="25603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EB9137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28431" y="3886200"/>
            <a:ext cx="10972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42A48"/>
                </a:solidFill>
                <a:latin typeface="Aptos"/>
              </a:rPr>
              <a:t>Trial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55480" y="3703320"/>
            <a:ext cx="1417320" cy="777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3739896"/>
            <a:ext cx="25603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EB9137"/>
                </a:solidFill>
                <a:latin typeface="Apto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11511" y="3886200"/>
            <a:ext cx="10972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42A48"/>
                </a:solidFill>
                <a:latin typeface="Aptos"/>
              </a:rPr>
              <a:t>Validate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406640" y="2400300"/>
            <a:ext cx="365760" cy="0"/>
          </a:xfrm>
          <a:prstGeom prst="line">
            <a:avLst/>
          </a:prstGeom>
          <a:ln w="20320">
            <a:solidFill>
              <a:srgbClr val="23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89720" y="2400300"/>
            <a:ext cx="365760" cy="0"/>
          </a:xfrm>
          <a:prstGeom prst="line">
            <a:avLst/>
          </a:prstGeom>
          <a:ln w="20320">
            <a:solidFill>
              <a:srgbClr val="23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264140" y="2788920"/>
            <a:ext cx="0" cy="914400"/>
          </a:xfrm>
          <a:prstGeom prst="line">
            <a:avLst/>
          </a:prstGeom>
          <a:ln w="20320">
            <a:solidFill>
              <a:srgbClr val="23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406640" y="4091939"/>
            <a:ext cx="365760" cy="0"/>
          </a:xfrm>
          <a:prstGeom prst="line">
            <a:avLst/>
          </a:prstGeom>
          <a:ln w="20320">
            <a:solidFill>
              <a:srgbClr val="23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189720" y="4091939"/>
            <a:ext cx="365760" cy="0"/>
          </a:xfrm>
          <a:prstGeom prst="line">
            <a:avLst/>
          </a:prstGeom>
          <a:ln w="20320">
            <a:solidFill>
              <a:srgbClr val="23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035040" y="5349240"/>
            <a:ext cx="507492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42A48"/>
                </a:solidFill>
                <a:latin typeface="Aptos"/>
              </a:rPr>
              <a:t>Concept → Tooling → Trials → Production readiness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6327648"/>
            <a:ext cx="107899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>
                <a:solidFill>
                  <a:srgbClr val="647382"/>
                </a:solidFill>
                <a:latin typeface="Aptos"/>
              </a:rPr>
              <a:t>Other mould types—compression, die-casting, blow and transfer—use different tooling details and process controls.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142A48"/>
                </a:solidFill>
                <a:latin typeface="Aptos"/>
              </a:rPr>
              <a:t>2. Define the Part &amp;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97280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647382"/>
                </a:solidFill>
                <a:latin typeface="Aptos"/>
              </a:rPr>
              <a:t>Start with the product and production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88136"/>
            <a:ext cx="1143000" cy="50292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47382"/>
                </a:solidFill>
                <a:latin typeface="Apto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4709160" cy="4892040"/>
          </a:xfrm>
          <a:prstGeom prst="rect">
            <a:avLst/>
          </a:prstGeom>
          <a:noFill/>
        </p:spPr>
        <p:txBody>
          <a:bodyPr wrap="square" lIns="73152" rIns="54864" tIns="54864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Review 3D CAD, 2D drawing, critical dimensions and appearance.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Confirm resin grade, colour, shrinkage data and additives.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Estimate annual volume, target cycle time and tool life.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Identify undercuts, wall thickness, draft and cosmetic zones.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Agree inspection criteria and acceptance limits.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371600"/>
            <a:ext cx="5989320" cy="4983480"/>
          </a:xfrm>
          <a:prstGeom prst="roundRect">
            <a:avLst/>
          </a:prstGeom>
          <a:solidFill>
            <a:srgbClr val="EFF5F9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89320" y="1828800"/>
            <a:ext cx="283464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29400" y="2514600"/>
            <a:ext cx="1554480" cy="1005840"/>
          </a:xfrm>
          <a:prstGeom prst="rect">
            <a:avLst/>
          </a:prstGeom>
          <a:solidFill>
            <a:srgbClr val="DCEBF6"/>
          </a:solidFill>
          <a:ln w="19050"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76288" y="2743200"/>
            <a:ext cx="1051560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6583679" y="3703320"/>
            <a:ext cx="1645921" cy="0"/>
          </a:xfrm>
          <a:prstGeom prst="line">
            <a:avLst/>
          </a:prstGeom>
          <a:ln w="17780">
            <a:solidFill>
              <a:srgbClr val="EB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080759" y="4343400"/>
            <a:ext cx="265176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42A48"/>
                </a:solidFill>
                <a:latin typeface="Aptos"/>
              </a:rPr>
              <a:t>Part geometry &amp; draft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89720" y="1874519"/>
            <a:ext cx="914400" cy="2286000"/>
          </a:xfrm>
          <a:prstGeom prst="rect">
            <a:avLst/>
          </a:prstGeom>
          <a:solidFill>
            <a:srgbClr val="B9C5CF"/>
          </a:solidFill>
          <a:ln w="12700">
            <a:solidFill>
              <a:srgbClr val="69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95559" y="1874519"/>
            <a:ext cx="777240" cy="2286000"/>
          </a:xfrm>
          <a:prstGeom prst="rect">
            <a:avLst/>
          </a:prstGeom>
          <a:solidFill>
            <a:srgbClr val="D2DCE4"/>
          </a:solidFill>
          <a:ln w="12700">
            <a:solidFill>
              <a:srgbClr val="69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491472" y="2423160"/>
            <a:ext cx="329184" cy="1188720"/>
          </a:xfrm>
          <a:prstGeom prst="rect">
            <a:avLst/>
          </a:prstGeom>
          <a:solidFill>
            <a:srgbClr val="EB9137"/>
          </a:solidFill>
          <a:ln w="1270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369296" y="2423160"/>
            <a:ext cx="329184" cy="1188720"/>
          </a:xfrm>
          <a:prstGeom prst="rect">
            <a:avLst/>
          </a:prstGeom>
          <a:solidFill>
            <a:srgbClr val="37AABE"/>
          </a:solidFill>
          <a:ln w="12700">
            <a:solidFill>
              <a:srgbClr val="37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8961120" y="3017520"/>
            <a:ext cx="228600" cy="0"/>
          </a:xfrm>
          <a:prstGeom prst="line">
            <a:avLst/>
          </a:prstGeom>
          <a:ln w="25400">
            <a:solidFill>
              <a:srgbClr val="23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052559" y="4343400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42A48"/>
                </a:solidFill>
                <a:latin typeface="Aptos"/>
              </a:rPr>
              <a:t>Core / cavity layout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5074920"/>
            <a:ext cx="5166359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2A3440"/>
                </a:solidFill>
                <a:latin typeface="Aptos"/>
              </a:rPr>
              <a:t>Check shrinkage • parting line • ejection • cooling • venting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327648"/>
            <a:ext cx="107899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>
                <a:solidFill>
                  <a:srgbClr val="647382"/>
                </a:solidFill>
                <a:latin typeface="Aptos"/>
              </a:rPr>
              <a:t>Part geometry and resin choice drive the tool design.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142A48"/>
                </a:solidFill>
                <a:latin typeface="Aptos"/>
              </a:rPr>
              <a:t>3. Part Design for Mouldability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97280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647382"/>
                </a:solidFill>
                <a:latin typeface="Aptos"/>
              </a:rPr>
              <a:t>Resolve design risks before cutting steel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88136"/>
            <a:ext cx="1143000" cy="50292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47382"/>
                </a:solidFill>
                <a:latin typeface="Aptos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4709160" cy="4892040"/>
          </a:xfrm>
          <a:prstGeom prst="rect">
            <a:avLst/>
          </a:prstGeom>
          <a:noFill/>
        </p:spPr>
        <p:txBody>
          <a:bodyPr wrap="square" lIns="73152" rIns="54864" tIns="54864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Use reasonably uniform wall thickness where possible.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Add draft to vertical faces for reliable release.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Avoid sharp internal corners; use suitable radii.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Place ribs and bosses to limit sink and distortion.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Confirm parting line, gate witness and ejector mark locations.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371600"/>
            <a:ext cx="5989320" cy="4983480"/>
          </a:xfrm>
          <a:prstGeom prst="roundRect">
            <a:avLst/>
          </a:prstGeom>
          <a:solidFill>
            <a:srgbClr val="EFF5F9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89320" y="1828800"/>
            <a:ext cx="283464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29400" y="2514600"/>
            <a:ext cx="1554480" cy="1005840"/>
          </a:xfrm>
          <a:prstGeom prst="rect">
            <a:avLst/>
          </a:prstGeom>
          <a:solidFill>
            <a:srgbClr val="DCEBF6"/>
          </a:solidFill>
          <a:ln w="19050"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76288" y="2743200"/>
            <a:ext cx="1051560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6583679" y="3703320"/>
            <a:ext cx="1645921" cy="0"/>
          </a:xfrm>
          <a:prstGeom prst="line">
            <a:avLst/>
          </a:prstGeom>
          <a:ln w="17780">
            <a:solidFill>
              <a:srgbClr val="EB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080759" y="4343400"/>
            <a:ext cx="265176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42A48"/>
                </a:solidFill>
                <a:latin typeface="Aptos"/>
              </a:rPr>
              <a:t>Part geometry &amp; draft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89720" y="1874519"/>
            <a:ext cx="914400" cy="2286000"/>
          </a:xfrm>
          <a:prstGeom prst="rect">
            <a:avLst/>
          </a:prstGeom>
          <a:solidFill>
            <a:srgbClr val="B9C5CF"/>
          </a:solidFill>
          <a:ln w="12700">
            <a:solidFill>
              <a:srgbClr val="69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95559" y="1874519"/>
            <a:ext cx="777240" cy="2286000"/>
          </a:xfrm>
          <a:prstGeom prst="rect">
            <a:avLst/>
          </a:prstGeom>
          <a:solidFill>
            <a:srgbClr val="D2DCE4"/>
          </a:solidFill>
          <a:ln w="12700">
            <a:solidFill>
              <a:srgbClr val="69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491472" y="2423160"/>
            <a:ext cx="329184" cy="1188720"/>
          </a:xfrm>
          <a:prstGeom prst="rect">
            <a:avLst/>
          </a:prstGeom>
          <a:solidFill>
            <a:srgbClr val="EB9137"/>
          </a:solidFill>
          <a:ln w="1270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369296" y="2423160"/>
            <a:ext cx="329184" cy="1188720"/>
          </a:xfrm>
          <a:prstGeom prst="rect">
            <a:avLst/>
          </a:prstGeom>
          <a:solidFill>
            <a:srgbClr val="37AABE"/>
          </a:solidFill>
          <a:ln w="12700">
            <a:solidFill>
              <a:srgbClr val="37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8961120" y="3017520"/>
            <a:ext cx="228600" cy="0"/>
          </a:xfrm>
          <a:prstGeom prst="line">
            <a:avLst/>
          </a:prstGeom>
          <a:ln w="25400">
            <a:solidFill>
              <a:srgbClr val="23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052559" y="4343400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42A48"/>
                </a:solidFill>
                <a:latin typeface="Aptos"/>
              </a:rPr>
              <a:t>Core / cavity layout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5074920"/>
            <a:ext cx="5166359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2A3440"/>
                </a:solidFill>
                <a:latin typeface="Aptos"/>
              </a:rPr>
              <a:t>Check shrinkage • parting line • ejection • cooling • venting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327648"/>
            <a:ext cx="107899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>
                <a:solidFill>
                  <a:srgbClr val="647382"/>
                </a:solidFill>
                <a:latin typeface="Aptos"/>
              </a:rPr>
              <a:t>Draft and wall recommendations depend on resin, texture and geometry.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142A48"/>
                </a:solidFill>
                <a:latin typeface="Aptos"/>
              </a:rPr>
              <a:t>4. Mould Concept &amp;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97280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647382"/>
                </a:solidFill>
                <a:latin typeface="Aptos"/>
              </a:rPr>
              <a:t>Choose a tool architecture that fits the job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88136"/>
            <a:ext cx="1143000" cy="50292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47382"/>
                </a:solidFill>
                <a:latin typeface="Apto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4709160" cy="4892040"/>
          </a:xfrm>
          <a:prstGeom prst="rect">
            <a:avLst/>
          </a:prstGeom>
          <a:noFill/>
        </p:spPr>
        <p:txBody>
          <a:bodyPr wrap="square" lIns="73152" rIns="54864" tIns="54864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Choose single-cavity or multi-cavity layout.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Select two-plate, three-plate or hot-runner arrangement.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Plan core, cavity, parting line and shut-offs.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Locate sprue, runner, gate, vents and cooling circuits.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Check press size, tie-bar spacing, opening stroke and ejection stroke.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371600"/>
            <a:ext cx="5989320" cy="4983480"/>
          </a:xfrm>
          <a:prstGeom prst="roundRect">
            <a:avLst/>
          </a:prstGeom>
          <a:solidFill>
            <a:srgbClr val="EFF5F9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89320" y="2011680"/>
            <a:ext cx="1417320" cy="777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2048256"/>
            <a:ext cx="25603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EB9137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5352" y="2194560"/>
            <a:ext cx="10972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42A48"/>
                </a:solidFill>
                <a:latin typeface="Aptos"/>
              </a:rPr>
              <a:t>Design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2011680"/>
            <a:ext cx="1417320" cy="777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2048256"/>
            <a:ext cx="25603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EB9137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1" y="2194560"/>
            <a:ext cx="10972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42A48"/>
                </a:solidFill>
                <a:latin typeface="Aptos"/>
              </a:rPr>
              <a:t>Steel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55480" y="2011680"/>
            <a:ext cx="1417320" cy="777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0" y="2048256"/>
            <a:ext cx="25603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EB9137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11511" y="2194560"/>
            <a:ext cx="10972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42A48"/>
                </a:solidFill>
                <a:latin typeface="Aptos"/>
              </a:rPr>
              <a:t>Machine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3703320"/>
            <a:ext cx="1417320" cy="777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3739896"/>
            <a:ext cx="25603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EB9137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2" y="3886200"/>
            <a:ext cx="10972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42A48"/>
                </a:solidFill>
                <a:latin typeface="Aptos"/>
              </a:rPr>
              <a:t>Fit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3703320"/>
            <a:ext cx="1417320" cy="777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20" y="3739896"/>
            <a:ext cx="25603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EB9137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28431" y="3886200"/>
            <a:ext cx="10972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42A48"/>
                </a:solidFill>
                <a:latin typeface="Aptos"/>
              </a:rPr>
              <a:t>Trial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55480" y="3703320"/>
            <a:ext cx="1417320" cy="777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3739896"/>
            <a:ext cx="25603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EB9137"/>
                </a:solidFill>
                <a:latin typeface="Apto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11511" y="3886200"/>
            <a:ext cx="10972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42A48"/>
                </a:solidFill>
                <a:latin typeface="Aptos"/>
              </a:rPr>
              <a:t>Validate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406640" y="2400300"/>
            <a:ext cx="365760" cy="0"/>
          </a:xfrm>
          <a:prstGeom prst="line">
            <a:avLst/>
          </a:prstGeom>
          <a:ln w="20320">
            <a:solidFill>
              <a:srgbClr val="23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89720" y="2400300"/>
            <a:ext cx="365760" cy="0"/>
          </a:xfrm>
          <a:prstGeom prst="line">
            <a:avLst/>
          </a:prstGeom>
          <a:ln w="20320">
            <a:solidFill>
              <a:srgbClr val="23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264140" y="2788920"/>
            <a:ext cx="0" cy="914400"/>
          </a:xfrm>
          <a:prstGeom prst="line">
            <a:avLst/>
          </a:prstGeom>
          <a:ln w="20320">
            <a:solidFill>
              <a:srgbClr val="23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406640" y="4091939"/>
            <a:ext cx="365760" cy="0"/>
          </a:xfrm>
          <a:prstGeom prst="line">
            <a:avLst/>
          </a:prstGeom>
          <a:ln w="20320">
            <a:solidFill>
              <a:srgbClr val="23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189720" y="4091939"/>
            <a:ext cx="365760" cy="0"/>
          </a:xfrm>
          <a:prstGeom prst="line">
            <a:avLst/>
          </a:prstGeom>
          <a:ln w="20320">
            <a:solidFill>
              <a:srgbClr val="23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035040" y="5349240"/>
            <a:ext cx="507492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42A48"/>
                </a:solidFill>
                <a:latin typeface="Aptos"/>
              </a:rPr>
              <a:t>Concept → Tooling → Trials → Production readiness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6327648"/>
            <a:ext cx="107899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>
                <a:solidFill>
                  <a:srgbClr val="647382"/>
                </a:solidFill>
                <a:latin typeface="Aptos"/>
              </a:rPr>
              <a:t>Confirm the press and mould interface before detailed design.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142A48"/>
                </a:solidFill>
                <a:latin typeface="Aptos"/>
              </a:rPr>
              <a:t>5. Mould Design &amp; Engineering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97280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647382"/>
                </a:solidFill>
                <a:latin typeface="Aptos"/>
              </a:rPr>
              <a:t>CAD, simulation and detail drawings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88136"/>
            <a:ext cx="1143000" cy="50292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47382"/>
                </a:solidFill>
                <a:latin typeface="Aptos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4709160" cy="4892040"/>
          </a:xfrm>
          <a:prstGeom prst="rect">
            <a:avLst/>
          </a:prstGeom>
          <a:noFill/>
        </p:spPr>
        <p:txBody>
          <a:bodyPr wrap="square" lIns="73152" rIns="54864" tIns="54864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Design core and cavity using the part model and shrinkage allowance.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Check slides, lifters and other side-action mechanisms.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Size cooling channels for balanced heat removal.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Design ejector pins/plates and safe return mechanisms.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Review mould strength, alignment, venting and service access.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Use filling/warpage simulation when complexity or risk warrants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371600"/>
            <a:ext cx="5989320" cy="4983480"/>
          </a:xfrm>
          <a:prstGeom prst="roundRect">
            <a:avLst/>
          </a:prstGeom>
          <a:solidFill>
            <a:srgbClr val="EFF5F9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89320" y="1828800"/>
            <a:ext cx="283464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29400" y="2514600"/>
            <a:ext cx="1554480" cy="1005840"/>
          </a:xfrm>
          <a:prstGeom prst="rect">
            <a:avLst/>
          </a:prstGeom>
          <a:solidFill>
            <a:srgbClr val="DCEBF6"/>
          </a:solidFill>
          <a:ln w="19050"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76288" y="2743200"/>
            <a:ext cx="1051560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6583679" y="3703320"/>
            <a:ext cx="1645921" cy="0"/>
          </a:xfrm>
          <a:prstGeom prst="line">
            <a:avLst/>
          </a:prstGeom>
          <a:ln w="17780">
            <a:solidFill>
              <a:srgbClr val="EB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080759" y="4343400"/>
            <a:ext cx="265176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42A48"/>
                </a:solidFill>
                <a:latin typeface="Aptos"/>
              </a:rPr>
              <a:t>Part geometry &amp; draft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89720" y="1874519"/>
            <a:ext cx="914400" cy="2286000"/>
          </a:xfrm>
          <a:prstGeom prst="rect">
            <a:avLst/>
          </a:prstGeom>
          <a:solidFill>
            <a:srgbClr val="B9C5CF"/>
          </a:solidFill>
          <a:ln w="12700">
            <a:solidFill>
              <a:srgbClr val="69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95559" y="1874519"/>
            <a:ext cx="777240" cy="2286000"/>
          </a:xfrm>
          <a:prstGeom prst="rect">
            <a:avLst/>
          </a:prstGeom>
          <a:solidFill>
            <a:srgbClr val="D2DCE4"/>
          </a:solidFill>
          <a:ln w="12700">
            <a:solidFill>
              <a:srgbClr val="69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491472" y="2423160"/>
            <a:ext cx="329184" cy="1188720"/>
          </a:xfrm>
          <a:prstGeom prst="rect">
            <a:avLst/>
          </a:prstGeom>
          <a:solidFill>
            <a:srgbClr val="EB9137"/>
          </a:solidFill>
          <a:ln w="1270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369296" y="2423160"/>
            <a:ext cx="329184" cy="1188720"/>
          </a:xfrm>
          <a:prstGeom prst="rect">
            <a:avLst/>
          </a:prstGeom>
          <a:solidFill>
            <a:srgbClr val="37AABE"/>
          </a:solidFill>
          <a:ln w="12700">
            <a:solidFill>
              <a:srgbClr val="37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8961120" y="3017520"/>
            <a:ext cx="228600" cy="0"/>
          </a:xfrm>
          <a:prstGeom prst="line">
            <a:avLst/>
          </a:prstGeom>
          <a:ln w="25400">
            <a:solidFill>
              <a:srgbClr val="23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052559" y="4343400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42A48"/>
                </a:solidFill>
                <a:latin typeface="Aptos"/>
              </a:rPr>
              <a:t>Core / cavity layout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5074920"/>
            <a:ext cx="5166359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2A3440"/>
                </a:solidFill>
                <a:latin typeface="Aptos"/>
              </a:rPr>
              <a:t>Check shrinkage • parting line • ejection • cooling • venting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327648"/>
            <a:ext cx="107899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>
                <a:solidFill>
                  <a:srgbClr val="647382"/>
                </a:solidFill>
                <a:latin typeface="Aptos"/>
              </a:rPr>
              <a:t>Final shrinkage and process values must be based on the actual resin supplier and trials.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142A48"/>
                </a:solidFill>
                <a:latin typeface="Aptos"/>
              </a:rPr>
              <a:t>6. BOM &amp; Manufacturing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97280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647382"/>
                </a:solidFill>
                <a:latin typeface="Aptos"/>
              </a:rPr>
              <a:t>Release drawings and plan 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88136"/>
            <a:ext cx="1143000" cy="50292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47382"/>
                </a:solidFill>
                <a:latin typeface="Apto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4709160" cy="4892040"/>
          </a:xfrm>
          <a:prstGeom prst="rect">
            <a:avLst/>
          </a:prstGeom>
          <a:noFill/>
        </p:spPr>
        <p:txBody>
          <a:bodyPr wrap="square" lIns="73152" rIns="54864" tIns="54864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Create a bill of materials (BOM) for plates, inserts and standards.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Set material grades, hardness and surface-finish requirements.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Define datum scheme, tolerances and inspection points.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Prepare operation routing, setup sheets and tool lists.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Plan heat treatment, EDM, grinding and coating where needed.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371600"/>
            <a:ext cx="5989320" cy="4983480"/>
          </a:xfrm>
          <a:prstGeom prst="roundRect">
            <a:avLst/>
          </a:prstGeom>
          <a:solidFill>
            <a:srgbClr val="EFF5F9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89320" y="2423160"/>
            <a:ext cx="658368" cy="1828800"/>
          </a:xfrm>
          <a:prstGeom prst="roundRect">
            <a:avLst/>
          </a:prstGeom>
          <a:solidFill>
            <a:srgbClr val="142A48"/>
          </a:solidFill>
          <a:ln w="12700">
            <a:solidFill>
              <a:srgbClr val="14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16168" y="4343400"/>
            <a:ext cx="804672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42A48"/>
                </a:solidFill>
                <a:latin typeface="Aptos"/>
              </a:rPr>
              <a:t>Clamp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2423160"/>
            <a:ext cx="658368" cy="1828800"/>
          </a:xfrm>
          <a:prstGeom prst="roundRect">
            <a:avLst/>
          </a:prstGeom>
          <a:solidFill>
            <a:srgbClr val="697D91"/>
          </a:solidFill>
          <a:ln w="12700">
            <a:solidFill>
              <a:srgbClr val="69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4848" y="4343400"/>
            <a:ext cx="804672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42A48"/>
                </a:solidFill>
                <a:latin typeface="Aptos"/>
              </a:rPr>
              <a:t>Cavity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423160"/>
            <a:ext cx="658368" cy="1828800"/>
          </a:xfrm>
          <a:prstGeom prst="roundRect">
            <a:avLst/>
          </a:prstGeom>
          <a:solidFill>
            <a:srgbClr val="2369AA"/>
          </a:solidFill>
          <a:ln w="12700"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53527" y="4343400"/>
            <a:ext cx="804672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42A48"/>
                </a:solidFill>
                <a:latin typeface="Aptos"/>
              </a:rPr>
              <a:t>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59" y="2423160"/>
            <a:ext cx="658368" cy="1828800"/>
          </a:xfrm>
          <a:prstGeom prst="roundRect">
            <a:avLst/>
          </a:prstGeom>
          <a:solidFill>
            <a:srgbClr val="37AABE"/>
          </a:solidFill>
          <a:ln w="12700">
            <a:solidFill>
              <a:srgbClr val="37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22207" y="4343400"/>
            <a:ext cx="804672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42A48"/>
                </a:solidFill>
                <a:latin typeface="Aptos"/>
              </a:rPr>
              <a:t>Ejector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64040" y="2423160"/>
            <a:ext cx="658368" cy="1828800"/>
          </a:xfrm>
          <a:prstGeom prst="roundRect">
            <a:avLst/>
          </a:prstGeom>
          <a:solidFill>
            <a:srgbClr val="697D91"/>
          </a:solidFill>
          <a:ln w="12700">
            <a:solidFill>
              <a:srgbClr val="69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90888" y="4343400"/>
            <a:ext cx="804672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42A48"/>
                </a:solidFill>
                <a:latin typeface="Aptos"/>
              </a:rPr>
              <a:t>Support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332720" y="2423160"/>
            <a:ext cx="658368" cy="1828800"/>
          </a:xfrm>
          <a:prstGeom prst="roundRect">
            <a:avLst/>
          </a:prstGeom>
          <a:solidFill>
            <a:srgbClr val="142A48"/>
          </a:solidFill>
          <a:ln w="12700">
            <a:solidFill>
              <a:srgbClr val="14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59568" y="4343400"/>
            <a:ext cx="804672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42A48"/>
                </a:solidFill>
                <a:latin typeface="Aptos"/>
              </a:rPr>
              <a:t>Clamp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5074920"/>
            <a:ext cx="507492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2A3440"/>
                </a:solidFill>
                <a:latin typeface="Aptos"/>
              </a:rPr>
              <a:t>Align datums • fit leaders • verify free movement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327648"/>
            <a:ext cx="107899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>
                <a:solidFill>
                  <a:srgbClr val="647382"/>
                </a:solidFill>
                <a:latin typeface="Aptos"/>
              </a:rPr>
              <a:t>Keep revision control between CAD, drawings, BOM and CNC programs.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142A48"/>
                </a:solidFill>
                <a:latin typeface="Aptos"/>
              </a:rPr>
              <a:t>7. Tool Steel &amp; Component Procurement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97280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647382"/>
                </a:solidFill>
                <a:latin typeface="Aptos"/>
              </a:rPr>
              <a:t>Material quality affects tool life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88136"/>
            <a:ext cx="1143000" cy="50292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47382"/>
                </a:solidFill>
                <a:latin typeface="Apto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4709160" cy="4892040"/>
          </a:xfrm>
          <a:prstGeom prst="rect">
            <a:avLst/>
          </a:prstGeom>
          <a:noFill/>
        </p:spPr>
        <p:txBody>
          <a:bodyPr wrap="square" lIns="73152" rIns="54864" tIns="54864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Choose suitable mould steel for resin, corrosion and wear conditions.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Common options include P20, 420 stainless, H13 and hardened tool steels.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Select pre-hardened or heat-treatable grade as design requires.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Order standard parts: guide pillars, bushes, ejectors and fittings.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Verify material certificates, dimensions and traceability on receipt.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371600"/>
            <a:ext cx="5989320" cy="4983480"/>
          </a:xfrm>
          <a:prstGeom prst="roundRect">
            <a:avLst/>
          </a:prstGeom>
          <a:solidFill>
            <a:srgbClr val="EFF5F9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80759" y="2194560"/>
            <a:ext cx="2286000" cy="1463040"/>
          </a:xfrm>
          <a:prstGeom prst="roundRect">
            <a:avLst/>
          </a:prstGeom>
          <a:solidFill>
            <a:srgbClr val="697D91"/>
          </a:solidFill>
          <a:ln w="12700">
            <a:solidFill>
              <a:srgbClr val="69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6263640" y="2331720"/>
            <a:ext cx="0" cy="1188720"/>
          </a:xfrm>
          <a:prstGeom prst="line">
            <a:avLst/>
          </a:prstGeom>
          <a:ln w="10160">
            <a:solidFill>
              <a:srgbClr val="96AA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647688" y="2331720"/>
            <a:ext cx="0" cy="1188720"/>
          </a:xfrm>
          <a:prstGeom prst="line">
            <a:avLst/>
          </a:prstGeom>
          <a:ln w="10160">
            <a:solidFill>
              <a:srgbClr val="96AA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031736" y="2331720"/>
            <a:ext cx="0" cy="1188720"/>
          </a:xfrm>
          <a:prstGeom prst="line">
            <a:avLst/>
          </a:prstGeom>
          <a:ln w="10160">
            <a:solidFill>
              <a:srgbClr val="96AA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415783" y="2331720"/>
            <a:ext cx="0" cy="1188720"/>
          </a:xfrm>
          <a:prstGeom prst="line">
            <a:avLst/>
          </a:prstGeom>
          <a:ln w="10160">
            <a:solidFill>
              <a:srgbClr val="96AA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99831" y="2331720"/>
            <a:ext cx="0" cy="1188720"/>
          </a:xfrm>
          <a:prstGeom prst="line">
            <a:avLst/>
          </a:prstGeom>
          <a:ln w="10160">
            <a:solidFill>
              <a:srgbClr val="96AA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080759" y="3794760"/>
            <a:ext cx="22860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42A48"/>
                </a:solidFill>
                <a:latin typeface="Aptos"/>
              </a:rPr>
              <a:t>Certified tool steel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59" y="2011680"/>
            <a:ext cx="19659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79408" y="2194560"/>
            <a:ext cx="16459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2369AA"/>
                </a:solidFill>
                <a:latin typeface="Aptos"/>
              </a:rPr>
              <a:t>MATERIAL CERT.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052559" y="2697480"/>
            <a:ext cx="1417321" cy="0"/>
          </a:xfrm>
          <a:prstGeom prst="line">
            <a:avLst/>
          </a:prstGeom>
          <a:ln w="12700">
            <a:solidFill>
              <a:srgbClr val="B9C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052559" y="2926080"/>
            <a:ext cx="1417321" cy="0"/>
          </a:xfrm>
          <a:prstGeom prst="line">
            <a:avLst/>
          </a:prstGeom>
          <a:ln w="12700">
            <a:solidFill>
              <a:srgbClr val="B9C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052559" y="3154680"/>
            <a:ext cx="1417321" cy="0"/>
          </a:xfrm>
          <a:prstGeom prst="line">
            <a:avLst/>
          </a:prstGeom>
          <a:ln w="12700">
            <a:solidFill>
              <a:srgbClr val="B9C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052559" y="3383280"/>
            <a:ext cx="1417321" cy="0"/>
          </a:xfrm>
          <a:prstGeom prst="line">
            <a:avLst/>
          </a:prstGeom>
          <a:ln w="12700">
            <a:solidFill>
              <a:srgbClr val="B9C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052559" y="3611880"/>
            <a:ext cx="1417321" cy="0"/>
          </a:xfrm>
          <a:prstGeom prst="line">
            <a:avLst/>
          </a:prstGeom>
          <a:ln w="12700">
            <a:solidFill>
              <a:srgbClr val="B9C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738359" y="3611880"/>
            <a:ext cx="640080" cy="274320"/>
          </a:xfrm>
          <a:prstGeom prst="roundRect">
            <a:avLst/>
          </a:prstGeom>
          <a:solidFill>
            <a:srgbClr val="DCEBF6"/>
          </a:solidFill>
          <a:ln w="12700"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0759" y="4617720"/>
            <a:ext cx="4983479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2A3440"/>
                </a:solidFill>
                <a:latin typeface="Aptos"/>
              </a:rPr>
              <a:t>Select grade for resin, volume, wear, corrosion and required life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6327648"/>
            <a:ext cx="107899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>
                <a:solidFill>
                  <a:srgbClr val="647382"/>
                </a:solidFill>
                <a:latin typeface="Aptos"/>
              </a:rPr>
              <a:t>Grade selection is application-specific; consult supplier data and toolmaker requirements.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142A48"/>
                </a:solidFill>
                <a:latin typeface="Aptos"/>
              </a:rPr>
              <a:t>8. Cutting Stock &amp;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97280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647382"/>
                </a:solidFill>
                <a:latin typeface="Aptos"/>
              </a:rPr>
              <a:t>Prepare blanks before precision machining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88136"/>
            <a:ext cx="1143000" cy="50292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47382"/>
                </a:solidFill>
                <a:latin typeface="Aptos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4709160" cy="4892040"/>
          </a:xfrm>
          <a:prstGeom prst="rect">
            <a:avLst/>
          </a:prstGeom>
          <a:noFill/>
        </p:spPr>
        <p:txBody>
          <a:bodyPr wrap="square" lIns="73152" rIns="54864" tIns="54864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Cut steel blanks with machining allowance.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Mark part numbers, material grade and orientation.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Square and face plates to establish datums.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Check stock condition and remove burrs safely.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Record incoming dimensions and material identification.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371600"/>
            <a:ext cx="5989320" cy="4983480"/>
          </a:xfrm>
          <a:prstGeom prst="roundRect">
            <a:avLst/>
          </a:prstGeom>
          <a:solidFill>
            <a:srgbClr val="EFF5F9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26479" y="1965960"/>
            <a:ext cx="2880360" cy="2468880"/>
          </a:xfrm>
          <a:prstGeom prst="roundRect">
            <a:avLst/>
          </a:prstGeom>
          <a:solidFill>
            <a:srgbClr val="E1E8ED"/>
          </a:solidFill>
          <a:ln w="12700">
            <a:solidFill>
              <a:srgbClr val="69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46520" y="2240280"/>
            <a:ext cx="548640" cy="1051560"/>
          </a:xfrm>
          <a:prstGeom prst="rect">
            <a:avLst/>
          </a:prstGeom>
          <a:solidFill>
            <a:srgbClr val="697D91"/>
          </a:solidFill>
          <a:ln w="12700">
            <a:solidFill>
              <a:srgbClr val="69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59" y="2651760"/>
            <a:ext cx="1325880" cy="228600"/>
          </a:xfrm>
          <a:prstGeom prst="rect">
            <a:avLst/>
          </a:prstGeom>
          <a:solidFill>
            <a:srgbClr val="EB9137"/>
          </a:solidFill>
          <a:ln w="1270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0" y="2880360"/>
            <a:ext cx="1051560" cy="640080"/>
          </a:xfrm>
          <a:prstGeom prst="rect">
            <a:avLst/>
          </a:prstGeom>
          <a:solidFill>
            <a:srgbClr val="B9C5CF"/>
          </a:solidFill>
          <a:ln w="12700">
            <a:solidFill>
              <a:srgbClr val="69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52359" y="2148840"/>
            <a:ext cx="365760" cy="548640"/>
          </a:xfrm>
          <a:prstGeom prst="rect">
            <a:avLst/>
          </a:prstGeom>
          <a:solidFill>
            <a:srgbClr val="2369AA"/>
          </a:solidFill>
          <a:ln w="12700"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7635240" y="1828800"/>
            <a:ext cx="0" cy="320040"/>
          </a:xfrm>
          <a:prstGeom prst="line">
            <a:avLst/>
          </a:prstGeom>
          <a:ln w="25400">
            <a:solidFill>
              <a:srgbClr val="23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205472" y="2926080"/>
            <a:ext cx="0" cy="502920"/>
          </a:xfrm>
          <a:prstGeom prst="line">
            <a:avLst/>
          </a:prstGeom>
          <a:ln w="10160">
            <a:solidFill>
              <a:srgbClr val="697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34071" y="2926080"/>
            <a:ext cx="0" cy="502920"/>
          </a:xfrm>
          <a:prstGeom prst="line">
            <a:avLst/>
          </a:prstGeom>
          <a:ln w="10160">
            <a:solidFill>
              <a:srgbClr val="697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662671" y="2926080"/>
            <a:ext cx="0" cy="502920"/>
          </a:xfrm>
          <a:prstGeom prst="line">
            <a:avLst/>
          </a:prstGeom>
          <a:ln w="10160">
            <a:solidFill>
              <a:srgbClr val="697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891271" y="2926080"/>
            <a:ext cx="0" cy="502920"/>
          </a:xfrm>
          <a:prstGeom prst="line">
            <a:avLst/>
          </a:prstGeom>
          <a:ln w="10160">
            <a:solidFill>
              <a:srgbClr val="697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172200" y="4572000"/>
            <a:ext cx="27889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42A48"/>
                </a:solidFill>
                <a:latin typeface="Aptos"/>
              </a:rPr>
              <a:t>CNC milling / drilling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72600" y="2057400"/>
            <a:ext cx="1417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829800" y="2286000"/>
            <a:ext cx="502920" cy="502920"/>
          </a:xfrm>
          <a:prstGeom prst="rect">
            <a:avLst/>
          </a:prstGeom>
          <a:solidFill>
            <a:srgbClr val="EB9137"/>
          </a:solidFill>
          <a:ln w="1270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92640" y="3246120"/>
            <a:ext cx="777240" cy="502920"/>
          </a:xfrm>
          <a:prstGeom prst="rect">
            <a:avLst/>
          </a:prstGeom>
          <a:solidFill>
            <a:srgbClr val="B9C5CF"/>
          </a:solidFill>
          <a:ln w="12700">
            <a:solidFill>
              <a:srgbClr val="69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H="1">
            <a:off x="10012680" y="2834640"/>
            <a:ext cx="45720" cy="320040"/>
          </a:xfrm>
          <a:prstGeom prst="line">
            <a:avLst/>
          </a:prstGeom>
          <a:ln w="17780">
            <a:solidFill>
              <a:srgbClr val="EB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0104119" y="2834640"/>
            <a:ext cx="45721" cy="320040"/>
          </a:xfrm>
          <a:prstGeom prst="line">
            <a:avLst/>
          </a:prstGeom>
          <a:ln w="17780">
            <a:solidFill>
              <a:srgbClr val="EB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0195559" y="2834640"/>
            <a:ext cx="45721" cy="320040"/>
          </a:xfrm>
          <a:prstGeom prst="line">
            <a:avLst/>
          </a:prstGeom>
          <a:ln w="17780">
            <a:solidFill>
              <a:srgbClr val="EB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81159" y="4572000"/>
            <a:ext cx="16002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42A48"/>
                </a:solidFill>
                <a:latin typeface="Aptos"/>
              </a:rPr>
              <a:t>EDM / wire EDM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5166360"/>
            <a:ext cx="507492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2A3440"/>
                </a:solidFill>
                <a:latin typeface="Aptos"/>
              </a:rPr>
              <a:t>Rough machine → semi-finish → finish machine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6327648"/>
            <a:ext cx="107899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>
                <a:solidFill>
                  <a:srgbClr val="647382"/>
                </a:solidFill>
                <a:latin typeface="Aptos"/>
              </a:rPr>
              <a:t>Leave suitable allowance for heat treatment and finishing operations.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142A48"/>
                </a:solidFill>
                <a:latin typeface="Aptos"/>
              </a:rPr>
              <a:t>9. CNC Milling &amp; Drilling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97280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647382"/>
                </a:solidFill>
                <a:latin typeface="Aptos"/>
              </a:rPr>
              <a:t>Create the main mould geometry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88136"/>
            <a:ext cx="1143000" cy="50292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47382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4709160" cy="4892040"/>
          </a:xfrm>
          <a:prstGeom prst="rect">
            <a:avLst/>
          </a:prstGeom>
          <a:noFill/>
        </p:spPr>
        <p:txBody>
          <a:bodyPr wrap="square" lIns="73152" rIns="54864" tIns="54864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Rough-machine plates, pockets and insert seats.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Semi-finish and finish core/cavity profiles.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Machine holes for guide pillars, bushes and fasteners.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Drill cooling channels and ports as designed.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Use workholding and toolpaths that control distortion.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371600"/>
            <a:ext cx="5989320" cy="4983480"/>
          </a:xfrm>
          <a:prstGeom prst="roundRect">
            <a:avLst/>
          </a:prstGeom>
          <a:solidFill>
            <a:srgbClr val="EFF5F9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26479" y="1965960"/>
            <a:ext cx="2880360" cy="2468880"/>
          </a:xfrm>
          <a:prstGeom prst="roundRect">
            <a:avLst/>
          </a:prstGeom>
          <a:solidFill>
            <a:srgbClr val="E1E8ED"/>
          </a:solidFill>
          <a:ln w="12700">
            <a:solidFill>
              <a:srgbClr val="69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46520" y="2240280"/>
            <a:ext cx="548640" cy="1051560"/>
          </a:xfrm>
          <a:prstGeom prst="rect">
            <a:avLst/>
          </a:prstGeom>
          <a:solidFill>
            <a:srgbClr val="697D91"/>
          </a:solidFill>
          <a:ln w="12700">
            <a:solidFill>
              <a:srgbClr val="69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59" y="2651760"/>
            <a:ext cx="1325880" cy="228600"/>
          </a:xfrm>
          <a:prstGeom prst="rect">
            <a:avLst/>
          </a:prstGeom>
          <a:solidFill>
            <a:srgbClr val="EB9137"/>
          </a:solidFill>
          <a:ln w="1270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0" y="2880360"/>
            <a:ext cx="1051560" cy="640080"/>
          </a:xfrm>
          <a:prstGeom prst="rect">
            <a:avLst/>
          </a:prstGeom>
          <a:solidFill>
            <a:srgbClr val="B9C5CF"/>
          </a:solidFill>
          <a:ln w="12700">
            <a:solidFill>
              <a:srgbClr val="69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52359" y="2148840"/>
            <a:ext cx="365760" cy="548640"/>
          </a:xfrm>
          <a:prstGeom prst="rect">
            <a:avLst/>
          </a:prstGeom>
          <a:solidFill>
            <a:srgbClr val="2369AA"/>
          </a:solidFill>
          <a:ln w="12700"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7635240" y="1828800"/>
            <a:ext cx="0" cy="320040"/>
          </a:xfrm>
          <a:prstGeom prst="line">
            <a:avLst/>
          </a:prstGeom>
          <a:ln w="25400">
            <a:solidFill>
              <a:srgbClr val="23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205472" y="2926080"/>
            <a:ext cx="0" cy="502920"/>
          </a:xfrm>
          <a:prstGeom prst="line">
            <a:avLst/>
          </a:prstGeom>
          <a:ln w="10160">
            <a:solidFill>
              <a:srgbClr val="697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34071" y="2926080"/>
            <a:ext cx="0" cy="502920"/>
          </a:xfrm>
          <a:prstGeom prst="line">
            <a:avLst/>
          </a:prstGeom>
          <a:ln w="10160">
            <a:solidFill>
              <a:srgbClr val="697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662671" y="2926080"/>
            <a:ext cx="0" cy="502920"/>
          </a:xfrm>
          <a:prstGeom prst="line">
            <a:avLst/>
          </a:prstGeom>
          <a:ln w="10160">
            <a:solidFill>
              <a:srgbClr val="697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891271" y="2926080"/>
            <a:ext cx="0" cy="502920"/>
          </a:xfrm>
          <a:prstGeom prst="line">
            <a:avLst/>
          </a:prstGeom>
          <a:ln w="10160">
            <a:solidFill>
              <a:srgbClr val="697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172200" y="4572000"/>
            <a:ext cx="27889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42A48"/>
                </a:solidFill>
                <a:latin typeface="Aptos"/>
              </a:rPr>
              <a:t>CNC milling / drilling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72600" y="2057400"/>
            <a:ext cx="1417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829800" y="2286000"/>
            <a:ext cx="502920" cy="502920"/>
          </a:xfrm>
          <a:prstGeom prst="rect">
            <a:avLst/>
          </a:prstGeom>
          <a:solidFill>
            <a:srgbClr val="EB9137"/>
          </a:solidFill>
          <a:ln w="1270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92640" y="3246120"/>
            <a:ext cx="777240" cy="502920"/>
          </a:xfrm>
          <a:prstGeom prst="rect">
            <a:avLst/>
          </a:prstGeom>
          <a:solidFill>
            <a:srgbClr val="B9C5CF"/>
          </a:solidFill>
          <a:ln w="12700">
            <a:solidFill>
              <a:srgbClr val="69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H="1">
            <a:off x="10012680" y="2834640"/>
            <a:ext cx="45720" cy="320040"/>
          </a:xfrm>
          <a:prstGeom prst="line">
            <a:avLst/>
          </a:prstGeom>
          <a:ln w="17780">
            <a:solidFill>
              <a:srgbClr val="EB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0104119" y="2834640"/>
            <a:ext cx="45721" cy="320040"/>
          </a:xfrm>
          <a:prstGeom prst="line">
            <a:avLst/>
          </a:prstGeom>
          <a:ln w="17780">
            <a:solidFill>
              <a:srgbClr val="EB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0195559" y="2834640"/>
            <a:ext cx="45721" cy="320040"/>
          </a:xfrm>
          <a:prstGeom prst="line">
            <a:avLst/>
          </a:prstGeom>
          <a:ln w="17780">
            <a:solidFill>
              <a:srgbClr val="EB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81159" y="4572000"/>
            <a:ext cx="16002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42A48"/>
                </a:solidFill>
                <a:latin typeface="Aptos"/>
              </a:rPr>
              <a:t>EDM / wire EDM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5166360"/>
            <a:ext cx="507492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2A3440"/>
                </a:solidFill>
                <a:latin typeface="Aptos"/>
              </a:rPr>
              <a:t>Rough machine → semi-finish → finish machine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6327648"/>
            <a:ext cx="107899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>
                <a:solidFill>
                  <a:srgbClr val="647382"/>
                </a:solidFill>
                <a:latin typeface="Aptos"/>
              </a:rPr>
              <a:t>Use approved feeds, speeds, coolant and guarding for the machine and material.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142A48"/>
                </a:solidFill>
                <a:latin typeface="Aptos"/>
              </a:rPr>
              <a:t>10. EDM &amp; Wire EDM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97280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647382"/>
                </a:solidFill>
                <a:latin typeface="Aptos"/>
              </a:rPr>
              <a:t>Machine details that cutters cannot reach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88136"/>
            <a:ext cx="1143000" cy="50292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47382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4709160" cy="4892040"/>
          </a:xfrm>
          <a:prstGeom prst="rect">
            <a:avLst/>
          </a:prstGeom>
          <a:noFill/>
        </p:spPr>
        <p:txBody>
          <a:bodyPr wrap="square" lIns="73152" rIns="54864" tIns="54864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Use sinker EDM for deep ribs, sharp internal details and complex pockets.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Use wire EDM for accurate through-profiles and inserts.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Prepare electrodes and compensate for the required spark gap.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Control recast layer and surface integrity where critical.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Inspect EDM dimensions and finish before polishing.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371600"/>
            <a:ext cx="5989320" cy="4983480"/>
          </a:xfrm>
          <a:prstGeom prst="roundRect">
            <a:avLst/>
          </a:prstGeom>
          <a:solidFill>
            <a:srgbClr val="EFF5F9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26479" y="1965960"/>
            <a:ext cx="2880360" cy="2468880"/>
          </a:xfrm>
          <a:prstGeom prst="roundRect">
            <a:avLst/>
          </a:prstGeom>
          <a:solidFill>
            <a:srgbClr val="E1E8ED"/>
          </a:solidFill>
          <a:ln w="12700">
            <a:solidFill>
              <a:srgbClr val="69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46520" y="2240280"/>
            <a:ext cx="548640" cy="1051560"/>
          </a:xfrm>
          <a:prstGeom prst="rect">
            <a:avLst/>
          </a:prstGeom>
          <a:solidFill>
            <a:srgbClr val="697D91"/>
          </a:solidFill>
          <a:ln w="12700">
            <a:solidFill>
              <a:srgbClr val="69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59" y="2651760"/>
            <a:ext cx="1325880" cy="228600"/>
          </a:xfrm>
          <a:prstGeom prst="rect">
            <a:avLst/>
          </a:prstGeom>
          <a:solidFill>
            <a:srgbClr val="EB9137"/>
          </a:solidFill>
          <a:ln w="1270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0" y="2880360"/>
            <a:ext cx="1051560" cy="640080"/>
          </a:xfrm>
          <a:prstGeom prst="rect">
            <a:avLst/>
          </a:prstGeom>
          <a:solidFill>
            <a:srgbClr val="B9C5CF"/>
          </a:solidFill>
          <a:ln w="12700">
            <a:solidFill>
              <a:srgbClr val="69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52359" y="2148840"/>
            <a:ext cx="365760" cy="548640"/>
          </a:xfrm>
          <a:prstGeom prst="rect">
            <a:avLst/>
          </a:prstGeom>
          <a:solidFill>
            <a:srgbClr val="2369AA"/>
          </a:solidFill>
          <a:ln w="12700"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7635240" y="1828800"/>
            <a:ext cx="0" cy="320040"/>
          </a:xfrm>
          <a:prstGeom prst="line">
            <a:avLst/>
          </a:prstGeom>
          <a:ln w="25400">
            <a:solidFill>
              <a:srgbClr val="23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205472" y="2926080"/>
            <a:ext cx="0" cy="502920"/>
          </a:xfrm>
          <a:prstGeom prst="line">
            <a:avLst/>
          </a:prstGeom>
          <a:ln w="10160">
            <a:solidFill>
              <a:srgbClr val="697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34071" y="2926080"/>
            <a:ext cx="0" cy="502920"/>
          </a:xfrm>
          <a:prstGeom prst="line">
            <a:avLst/>
          </a:prstGeom>
          <a:ln w="10160">
            <a:solidFill>
              <a:srgbClr val="697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662671" y="2926080"/>
            <a:ext cx="0" cy="502920"/>
          </a:xfrm>
          <a:prstGeom prst="line">
            <a:avLst/>
          </a:prstGeom>
          <a:ln w="10160">
            <a:solidFill>
              <a:srgbClr val="697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891271" y="2926080"/>
            <a:ext cx="0" cy="502920"/>
          </a:xfrm>
          <a:prstGeom prst="line">
            <a:avLst/>
          </a:prstGeom>
          <a:ln w="10160">
            <a:solidFill>
              <a:srgbClr val="697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172200" y="4572000"/>
            <a:ext cx="27889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42A48"/>
                </a:solidFill>
                <a:latin typeface="Aptos"/>
              </a:rPr>
              <a:t>CNC milling / drilling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72600" y="2057400"/>
            <a:ext cx="1417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829800" y="2286000"/>
            <a:ext cx="502920" cy="502920"/>
          </a:xfrm>
          <a:prstGeom prst="rect">
            <a:avLst/>
          </a:prstGeom>
          <a:solidFill>
            <a:srgbClr val="EB9137"/>
          </a:solidFill>
          <a:ln w="1270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92640" y="3246120"/>
            <a:ext cx="777240" cy="502920"/>
          </a:xfrm>
          <a:prstGeom prst="rect">
            <a:avLst/>
          </a:prstGeom>
          <a:solidFill>
            <a:srgbClr val="B9C5CF"/>
          </a:solidFill>
          <a:ln w="12700">
            <a:solidFill>
              <a:srgbClr val="69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H="1">
            <a:off x="10012680" y="2834640"/>
            <a:ext cx="45720" cy="320040"/>
          </a:xfrm>
          <a:prstGeom prst="line">
            <a:avLst/>
          </a:prstGeom>
          <a:ln w="17780">
            <a:solidFill>
              <a:srgbClr val="EB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0104119" y="2834640"/>
            <a:ext cx="45721" cy="320040"/>
          </a:xfrm>
          <a:prstGeom prst="line">
            <a:avLst/>
          </a:prstGeom>
          <a:ln w="17780">
            <a:solidFill>
              <a:srgbClr val="EB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0195559" y="2834640"/>
            <a:ext cx="45721" cy="320040"/>
          </a:xfrm>
          <a:prstGeom prst="line">
            <a:avLst/>
          </a:prstGeom>
          <a:ln w="17780">
            <a:solidFill>
              <a:srgbClr val="EB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81159" y="4572000"/>
            <a:ext cx="16002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42A48"/>
                </a:solidFill>
                <a:latin typeface="Aptos"/>
              </a:rPr>
              <a:t>EDM / wire EDM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5166360"/>
            <a:ext cx="507492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2A3440"/>
                </a:solidFill>
                <a:latin typeface="Aptos"/>
              </a:rPr>
              <a:t>Rough machine → semi-finish → finish machine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6327648"/>
            <a:ext cx="107899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>
                <a:solidFill>
                  <a:srgbClr val="647382"/>
                </a:solidFill>
                <a:latin typeface="Aptos"/>
              </a:rPr>
              <a:t>EDM parameters and post-processing depend on steel grade and required surface quality.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142A48"/>
                </a:solidFill>
                <a:latin typeface="Aptos"/>
              </a:rPr>
              <a:t>11. Heat Treatment &amp; Stress Relief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97280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647382"/>
                </a:solidFill>
                <a:latin typeface="Aptos"/>
              </a:rPr>
              <a:t>Stability and hardness must be controlled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88136"/>
            <a:ext cx="1143000" cy="50292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47382"/>
                </a:solidFill>
                <a:latin typeface="Apto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4709160" cy="4892040"/>
          </a:xfrm>
          <a:prstGeom prst="rect">
            <a:avLst/>
          </a:prstGeom>
          <a:noFill/>
        </p:spPr>
        <p:txBody>
          <a:bodyPr wrap="square" lIns="73152" rIns="54864" tIns="54864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Apply stress relief or hardening only as specified for the steel.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Use a qualified heat-treatment supplier and documented cycle.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Control distortion; plan allowance for post-treatment grinding.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Verify hardness at specified locations.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Inspect cracks, dimensions and material traceability after treatment.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371600"/>
            <a:ext cx="5989320" cy="4983480"/>
          </a:xfrm>
          <a:prstGeom prst="roundRect">
            <a:avLst/>
          </a:prstGeom>
          <a:solidFill>
            <a:srgbClr val="EFF5F9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80759" y="2194560"/>
            <a:ext cx="2286000" cy="1463040"/>
          </a:xfrm>
          <a:prstGeom prst="roundRect">
            <a:avLst/>
          </a:prstGeom>
          <a:solidFill>
            <a:srgbClr val="697D91"/>
          </a:solidFill>
          <a:ln w="12700">
            <a:solidFill>
              <a:srgbClr val="69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6263640" y="2331720"/>
            <a:ext cx="0" cy="1188720"/>
          </a:xfrm>
          <a:prstGeom prst="line">
            <a:avLst/>
          </a:prstGeom>
          <a:ln w="10160">
            <a:solidFill>
              <a:srgbClr val="96AA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647688" y="2331720"/>
            <a:ext cx="0" cy="1188720"/>
          </a:xfrm>
          <a:prstGeom prst="line">
            <a:avLst/>
          </a:prstGeom>
          <a:ln w="10160">
            <a:solidFill>
              <a:srgbClr val="96AA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031736" y="2331720"/>
            <a:ext cx="0" cy="1188720"/>
          </a:xfrm>
          <a:prstGeom prst="line">
            <a:avLst/>
          </a:prstGeom>
          <a:ln w="10160">
            <a:solidFill>
              <a:srgbClr val="96AA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415783" y="2331720"/>
            <a:ext cx="0" cy="1188720"/>
          </a:xfrm>
          <a:prstGeom prst="line">
            <a:avLst/>
          </a:prstGeom>
          <a:ln w="10160">
            <a:solidFill>
              <a:srgbClr val="96AA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99831" y="2331720"/>
            <a:ext cx="0" cy="1188720"/>
          </a:xfrm>
          <a:prstGeom prst="line">
            <a:avLst/>
          </a:prstGeom>
          <a:ln w="10160">
            <a:solidFill>
              <a:srgbClr val="96AA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080759" y="3794760"/>
            <a:ext cx="22860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42A48"/>
                </a:solidFill>
                <a:latin typeface="Aptos"/>
              </a:rPr>
              <a:t>Certified tool steel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59" y="2011680"/>
            <a:ext cx="19659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79408" y="2194560"/>
            <a:ext cx="16459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2369AA"/>
                </a:solidFill>
                <a:latin typeface="Aptos"/>
              </a:rPr>
              <a:t>MATERIAL CERT.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052559" y="2697480"/>
            <a:ext cx="1417321" cy="0"/>
          </a:xfrm>
          <a:prstGeom prst="line">
            <a:avLst/>
          </a:prstGeom>
          <a:ln w="12700">
            <a:solidFill>
              <a:srgbClr val="B9C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052559" y="2926080"/>
            <a:ext cx="1417321" cy="0"/>
          </a:xfrm>
          <a:prstGeom prst="line">
            <a:avLst/>
          </a:prstGeom>
          <a:ln w="12700">
            <a:solidFill>
              <a:srgbClr val="B9C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052559" y="3154680"/>
            <a:ext cx="1417321" cy="0"/>
          </a:xfrm>
          <a:prstGeom prst="line">
            <a:avLst/>
          </a:prstGeom>
          <a:ln w="12700">
            <a:solidFill>
              <a:srgbClr val="B9C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052559" y="3383280"/>
            <a:ext cx="1417321" cy="0"/>
          </a:xfrm>
          <a:prstGeom prst="line">
            <a:avLst/>
          </a:prstGeom>
          <a:ln w="12700">
            <a:solidFill>
              <a:srgbClr val="B9C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052559" y="3611880"/>
            <a:ext cx="1417321" cy="0"/>
          </a:xfrm>
          <a:prstGeom prst="line">
            <a:avLst/>
          </a:prstGeom>
          <a:ln w="12700">
            <a:solidFill>
              <a:srgbClr val="B9C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738359" y="3611880"/>
            <a:ext cx="640080" cy="274320"/>
          </a:xfrm>
          <a:prstGeom prst="roundRect">
            <a:avLst/>
          </a:prstGeom>
          <a:solidFill>
            <a:srgbClr val="DCEBF6"/>
          </a:solidFill>
          <a:ln w="12700"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0759" y="4617720"/>
            <a:ext cx="4983479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2A3440"/>
                </a:solidFill>
                <a:latin typeface="Aptos"/>
              </a:rPr>
              <a:t>Select grade for resin, volume, wear, corrosion and required life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6327648"/>
            <a:ext cx="107899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>
                <a:solidFill>
                  <a:srgbClr val="647382"/>
                </a:solidFill>
                <a:latin typeface="Aptos"/>
              </a:rPr>
              <a:t>Not every steel or component needs the same heat-treatment route.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142A48"/>
                </a:solidFill>
                <a:latin typeface="Aptos"/>
              </a:rPr>
              <a:t>12. Grinding, Lapping &amp; Polishing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97280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647382"/>
                </a:solidFill>
                <a:latin typeface="Aptos"/>
              </a:rPr>
              <a:t>Achieve fit and required surface finish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88136"/>
            <a:ext cx="1143000" cy="50292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47382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4709160" cy="4892040"/>
          </a:xfrm>
          <a:prstGeom prst="rect">
            <a:avLst/>
          </a:prstGeom>
          <a:noFill/>
        </p:spPr>
        <p:txBody>
          <a:bodyPr wrap="square" lIns="73152" rIns="54864" tIns="54864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Grind datums, shut-offs and mating surfaces to tolerance.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Lap critical sealing and sliding surfaces where required.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Polish cavity surfaces to the specified texture or gloss.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Protect sharp edges and avoid rounding shut-off details.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Measure flatness, parallelism and surface finish.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371600"/>
            <a:ext cx="5989320" cy="4983480"/>
          </a:xfrm>
          <a:prstGeom prst="roundRect">
            <a:avLst/>
          </a:prstGeom>
          <a:solidFill>
            <a:srgbClr val="EFF5F9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80759" y="2331720"/>
            <a:ext cx="1234440" cy="1097280"/>
          </a:xfrm>
          <a:prstGeom prst="roundRect">
            <a:avLst/>
          </a:prstGeom>
          <a:solidFill>
            <a:srgbClr val="697D91"/>
          </a:solidFill>
          <a:ln w="12700">
            <a:solidFill>
              <a:srgbClr val="69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6217920" y="2560320"/>
            <a:ext cx="960120" cy="0"/>
          </a:xfrm>
          <a:prstGeom prst="line">
            <a:avLst/>
          </a:prstGeom>
          <a:ln w="76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217920" y="2724912"/>
            <a:ext cx="960120" cy="0"/>
          </a:xfrm>
          <a:prstGeom prst="line">
            <a:avLst/>
          </a:prstGeom>
          <a:ln w="76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217920" y="2889503"/>
            <a:ext cx="960120" cy="0"/>
          </a:xfrm>
          <a:prstGeom prst="line">
            <a:avLst/>
          </a:prstGeom>
          <a:ln w="76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217920" y="3054096"/>
            <a:ext cx="960120" cy="0"/>
          </a:xfrm>
          <a:prstGeom prst="line">
            <a:avLst/>
          </a:prstGeom>
          <a:ln w="76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035040" y="3611880"/>
            <a:ext cx="132588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42A48"/>
                </a:solidFill>
                <a:latin typeface="Aptos"/>
              </a:rPr>
              <a:t>Milled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42631" y="2880360"/>
            <a:ext cx="384048" cy="0"/>
          </a:xfrm>
          <a:prstGeom prst="line">
            <a:avLst/>
          </a:prstGeom>
          <a:ln w="25400">
            <a:solidFill>
              <a:srgbClr val="EB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863840" y="2331720"/>
            <a:ext cx="1234440" cy="1097280"/>
          </a:xfrm>
          <a:prstGeom prst="roundRect">
            <a:avLst/>
          </a:prstGeom>
          <a:solidFill>
            <a:srgbClr val="2369AA"/>
          </a:solidFill>
          <a:ln w="12700"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8001000" y="2560320"/>
            <a:ext cx="960119" cy="0"/>
          </a:xfrm>
          <a:prstGeom prst="line">
            <a:avLst/>
          </a:prstGeom>
          <a:ln w="76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01000" y="2724912"/>
            <a:ext cx="960119" cy="0"/>
          </a:xfrm>
          <a:prstGeom prst="line">
            <a:avLst/>
          </a:prstGeom>
          <a:ln w="76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001000" y="2889503"/>
            <a:ext cx="960119" cy="0"/>
          </a:xfrm>
          <a:prstGeom prst="line">
            <a:avLst/>
          </a:prstGeom>
          <a:ln w="76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001000" y="3054096"/>
            <a:ext cx="960119" cy="0"/>
          </a:xfrm>
          <a:prstGeom prst="line">
            <a:avLst/>
          </a:prstGeom>
          <a:ln w="76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818119" y="3611880"/>
            <a:ext cx="132588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42A48"/>
                </a:solidFill>
                <a:latin typeface="Aptos"/>
              </a:rPr>
              <a:t>Ground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125712" y="2880360"/>
            <a:ext cx="384048" cy="0"/>
          </a:xfrm>
          <a:prstGeom prst="line">
            <a:avLst/>
          </a:prstGeom>
          <a:ln w="25400">
            <a:solidFill>
              <a:srgbClr val="EB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646919" y="2331720"/>
            <a:ext cx="1234440" cy="1097280"/>
          </a:xfrm>
          <a:prstGeom prst="roundRect">
            <a:avLst/>
          </a:prstGeom>
          <a:solidFill>
            <a:srgbClr val="37AABE"/>
          </a:solidFill>
          <a:ln w="12700">
            <a:solidFill>
              <a:srgbClr val="37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9784080" y="2560320"/>
            <a:ext cx="960119" cy="0"/>
          </a:xfrm>
          <a:prstGeom prst="line">
            <a:avLst/>
          </a:prstGeom>
          <a:ln w="76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784080" y="2724912"/>
            <a:ext cx="960119" cy="0"/>
          </a:xfrm>
          <a:prstGeom prst="line">
            <a:avLst/>
          </a:prstGeom>
          <a:ln w="76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784080" y="2889503"/>
            <a:ext cx="960119" cy="0"/>
          </a:xfrm>
          <a:prstGeom prst="line">
            <a:avLst/>
          </a:prstGeom>
          <a:ln w="76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784080" y="3054096"/>
            <a:ext cx="960119" cy="0"/>
          </a:xfrm>
          <a:prstGeom prst="line">
            <a:avLst/>
          </a:prstGeom>
          <a:ln w="76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601199" y="3611880"/>
            <a:ext cx="132588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42A48"/>
                </a:solidFill>
                <a:latin typeface="Aptos"/>
              </a:rPr>
              <a:t>Polished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4389120"/>
            <a:ext cx="44805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79" y="4480560"/>
            <a:ext cx="429768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2A3440"/>
                </a:solidFill>
                <a:latin typeface="Aptos"/>
              </a:rPr>
              <a:t>Measure: dimensions • flatness • surface finish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6327648"/>
            <a:ext cx="107899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>
                <a:solidFill>
                  <a:srgbClr val="647382"/>
                </a:solidFill>
                <a:latin typeface="Aptos"/>
              </a:rPr>
              <a:t>Cosmetic texture may require chemical etching, laser texturing or other approved finishing.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142A48"/>
                </a:solidFill>
                <a:latin typeface="Aptos"/>
              </a:rPr>
              <a:t>13. Cooling System Manufacture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97280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647382"/>
                </a:solidFill>
                <a:latin typeface="Aptos"/>
              </a:rPr>
              <a:t>Build and verify the heat-removal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88136"/>
            <a:ext cx="1143000" cy="50292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47382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4709160" cy="4892040"/>
          </a:xfrm>
          <a:prstGeom prst="rect">
            <a:avLst/>
          </a:prstGeom>
          <a:noFill/>
        </p:spPr>
        <p:txBody>
          <a:bodyPr wrap="square" lIns="73152" rIns="54864" tIns="54864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Machine drilled or conformal cooling passages per design.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Deburr and clean channels to prevent blockage.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Install plugs, baffles, bubblers and connectors as specified.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Pressure-test circuits and check for leakage.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Label inlet/outlet circuits and confirm flow direction.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371600"/>
            <a:ext cx="5989320" cy="4983480"/>
          </a:xfrm>
          <a:prstGeom prst="roundRect">
            <a:avLst/>
          </a:prstGeom>
          <a:solidFill>
            <a:srgbClr val="EFF5F9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0" y="2057400"/>
            <a:ext cx="4206240" cy="2560320"/>
          </a:xfrm>
          <a:prstGeom prst="roundRect">
            <a:avLst/>
          </a:prstGeom>
          <a:solidFill>
            <a:srgbClr val="B9C5CF"/>
          </a:solidFill>
          <a:ln w="12700">
            <a:solidFill>
              <a:srgbClr val="69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6720840" y="2468880"/>
            <a:ext cx="3383280" cy="0"/>
          </a:xfrm>
          <a:prstGeom prst="line">
            <a:avLst/>
          </a:prstGeom>
          <a:ln w="50800">
            <a:solidFill>
              <a:srgbClr val="37A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104120" y="2468880"/>
            <a:ext cx="0" cy="411480"/>
          </a:xfrm>
          <a:prstGeom prst="line">
            <a:avLst/>
          </a:prstGeom>
          <a:ln w="50800">
            <a:solidFill>
              <a:srgbClr val="37A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6903720" y="2880360"/>
            <a:ext cx="3200400" cy="0"/>
          </a:xfrm>
          <a:prstGeom prst="line">
            <a:avLst/>
          </a:prstGeom>
          <a:ln w="50800">
            <a:solidFill>
              <a:srgbClr val="37A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903720" y="2880360"/>
            <a:ext cx="0" cy="411480"/>
          </a:xfrm>
          <a:prstGeom prst="line">
            <a:avLst/>
          </a:prstGeom>
          <a:ln w="50800">
            <a:solidFill>
              <a:srgbClr val="37A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903720" y="3291840"/>
            <a:ext cx="3200400" cy="0"/>
          </a:xfrm>
          <a:prstGeom prst="line">
            <a:avLst/>
          </a:prstGeom>
          <a:ln w="50800">
            <a:solidFill>
              <a:srgbClr val="37A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104120" y="3291840"/>
            <a:ext cx="0" cy="411480"/>
          </a:xfrm>
          <a:prstGeom prst="line">
            <a:avLst/>
          </a:prstGeom>
          <a:ln w="50800">
            <a:solidFill>
              <a:srgbClr val="37A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6720840" y="3703320"/>
            <a:ext cx="3383280" cy="0"/>
          </a:xfrm>
          <a:prstGeom prst="line">
            <a:avLst/>
          </a:prstGeom>
          <a:ln w="50800">
            <a:solidFill>
              <a:srgbClr val="37A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080759" y="2286000"/>
            <a:ext cx="320040" cy="365760"/>
          </a:xfrm>
          <a:prstGeom prst="roundRect">
            <a:avLst/>
          </a:prstGeom>
          <a:solidFill>
            <a:srgbClr val="2369AA"/>
          </a:solidFill>
          <a:ln w="12700"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607040" y="3611880"/>
            <a:ext cx="320040" cy="365760"/>
          </a:xfrm>
          <a:prstGeom prst="roundRect">
            <a:avLst/>
          </a:prstGeom>
          <a:solidFill>
            <a:srgbClr val="2369AA"/>
          </a:solidFill>
          <a:ln w="12700"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6217920" y="2468880"/>
            <a:ext cx="228600" cy="0"/>
          </a:xfrm>
          <a:prstGeom prst="line">
            <a:avLst/>
          </a:prstGeom>
          <a:ln w="25400">
            <a:solidFill>
              <a:srgbClr val="23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287000" y="3794760"/>
            <a:ext cx="320040" cy="0"/>
          </a:xfrm>
          <a:prstGeom prst="line">
            <a:avLst/>
          </a:prstGeom>
          <a:ln w="25400">
            <a:solidFill>
              <a:srgbClr val="23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92240" y="4846320"/>
            <a:ext cx="402336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42A48"/>
                </a:solidFill>
                <a:latin typeface="Aptos"/>
              </a:rPr>
              <a:t>Balanced cooling circuit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5394960"/>
            <a:ext cx="50749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2A3440"/>
                </a:solidFill>
                <a:latin typeface="Aptos"/>
              </a:rPr>
              <a:t>Pressure-test channels before assembly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327648"/>
            <a:ext cx="107899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>
                <a:solidFill>
                  <a:srgbClr val="647382"/>
                </a:solidFill>
                <a:latin typeface="Aptos"/>
              </a:rPr>
              <a:t>Cooling layouts must account for strength, sealing and serviceability.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142A48"/>
                </a:solidFill>
                <a:latin typeface="Aptos"/>
              </a:rPr>
              <a:t>14. Vents, Gates &amp; Runner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97280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647382"/>
                </a:solidFill>
                <a:latin typeface="Aptos"/>
              </a:rPr>
              <a:t>Control filling and trapped air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88136"/>
            <a:ext cx="1143000" cy="50292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47382"/>
                </a:solidFill>
                <a:latin typeface="Apto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4709160" cy="4892040"/>
          </a:xfrm>
          <a:prstGeom prst="rect">
            <a:avLst/>
          </a:prstGeom>
          <a:noFill/>
        </p:spPr>
        <p:txBody>
          <a:bodyPr wrap="square" lIns="73152" rIns="54864" tIns="54864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Machine gate and runner dimensions to the approved design.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Provide vents at likely air-trap and end-of-fill locations.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Avoid excessive vent depth that could cause flash.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Keep vent paths clean and accessible for maintenance.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Review gate location for weld lines, packing and appearance.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371600"/>
            <a:ext cx="5989320" cy="4983480"/>
          </a:xfrm>
          <a:prstGeom prst="roundRect">
            <a:avLst/>
          </a:prstGeom>
          <a:solidFill>
            <a:srgbClr val="EFF5F9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89320" y="1828800"/>
            <a:ext cx="283464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29400" y="2514600"/>
            <a:ext cx="1554480" cy="1005840"/>
          </a:xfrm>
          <a:prstGeom prst="rect">
            <a:avLst/>
          </a:prstGeom>
          <a:solidFill>
            <a:srgbClr val="DCEBF6"/>
          </a:solidFill>
          <a:ln w="19050"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76288" y="2743200"/>
            <a:ext cx="1051560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6583679" y="3703320"/>
            <a:ext cx="1645921" cy="0"/>
          </a:xfrm>
          <a:prstGeom prst="line">
            <a:avLst/>
          </a:prstGeom>
          <a:ln w="17780">
            <a:solidFill>
              <a:srgbClr val="EB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080759" y="4343400"/>
            <a:ext cx="265176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42A48"/>
                </a:solidFill>
                <a:latin typeface="Aptos"/>
              </a:rPr>
              <a:t>Part geometry &amp; draft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89720" y="1874519"/>
            <a:ext cx="914400" cy="2286000"/>
          </a:xfrm>
          <a:prstGeom prst="rect">
            <a:avLst/>
          </a:prstGeom>
          <a:solidFill>
            <a:srgbClr val="B9C5CF"/>
          </a:solidFill>
          <a:ln w="12700">
            <a:solidFill>
              <a:srgbClr val="69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95559" y="1874519"/>
            <a:ext cx="777240" cy="2286000"/>
          </a:xfrm>
          <a:prstGeom prst="rect">
            <a:avLst/>
          </a:prstGeom>
          <a:solidFill>
            <a:srgbClr val="D2DCE4"/>
          </a:solidFill>
          <a:ln w="12700">
            <a:solidFill>
              <a:srgbClr val="69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491472" y="2423160"/>
            <a:ext cx="329184" cy="1188720"/>
          </a:xfrm>
          <a:prstGeom prst="rect">
            <a:avLst/>
          </a:prstGeom>
          <a:solidFill>
            <a:srgbClr val="EB9137"/>
          </a:solidFill>
          <a:ln w="1270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369296" y="2423160"/>
            <a:ext cx="329184" cy="1188720"/>
          </a:xfrm>
          <a:prstGeom prst="rect">
            <a:avLst/>
          </a:prstGeom>
          <a:solidFill>
            <a:srgbClr val="37AABE"/>
          </a:solidFill>
          <a:ln w="12700">
            <a:solidFill>
              <a:srgbClr val="37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8961120" y="3017520"/>
            <a:ext cx="228600" cy="0"/>
          </a:xfrm>
          <a:prstGeom prst="line">
            <a:avLst/>
          </a:prstGeom>
          <a:ln w="25400">
            <a:solidFill>
              <a:srgbClr val="23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052559" y="4343400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42A48"/>
                </a:solidFill>
                <a:latin typeface="Aptos"/>
              </a:rPr>
              <a:t>Core / cavity layout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5074920"/>
            <a:ext cx="5166359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2A3440"/>
                </a:solidFill>
                <a:latin typeface="Aptos"/>
              </a:rPr>
              <a:t>Check shrinkage • parting line • ejection • cooling • venting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327648"/>
            <a:ext cx="107899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>
                <a:solidFill>
                  <a:srgbClr val="647382"/>
                </a:solidFill>
                <a:latin typeface="Aptos"/>
              </a:rPr>
              <a:t>Vent dimensions and gate sizes depend on resin, geometry and process window.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142A48"/>
                </a:solidFill>
                <a:latin typeface="Aptos"/>
              </a:rPr>
              <a:t>15. Ejection &amp; Side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97280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647382"/>
                </a:solidFill>
                <a:latin typeface="Aptos"/>
              </a:rPr>
              <a:t>Release the part without damage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88136"/>
            <a:ext cx="1143000" cy="50292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47382"/>
                </a:solidFill>
                <a:latin typeface="Apto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4709160" cy="4892040"/>
          </a:xfrm>
          <a:prstGeom prst="rect">
            <a:avLst/>
          </a:prstGeom>
          <a:noFill/>
        </p:spPr>
        <p:txBody>
          <a:bodyPr wrap="square" lIns="73152" rIns="54864" tIns="54864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Machine ejector holes and guide features accurately.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Fit pins, sleeves, blades or stripper systems as designed.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Check slides, lifters, angle pins and wear plates.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Verify clearance, lubrication and full travel.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Ensure ejectors return before the next mould close.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371600"/>
            <a:ext cx="5989320" cy="4983480"/>
          </a:xfrm>
          <a:prstGeom prst="roundRect">
            <a:avLst/>
          </a:prstGeom>
          <a:solidFill>
            <a:srgbClr val="EFF5F9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2103120"/>
            <a:ext cx="2011680" cy="2286000"/>
          </a:xfrm>
          <a:prstGeom prst="rect">
            <a:avLst/>
          </a:prstGeom>
          <a:solidFill>
            <a:srgbClr val="697D91"/>
          </a:solidFill>
          <a:ln w="12700">
            <a:solidFill>
              <a:srgbClr val="69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21040" y="2103120"/>
            <a:ext cx="2011680" cy="2286000"/>
          </a:xfrm>
          <a:prstGeom prst="rect">
            <a:avLst/>
          </a:prstGeom>
          <a:solidFill>
            <a:srgbClr val="B9C5CF"/>
          </a:solidFill>
          <a:ln w="12700">
            <a:solidFill>
              <a:srgbClr val="69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2103120"/>
            <a:ext cx="25603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59" y="2606040"/>
            <a:ext cx="457200" cy="1188720"/>
          </a:xfrm>
          <a:prstGeom prst="rect">
            <a:avLst/>
          </a:prstGeom>
          <a:solidFill>
            <a:srgbClr val="EB9137"/>
          </a:solidFill>
          <a:ln w="1270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98280" y="2606040"/>
            <a:ext cx="457200" cy="1188720"/>
          </a:xfrm>
          <a:prstGeom prst="rect">
            <a:avLst/>
          </a:prstGeom>
          <a:solidFill>
            <a:srgbClr val="37AABE"/>
          </a:solidFill>
          <a:ln w="12700">
            <a:solidFill>
              <a:srgbClr val="37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732520" y="3429000"/>
            <a:ext cx="109728" cy="1143000"/>
          </a:xfrm>
          <a:prstGeom prst="rect">
            <a:avLst/>
          </a:prstGeom>
          <a:solidFill>
            <a:srgbClr val="2369AA"/>
          </a:solidFill>
          <a:ln w="12700"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71432" y="3429000"/>
            <a:ext cx="109728" cy="1143000"/>
          </a:xfrm>
          <a:prstGeom prst="rect">
            <a:avLst/>
          </a:prstGeom>
          <a:solidFill>
            <a:srgbClr val="2369AA"/>
          </a:solidFill>
          <a:ln w="12700"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10344" y="3429000"/>
            <a:ext cx="109728" cy="1143000"/>
          </a:xfrm>
          <a:prstGeom prst="rect">
            <a:avLst/>
          </a:prstGeom>
          <a:solidFill>
            <a:srgbClr val="2369AA"/>
          </a:solidFill>
          <a:ln w="12700"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41080" y="4617720"/>
            <a:ext cx="1463040" cy="320040"/>
          </a:xfrm>
          <a:prstGeom prst="rect">
            <a:avLst/>
          </a:prstGeom>
          <a:solidFill>
            <a:srgbClr val="2369AA"/>
          </a:solidFill>
          <a:ln w="12700"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9372600" y="5120640"/>
            <a:ext cx="0" cy="411480"/>
          </a:xfrm>
          <a:prstGeom prst="line">
            <a:avLst/>
          </a:prstGeom>
          <a:ln w="25400">
            <a:solidFill>
              <a:srgbClr val="EB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80759" y="5623560"/>
            <a:ext cx="4983479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42A48"/>
                </a:solidFill>
                <a:latin typeface="Aptos"/>
              </a:rPr>
              <a:t>Pins / sleeves / stripper plate must move freely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327648"/>
            <a:ext cx="107899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>
                <a:solidFill>
                  <a:srgbClr val="647382"/>
                </a:solidFill>
                <a:latin typeface="Aptos"/>
              </a:rPr>
              <a:t>Avoid ejector placement on fragile or highly visible part surfaces where possible.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142A48"/>
                </a:solidFill>
                <a:latin typeface="Aptos"/>
              </a:rPr>
              <a:t>16. Bench Fitting &amp; Assembly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97280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647382"/>
                </a:solidFill>
                <a:latin typeface="Aptos"/>
              </a:rPr>
              <a:t>Fit components into a complete mould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88136"/>
            <a:ext cx="1143000" cy="50292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47382"/>
                </a:solidFill>
                <a:latin typeface="Aptos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4709160" cy="4892040"/>
          </a:xfrm>
          <a:prstGeom prst="rect">
            <a:avLst/>
          </a:prstGeom>
          <a:noFill/>
        </p:spPr>
        <p:txBody>
          <a:bodyPr wrap="square" lIns="73152" rIns="54864" tIns="54864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Clean all components and remove burrs before assembly.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Install inserts, leaders, bushes and locating features.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Check parting-line contact and shut-off blueing where appropriate.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Verify slide/lifter motion and ejector return.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Torque fasteners to the approved specification and protect moving surfaces.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371600"/>
            <a:ext cx="5989320" cy="4983480"/>
          </a:xfrm>
          <a:prstGeom prst="roundRect">
            <a:avLst/>
          </a:prstGeom>
          <a:solidFill>
            <a:srgbClr val="EFF5F9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89320" y="2423160"/>
            <a:ext cx="658368" cy="1828800"/>
          </a:xfrm>
          <a:prstGeom prst="roundRect">
            <a:avLst/>
          </a:prstGeom>
          <a:solidFill>
            <a:srgbClr val="142A48"/>
          </a:solidFill>
          <a:ln w="12700">
            <a:solidFill>
              <a:srgbClr val="14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16168" y="4343400"/>
            <a:ext cx="804672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42A48"/>
                </a:solidFill>
                <a:latin typeface="Aptos"/>
              </a:rPr>
              <a:t>Clamp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2423160"/>
            <a:ext cx="658368" cy="1828800"/>
          </a:xfrm>
          <a:prstGeom prst="roundRect">
            <a:avLst/>
          </a:prstGeom>
          <a:solidFill>
            <a:srgbClr val="697D91"/>
          </a:solidFill>
          <a:ln w="12700">
            <a:solidFill>
              <a:srgbClr val="69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4848" y="4343400"/>
            <a:ext cx="804672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42A48"/>
                </a:solidFill>
                <a:latin typeface="Aptos"/>
              </a:rPr>
              <a:t>Cavity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423160"/>
            <a:ext cx="658368" cy="1828800"/>
          </a:xfrm>
          <a:prstGeom prst="roundRect">
            <a:avLst/>
          </a:prstGeom>
          <a:solidFill>
            <a:srgbClr val="2369AA"/>
          </a:solidFill>
          <a:ln w="12700"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53527" y="4343400"/>
            <a:ext cx="804672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42A48"/>
                </a:solidFill>
                <a:latin typeface="Aptos"/>
              </a:rPr>
              <a:t>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59" y="2423160"/>
            <a:ext cx="658368" cy="1828800"/>
          </a:xfrm>
          <a:prstGeom prst="roundRect">
            <a:avLst/>
          </a:prstGeom>
          <a:solidFill>
            <a:srgbClr val="37AABE"/>
          </a:solidFill>
          <a:ln w="12700">
            <a:solidFill>
              <a:srgbClr val="37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22207" y="4343400"/>
            <a:ext cx="804672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42A48"/>
                </a:solidFill>
                <a:latin typeface="Aptos"/>
              </a:rPr>
              <a:t>Ejector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64040" y="2423160"/>
            <a:ext cx="658368" cy="1828800"/>
          </a:xfrm>
          <a:prstGeom prst="roundRect">
            <a:avLst/>
          </a:prstGeom>
          <a:solidFill>
            <a:srgbClr val="697D91"/>
          </a:solidFill>
          <a:ln w="12700">
            <a:solidFill>
              <a:srgbClr val="69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90888" y="4343400"/>
            <a:ext cx="804672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42A48"/>
                </a:solidFill>
                <a:latin typeface="Aptos"/>
              </a:rPr>
              <a:t>Support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332720" y="2423160"/>
            <a:ext cx="658368" cy="1828800"/>
          </a:xfrm>
          <a:prstGeom prst="roundRect">
            <a:avLst/>
          </a:prstGeom>
          <a:solidFill>
            <a:srgbClr val="142A48"/>
          </a:solidFill>
          <a:ln w="12700">
            <a:solidFill>
              <a:srgbClr val="14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59568" y="4343400"/>
            <a:ext cx="804672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42A48"/>
                </a:solidFill>
                <a:latin typeface="Aptos"/>
              </a:rPr>
              <a:t>Clamp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5074920"/>
            <a:ext cx="507492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2A3440"/>
                </a:solidFill>
                <a:latin typeface="Aptos"/>
              </a:rPr>
              <a:t>Align datums • fit leaders • verify free movement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327648"/>
            <a:ext cx="107899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>
                <a:solidFill>
                  <a:srgbClr val="647382"/>
                </a:solidFill>
                <a:latin typeface="Aptos"/>
              </a:rPr>
              <a:t>Use lifting equipment and lockout procedures when handling heavy mould components.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142A48"/>
                </a:solidFill>
                <a:latin typeface="Aptos"/>
              </a:rPr>
              <a:t>17. Pre-Trial Inspection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97280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647382"/>
                </a:solidFill>
                <a:latin typeface="Aptos"/>
              </a:rPr>
              <a:t>Check the tool before mounting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88136"/>
            <a:ext cx="1143000" cy="50292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47382"/>
                </a:solidFill>
                <a:latin typeface="Aptos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4709160" cy="4892040"/>
          </a:xfrm>
          <a:prstGeom prst="rect">
            <a:avLst/>
          </a:prstGeom>
          <a:noFill/>
        </p:spPr>
        <p:txBody>
          <a:bodyPr wrap="square" lIns="73152" rIns="54864" tIns="54864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Confirm dimensions, hardness and critical fits against drawings.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Inspect cooling circuits for flow and leaks.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Check water, hydraulic, pneumatic and electrical connections.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Verify mould opening, closing and ejection by safe dry cycling.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Complete the pre-trial checklist and record open issues.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371600"/>
            <a:ext cx="5989320" cy="4983480"/>
          </a:xfrm>
          <a:prstGeom prst="roundRect">
            <a:avLst/>
          </a:prstGeom>
          <a:solidFill>
            <a:srgbClr val="EFF5F9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80759" y="2148840"/>
            <a:ext cx="28803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6400800" y="2651760"/>
            <a:ext cx="2148840" cy="0"/>
          </a:xfrm>
          <a:prstGeom prst="line">
            <a:avLst/>
          </a:prstGeom>
          <a:ln w="38100">
            <a:solidFill>
              <a:srgbClr val="23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675120" y="2651760"/>
            <a:ext cx="0" cy="777240"/>
          </a:xfrm>
          <a:prstGeom prst="line">
            <a:avLst/>
          </a:prstGeom>
          <a:ln w="25400">
            <a:solidFill>
              <a:srgbClr val="23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229600" y="2651760"/>
            <a:ext cx="0" cy="777240"/>
          </a:xfrm>
          <a:prstGeom prst="line">
            <a:avLst/>
          </a:prstGeom>
          <a:ln w="25400">
            <a:solidFill>
              <a:srgbClr val="23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675120" y="3429000"/>
            <a:ext cx="1554480" cy="0"/>
          </a:xfrm>
          <a:prstGeom prst="line">
            <a:avLst/>
          </a:prstGeom>
          <a:ln w="25400">
            <a:solidFill>
              <a:srgbClr val="23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63640" y="3703320"/>
            <a:ext cx="25146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42A48"/>
                </a:solidFill>
                <a:latin typeface="Aptos"/>
              </a:rPr>
              <a:t>Dimensional inspection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2103120"/>
            <a:ext cx="14173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2240280"/>
            <a:ext cx="123444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2369AA"/>
                </a:solidFill>
                <a:latin typeface="Aptos"/>
              </a:rPr>
              <a:t>CHECKLIST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59" y="2697480"/>
            <a:ext cx="146304" cy="146304"/>
          </a:xfrm>
          <a:prstGeom prst="roundRect">
            <a:avLst/>
          </a:prstGeom>
          <a:solidFill>
            <a:srgbClr val="DCEBF6"/>
          </a:solidFill>
          <a:ln w="12700">
            <a:solidFill>
              <a:srgbClr val="38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9738359" y="2770632"/>
            <a:ext cx="731521" cy="0"/>
          </a:xfrm>
          <a:prstGeom prst="line">
            <a:avLst/>
          </a:prstGeom>
          <a:ln w="12700">
            <a:solidFill>
              <a:srgbClr val="B9C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509759" y="2990088"/>
            <a:ext cx="146304" cy="146304"/>
          </a:xfrm>
          <a:prstGeom prst="roundRect">
            <a:avLst/>
          </a:prstGeom>
          <a:solidFill>
            <a:srgbClr val="DCEBF6"/>
          </a:solidFill>
          <a:ln w="12700">
            <a:solidFill>
              <a:srgbClr val="38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9738359" y="3063240"/>
            <a:ext cx="731521" cy="0"/>
          </a:xfrm>
          <a:prstGeom prst="line">
            <a:avLst/>
          </a:prstGeom>
          <a:ln w="12700">
            <a:solidFill>
              <a:srgbClr val="B9C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509759" y="3282696"/>
            <a:ext cx="146304" cy="146304"/>
          </a:xfrm>
          <a:prstGeom prst="roundRect">
            <a:avLst/>
          </a:prstGeom>
          <a:solidFill>
            <a:srgbClr val="DCEBF6"/>
          </a:solidFill>
          <a:ln w="12700">
            <a:solidFill>
              <a:srgbClr val="38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9738359" y="3355848"/>
            <a:ext cx="731521" cy="0"/>
          </a:xfrm>
          <a:prstGeom prst="line">
            <a:avLst/>
          </a:prstGeom>
          <a:ln w="12700">
            <a:solidFill>
              <a:srgbClr val="B9C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509759" y="3575304"/>
            <a:ext cx="146304" cy="146304"/>
          </a:xfrm>
          <a:prstGeom prst="roundRect">
            <a:avLst/>
          </a:prstGeom>
          <a:solidFill>
            <a:srgbClr val="DCEBF6"/>
          </a:solidFill>
          <a:ln w="12700">
            <a:solidFill>
              <a:srgbClr val="38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9738359" y="3648456"/>
            <a:ext cx="731521" cy="0"/>
          </a:xfrm>
          <a:prstGeom prst="line">
            <a:avLst/>
          </a:prstGeom>
          <a:ln w="12700">
            <a:solidFill>
              <a:srgbClr val="B9C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509759" y="3867912"/>
            <a:ext cx="146304" cy="146304"/>
          </a:xfrm>
          <a:prstGeom prst="roundRect">
            <a:avLst/>
          </a:prstGeom>
          <a:solidFill>
            <a:srgbClr val="DCEBF6"/>
          </a:solidFill>
          <a:ln w="12700">
            <a:solidFill>
              <a:srgbClr val="38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9738359" y="3941064"/>
            <a:ext cx="731521" cy="0"/>
          </a:xfrm>
          <a:prstGeom prst="line">
            <a:avLst/>
          </a:prstGeom>
          <a:ln w="12700">
            <a:solidFill>
              <a:srgbClr val="B9C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035040" y="4846320"/>
            <a:ext cx="507492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2A3440"/>
                </a:solidFill>
                <a:latin typeface="Aptos"/>
              </a:rPr>
              <a:t>Record actual values against drawing tolerances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6327648"/>
            <a:ext cx="107899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>
                <a:solidFill>
                  <a:srgbClr val="647382"/>
                </a:solidFill>
                <a:latin typeface="Aptos"/>
              </a:rPr>
              <a:t>Never bypass machine interlocks or guards during checks.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142A48"/>
                </a:solidFill>
                <a:latin typeface="Aptos"/>
              </a:rPr>
              <a:t>18. First Mould Trial (T0/T1)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97280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647382"/>
                </a:solidFill>
                <a:latin typeface="Aptos"/>
              </a:rPr>
              <a:t>Run a controlled first shot and observe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88136"/>
            <a:ext cx="1143000" cy="50292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47382"/>
                </a:solidFill>
                <a:latin typeface="Aptos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4709160" cy="4892040"/>
          </a:xfrm>
          <a:prstGeom prst="rect">
            <a:avLst/>
          </a:prstGeom>
          <a:noFill/>
        </p:spPr>
        <p:txBody>
          <a:bodyPr wrap="square" lIns="73152" rIns="54864" tIns="54864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Mount and clamp the mould using approved procedures.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Set resin drying and machine parameters from validated guidance.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Start conservatively and adjust within safe process limits.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Inspect fill, flash, sink, weld lines, warpage and ejection.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Record machine settings, sample IDs and defects.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371600"/>
            <a:ext cx="5989320" cy="4983480"/>
          </a:xfrm>
          <a:prstGeom prst="roundRect">
            <a:avLst/>
          </a:prstGeom>
          <a:solidFill>
            <a:srgbClr val="EFF5F9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1920240"/>
            <a:ext cx="1828800" cy="3108960"/>
          </a:xfrm>
          <a:prstGeom prst="roundRect">
            <a:avLst/>
          </a:prstGeom>
          <a:solidFill>
            <a:srgbClr val="697D91"/>
          </a:solidFill>
          <a:ln w="12700">
            <a:solidFill>
              <a:srgbClr val="69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92240" y="2377440"/>
            <a:ext cx="1188720" cy="548640"/>
          </a:xfrm>
          <a:prstGeom prst="rect">
            <a:avLst/>
          </a:prstGeom>
          <a:solidFill>
            <a:srgbClr val="B9C5CF"/>
          </a:solidFill>
          <a:ln w="12700">
            <a:solidFill>
              <a:srgbClr val="69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92240" y="3474720"/>
            <a:ext cx="1188720" cy="548640"/>
          </a:xfrm>
          <a:prstGeom prst="rect">
            <a:avLst/>
          </a:prstGeom>
          <a:solidFill>
            <a:srgbClr val="B9C5CF"/>
          </a:solidFill>
          <a:ln w="12700">
            <a:solidFill>
              <a:srgbClr val="69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66559" y="2971800"/>
            <a:ext cx="640080" cy="457200"/>
          </a:xfrm>
          <a:prstGeom prst="rect">
            <a:avLst/>
          </a:prstGeom>
          <a:solidFill>
            <a:srgbClr val="EB9137"/>
          </a:solidFill>
          <a:ln w="1270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5166360"/>
            <a:ext cx="173736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42A48"/>
                </a:solidFill>
                <a:latin typeface="Aptos"/>
              </a:rPr>
              <a:t>Trial press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1080" y="2148840"/>
            <a:ext cx="1508760" cy="914400"/>
          </a:xfrm>
          <a:prstGeom prst="roundRect">
            <a:avLst/>
          </a:prstGeom>
          <a:solidFill>
            <a:srgbClr val="DCEBF6"/>
          </a:solidFill>
          <a:ln w="12700"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61120" y="2377440"/>
            <a:ext cx="868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3200400"/>
            <a:ext cx="178308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42A48"/>
                </a:solidFill>
                <a:latin typeface="Aptos"/>
              </a:rPr>
              <a:t>Molded sample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3703320"/>
            <a:ext cx="228600" cy="22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8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3675887"/>
            <a:ext cx="155448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2A3440"/>
                </a:solidFill>
                <a:latin typeface="Aptos"/>
              </a:rPr>
              <a:t>Fill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49640" y="4096511"/>
            <a:ext cx="228600" cy="22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8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3959" y="4069079"/>
            <a:ext cx="155448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2A3440"/>
                </a:solidFill>
                <a:latin typeface="Aptos"/>
              </a:rPr>
              <a:t>Flash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49640" y="4489704"/>
            <a:ext cx="228600" cy="22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8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23959" y="4462272"/>
            <a:ext cx="155448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2A3440"/>
                </a:solidFill>
                <a:latin typeface="Aptos"/>
              </a:rPr>
              <a:t>Dimensions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49640" y="4882896"/>
            <a:ext cx="228600" cy="22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8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23959" y="4855464"/>
            <a:ext cx="155448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2A3440"/>
                </a:solidFill>
                <a:latin typeface="Aptos"/>
              </a:rPr>
              <a:t>Ejection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6327648"/>
            <a:ext cx="107899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>
                <a:solidFill>
                  <a:srgbClr val="647382"/>
                </a:solidFill>
                <a:latin typeface="Aptos"/>
              </a:rPr>
              <a:t>Only trained personnel should operate the press and handle hot material.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142A48"/>
                </a:solidFill>
                <a:latin typeface="Aptos"/>
              </a:rPr>
              <a:t>19. Troubleshooting &amp; Tool Corrections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97280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647382"/>
                </a:solidFill>
                <a:latin typeface="Aptos"/>
              </a:rPr>
              <a:t>Fix the cause, not only the symptom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88136"/>
            <a:ext cx="1143000" cy="50292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47382"/>
                </a:solidFill>
                <a:latin typeface="Aptos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4709160" cy="4892040"/>
          </a:xfrm>
          <a:prstGeom prst="rect">
            <a:avLst/>
          </a:prstGeom>
          <a:noFill/>
        </p:spPr>
        <p:txBody>
          <a:bodyPr wrap="square" lIns="73152" rIns="54864" tIns="54864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Short shot: review venting, fill balance, gate and process settings.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Flash: check parting-line contact, clamp force and process pressure.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Sink/voids: review packing, gate freeze, wall thickness and cooling.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Warpage: review cooling balance, packing and part geometry.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Ejector marks: review pin position, contact area and release.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371600"/>
            <a:ext cx="5989320" cy="4983480"/>
          </a:xfrm>
          <a:prstGeom prst="roundRect">
            <a:avLst/>
          </a:prstGeom>
          <a:solidFill>
            <a:srgbClr val="EFF5F9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1920240"/>
            <a:ext cx="1828800" cy="3108960"/>
          </a:xfrm>
          <a:prstGeom prst="roundRect">
            <a:avLst/>
          </a:prstGeom>
          <a:solidFill>
            <a:srgbClr val="697D91"/>
          </a:solidFill>
          <a:ln w="12700">
            <a:solidFill>
              <a:srgbClr val="69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92240" y="2377440"/>
            <a:ext cx="1188720" cy="548640"/>
          </a:xfrm>
          <a:prstGeom prst="rect">
            <a:avLst/>
          </a:prstGeom>
          <a:solidFill>
            <a:srgbClr val="B9C5CF"/>
          </a:solidFill>
          <a:ln w="12700">
            <a:solidFill>
              <a:srgbClr val="69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92240" y="3474720"/>
            <a:ext cx="1188720" cy="548640"/>
          </a:xfrm>
          <a:prstGeom prst="rect">
            <a:avLst/>
          </a:prstGeom>
          <a:solidFill>
            <a:srgbClr val="B9C5CF"/>
          </a:solidFill>
          <a:ln w="12700">
            <a:solidFill>
              <a:srgbClr val="69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66559" y="2971800"/>
            <a:ext cx="640080" cy="457200"/>
          </a:xfrm>
          <a:prstGeom prst="rect">
            <a:avLst/>
          </a:prstGeom>
          <a:solidFill>
            <a:srgbClr val="EB9137"/>
          </a:solidFill>
          <a:ln w="1270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5166360"/>
            <a:ext cx="173736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42A48"/>
                </a:solidFill>
                <a:latin typeface="Aptos"/>
              </a:rPr>
              <a:t>Trial press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1080" y="2148840"/>
            <a:ext cx="1508760" cy="914400"/>
          </a:xfrm>
          <a:prstGeom prst="roundRect">
            <a:avLst/>
          </a:prstGeom>
          <a:solidFill>
            <a:srgbClr val="DCEBF6"/>
          </a:solidFill>
          <a:ln w="12700"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61120" y="2377440"/>
            <a:ext cx="868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3200400"/>
            <a:ext cx="178308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42A48"/>
                </a:solidFill>
                <a:latin typeface="Aptos"/>
              </a:rPr>
              <a:t>Molded sample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3703320"/>
            <a:ext cx="228600" cy="22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8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3675887"/>
            <a:ext cx="155448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2A3440"/>
                </a:solidFill>
                <a:latin typeface="Aptos"/>
              </a:rPr>
              <a:t>Fill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49640" y="4096511"/>
            <a:ext cx="228600" cy="22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8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3959" y="4069079"/>
            <a:ext cx="155448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2A3440"/>
                </a:solidFill>
                <a:latin typeface="Aptos"/>
              </a:rPr>
              <a:t>Flash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49640" y="4489704"/>
            <a:ext cx="228600" cy="22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8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23959" y="4462272"/>
            <a:ext cx="155448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2A3440"/>
                </a:solidFill>
                <a:latin typeface="Aptos"/>
              </a:rPr>
              <a:t>Dimensions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49640" y="4882896"/>
            <a:ext cx="228600" cy="22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8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23959" y="4855464"/>
            <a:ext cx="155448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2A3440"/>
                </a:solidFill>
                <a:latin typeface="Aptos"/>
              </a:rPr>
              <a:t>Ejection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6327648"/>
            <a:ext cx="107899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>
                <a:solidFill>
                  <a:srgbClr val="647382"/>
                </a:solidFill>
                <a:latin typeface="Aptos"/>
              </a:rPr>
              <a:t>Change one variable at a time where practical and document each change.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142A48"/>
                </a:solidFill>
                <a:latin typeface="Aptos"/>
              </a:rPr>
              <a:t>20. Validation &amp; Production Release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97280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647382"/>
                </a:solidFill>
                <a:latin typeface="Aptos"/>
              </a:rPr>
              <a:t>Prove that the tool meets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88136"/>
            <a:ext cx="1143000" cy="50292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47382"/>
                </a:solidFill>
                <a:latin typeface="Aptos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4709160" cy="4892040"/>
          </a:xfrm>
          <a:prstGeom prst="rect">
            <a:avLst/>
          </a:prstGeom>
          <a:noFill/>
        </p:spPr>
        <p:txBody>
          <a:bodyPr wrap="square" lIns="73152" rIns="54864" tIns="54864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Measure critical-to-quality dimensions across multiple shots.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Confirm appearance, assembly fit and functional performance.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Check repeatability over a representative run.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Approve process window, cycle time and quality plan.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Release tool documentation, maintenance plan and sample approval.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371600"/>
            <a:ext cx="5989320" cy="4983480"/>
          </a:xfrm>
          <a:prstGeom prst="roundRect">
            <a:avLst/>
          </a:prstGeom>
          <a:solidFill>
            <a:srgbClr val="EFF5F9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80759" y="2148840"/>
            <a:ext cx="28803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6400800" y="2651760"/>
            <a:ext cx="2148840" cy="0"/>
          </a:xfrm>
          <a:prstGeom prst="line">
            <a:avLst/>
          </a:prstGeom>
          <a:ln w="38100">
            <a:solidFill>
              <a:srgbClr val="23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675120" y="2651760"/>
            <a:ext cx="0" cy="777240"/>
          </a:xfrm>
          <a:prstGeom prst="line">
            <a:avLst/>
          </a:prstGeom>
          <a:ln w="25400">
            <a:solidFill>
              <a:srgbClr val="23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229600" y="2651760"/>
            <a:ext cx="0" cy="777240"/>
          </a:xfrm>
          <a:prstGeom prst="line">
            <a:avLst/>
          </a:prstGeom>
          <a:ln w="25400">
            <a:solidFill>
              <a:srgbClr val="23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675120" y="3429000"/>
            <a:ext cx="1554480" cy="0"/>
          </a:xfrm>
          <a:prstGeom prst="line">
            <a:avLst/>
          </a:prstGeom>
          <a:ln w="25400">
            <a:solidFill>
              <a:srgbClr val="23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63640" y="3703320"/>
            <a:ext cx="25146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42A48"/>
                </a:solidFill>
                <a:latin typeface="Aptos"/>
              </a:rPr>
              <a:t>Dimensional inspection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2103120"/>
            <a:ext cx="14173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2240280"/>
            <a:ext cx="123444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2369AA"/>
                </a:solidFill>
                <a:latin typeface="Aptos"/>
              </a:rPr>
              <a:t>CHECKLIST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59" y="2697480"/>
            <a:ext cx="146304" cy="146304"/>
          </a:xfrm>
          <a:prstGeom prst="roundRect">
            <a:avLst/>
          </a:prstGeom>
          <a:solidFill>
            <a:srgbClr val="DCEBF6"/>
          </a:solidFill>
          <a:ln w="12700">
            <a:solidFill>
              <a:srgbClr val="38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9738359" y="2770632"/>
            <a:ext cx="731521" cy="0"/>
          </a:xfrm>
          <a:prstGeom prst="line">
            <a:avLst/>
          </a:prstGeom>
          <a:ln w="12700">
            <a:solidFill>
              <a:srgbClr val="B9C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509759" y="2990088"/>
            <a:ext cx="146304" cy="146304"/>
          </a:xfrm>
          <a:prstGeom prst="roundRect">
            <a:avLst/>
          </a:prstGeom>
          <a:solidFill>
            <a:srgbClr val="DCEBF6"/>
          </a:solidFill>
          <a:ln w="12700">
            <a:solidFill>
              <a:srgbClr val="38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9738359" y="3063240"/>
            <a:ext cx="731521" cy="0"/>
          </a:xfrm>
          <a:prstGeom prst="line">
            <a:avLst/>
          </a:prstGeom>
          <a:ln w="12700">
            <a:solidFill>
              <a:srgbClr val="B9C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509759" y="3282696"/>
            <a:ext cx="146304" cy="146304"/>
          </a:xfrm>
          <a:prstGeom prst="roundRect">
            <a:avLst/>
          </a:prstGeom>
          <a:solidFill>
            <a:srgbClr val="DCEBF6"/>
          </a:solidFill>
          <a:ln w="12700">
            <a:solidFill>
              <a:srgbClr val="38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9738359" y="3355848"/>
            <a:ext cx="731521" cy="0"/>
          </a:xfrm>
          <a:prstGeom prst="line">
            <a:avLst/>
          </a:prstGeom>
          <a:ln w="12700">
            <a:solidFill>
              <a:srgbClr val="B9C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509759" y="3575304"/>
            <a:ext cx="146304" cy="146304"/>
          </a:xfrm>
          <a:prstGeom prst="roundRect">
            <a:avLst/>
          </a:prstGeom>
          <a:solidFill>
            <a:srgbClr val="DCEBF6"/>
          </a:solidFill>
          <a:ln w="12700">
            <a:solidFill>
              <a:srgbClr val="38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9738359" y="3648456"/>
            <a:ext cx="731521" cy="0"/>
          </a:xfrm>
          <a:prstGeom prst="line">
            <a:avLst/>
          </a:prstGeom>
          <a:ln w="12700">
            <a:solidFill>
              <a:srgbClr val="B9C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509759" y="3867912"/>
            <a:ext cx="146304" cy="146304"/>
          </a:xfrm>
          <a:prstGeom prst="roundRect">
            <a:avLst/>
          </a:prstGeom>
          <a:solidFill>
            <a:srgbClr val="DCEBF6"/>
          </a:solidFill>
          <a:ln w="12700">
            <a:solidFill>
              <a:srgbClr val="38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9738359" y="3941064"/>
            <a:ext cx="731521" cy="0"/>
          </a:xfrm>
          <a:prstGeom prst="line">
            <a:avLst/>
          </a:prstGeom>
          <a:ln w="12700">
            <a:solidFill>
              <a:srgbClr val="B9C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035040" y="4846320"/>
            <a:ext cx="507492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2A3440"/>
                </a:solidFill>
                <a:latin typeface="Aptos"/>
              </a:rPr>
              <a:t>Record actual values against drawing tolerances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6327648"/>
            <a:ext cx="107899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>
                <a:solidFill>
                  <a:srgbClr val="647382"/>
                </a:solidFill>
                <a:latin typeface="Aptos"/>
              </a:rPr>
              <a:t>Sampling quantity and capability criteria should follow the customer quality plan.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142A48"/>
                </a:solidFill>
                <a:latin typeface="Aptos"/>
              </a:rPr>
              <a:t>21. Production Operation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97280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647382"/>
                </a:solidFill>
                <a:latin typeface="Aptos"/>
              </a:rPr>
              <a:t>Run stable, repeatable cycles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88136"/>
            <a:ext cx="1143000" cy="50292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47382"/>
                </a:solidFill>
                <a:latin typeface="Aptos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4709160" cy="4892040"/>
          </a:xfrm>
          <a:prstGeom prst="rect">
            <a:avLst/>
          </a:prstGeom>
          <a:noFill/>
        </p:spPr>
        <p:txBody>
          <a:bodyPr wrap="square" lIns="73152" rIns="54864" tIns="54864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Dry and handle resin according to supplier instructions.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Set validated temperatures, pressure, speed and cooling time.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Monitor first-off parts and scheduled quality checks.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Track cycle time, scrap, alarms and cavity-to-cavity variation.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Keep the mould clean and follow safe changeover procedures.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371600"/>
            <a:ext cx="5989320" cy="4983480"/>
          </a:xfrm>
          <a:prstGeom prst="roundRect">
            <a:avLst/>
          </a:prstGeom>
          <a:solidFill>
            <a:srgbClr val="EFF5F9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89320" y="2468880"/>
            <a:ext cx="10972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2542032"/>
            <a:ext cx="100584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42A48"/>
                </a:solidFill>
                <a:latin typeface="Aptos"/>
              </a:rPr>
              <a:t>Dry resin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59" y="2468880"/>
            <a:ext cx="10972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2542032"/>
            <a:ext cx="100584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42A48"/>
                </a:solidFill>
                <a:latin typeface="Aptos"/>
              </a:rPr>
              <a:t>Set machine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400" y="2468880"/>
            <a:ext cx="10972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2542032"/>
            <a:ext cx="100584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42A48"/>
                </a:solidFill>
                <a:latin typeface="Aptos"/>
              </a:rPr>
              <a:t>Mould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49840" y="3931920"/>
            <a:ext cx="10972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95560" y="4005072"/>
            <a:ext cx="100584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42A48"/>
                </a:solidFill>
                <a:latin typeface="Aptos"/>
              </a:rPr>
              <a:t>Inspect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86600" y="2852928"/>
            <a:ext cx="365759" cy="0"/>
          </a:xfrm>
          <a:prstGeom prst="line">
            <a:avLst/>
          </a:prstGeom>
          <a:ln w="22860">
            <a:solidFill>
              <a:srgbClr val="23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549640" y="2852928"/>
            <a:ext cx="365760" cy="0"/>
          </a:xfrm>
          <a:prstGeom prst="line">
            <a:avLst/>
          </a:prstGeom>
          <a:ln w="22860">
            <a:solidFill>
              <a:srgbClr val="23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464040" y="3246120"/>
            <a:ext cx="1143000" cy="685800"/>
          </a:xfrm>
          <a:prstGeom prst="line">
            <a:avLst/>
          </a:prstGeom>
          <a:ln w="22860">
            <a:solidFill>
              <a:srgbClr val="23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7863840" y="4343400"/>
            <a:ext cx="2286000" cy="0"/>
          </a:xfrm>
          <a:prstGeom prst="line">
            <a:avLst/>
          </a:prstGeom>
          <a:ln w="22860">
            <a:solidFill>
              <a:srgbClr val="EB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6537959" y="3246120"/>
            <a:ext cx="1325881" cy="1097280"/>
          </a:xfrm>
          <a:prstGeom prst="line">
            <a:avLst/>
          </a:prstGeom>
          <a:ln w="22860">
            <a:solidFill>
              <a:srgbClr val="EB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035040" y="5074920"/>
            <a:ext cx="507492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2A3440"/>
                </a:solidFill>
                <a:latin typeface="Aptos"/>
              </a:rPr>
              <a:t>Monitor cycle time, scrap, cavity balance and tool wear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327648"/>
            <a:ext cx="107899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>
                <a:solidFill>
                  <a:srgbClr val="647382"/>
                </a:solidFill>
                <a:latin typeface="Aptos"/>
              </a:rPr>
              <a:t>Use the approved process sheet; do not rely on generic settings alone.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142A48"/>
                </a:solidFill>
                <a:latin typeface="Aptos"/>
              </a:rPr>
              <a:t>22. Preventive Maintenance &amp; Tool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97280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647382"/>
                </a:solidFill>
                <a:latin typeface="Aptos"/>
              </a:rPr>
              <a:t>Maintain the mould after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88136"/>
            <a:ext cx="1143000" cy="50292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47382"/>
                </a:solidFill>
                <a:latin typeface="Aptos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4709160" cy="4892040"/>
          </a:xfrm>
          <a:prstGeom prst="rect">
            <a:avLst/>
          </a:prstGeom>
          <a:noFill/>
        </p:spPr>
        <p:txBody>
          <a:bodyPr wrap="square" lIns="73152" rIns="54864" tIns="54864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Clean vents, parting lines and resin deposits using approved methods.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Inspect gates, ejectors, slides, guide parts and wear surfaces.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Check cooling flow, corrosion, leakage and blocked passages.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Lubricate specified moving parts and replace worn standards.</a:t>
            </a:r>
          </a:p>
          <a:p>
            <a:pPr>
              <a:spcAft>
                <a:spcPts val="10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Log shots, repairs, changes and next service due date.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371600"/>
            <a:ext cx="5989320" cy="4983480"/>
          </a:xfrm>
          <a:prstGeom prst="roundRect">
            <a:avLst/>
          </a:prstGeom>
          <a:solidFill>
            <a:srgbClr val="EFF5F9"/>
          </a:solidFill>
          <a:ln w="12700"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26479" y="2057400"/>
            <a:ext cx="1828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6537959" y="2606040"/>
            <a:ext cx="914400" cy="914400"/>
          </a:xfrm>
          <a:prstGeom prst="line">
            <a:avLst/>
          </a:prstGeom>
          <a:ln w="63500">
            <a:solidFill>
              <a:srgbClr val="EB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178040" y="3246120"/>
            <a:ext cx="4572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79" y="4526280"/>
            <a:ext cx="18288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42A48"/>
                </a:solidFill>
                <a:latin typeface="Aptos"/>
              </a:rPr>
              <a:t>Clean &amp; inspect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2057400"/>
            <a:ext cx="21488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32520" y="2194560"/>
            <a:ext cx="178308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2369AA"/>
                </a:solidFill>
                <a:latin typeface="Aptos"/>
              </a:rPr>
              <a:t>PM CHECKLIST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2651760"/>
            <a:ext cx="164592" cy="164592"/>
          </a:xfrm>
          <a:prstGeom prst="roundRect">
            <a:avLst/>
          </a:prstGeom>
          <a:solidFill>
            <a:srgbClr val="DCEBF6"/>
          </a:solidFill>
          <a:ln w="12700">
            <a:solidFill>
              <a:srgbClr val="38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2606040"/>
            <a:ext cx="14173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2A3440"/>
                </a:solidFill>
                <a:latin typeface="Aptos"/>
              </a:rPr>
              <a:t>Clean vents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32520" y="2999232"/>
            <a:ext cx="164592" cy="164592"/>
          </a:xfrm>
          <a:prstGeom prst="roundRect">
            <a:avLst/>
          </a:prstGeom>
          <a:solidFill>
            <a:srgbClr val="DCEBF6"/>
          </a:solidFill>
          <a:ln w="12700">
            <a:solidFill>
              <a:srgbClr val="38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2953512"/>
            <a:ext cx="14173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2A3440"/>
                </a:solidFill>
                <a:latin typeface="Aptos"/>
              </a:rPr>
              <a:t>Check wear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3346704"/>
            <a:ext cx="164592" cy="164592"/>
          </a:xfrm>
          <a:prstGeom prst="roundRect">
            <a:avLst/>
          </a:prstGeom>
          <a:solidFill>
            <a:srgbClr val="DCEBF6"/>
          </a:solidFill>
          <a:ln w="12700">
            <a:solidFill>
              <a:srgbClr val="38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0" y="3300984"/>
            <a:ext cx="14173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2A3440"/>
                </a:solidFill>
                <a:latin typeface="Aptos"/>
              </a:rPr>
              <a:t>Check cooling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3694176"/>
            <a:ext cx="164592" cy="164592"/>
          </a:xfrm>
          <a:prstGeom prst="roundRect">
            <a:avLst/>
          </a:prstGeom>
          <a:solidFill>
            <a:srgbClr val="DCEBF6"/>
          </a:solidFill>
          <a:ln w="12700">
            <a:solidFill>
              <a:srgbClr val="38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0" y="3648456"/>
            <a:ext cx="14173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2A3440"/>
                </a:solidFill>
                <a:latin typeface="Aptos"/>
              </a:rPr>
              <a:t>Lubricate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5029200"/>
            <a:ext cx="507492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2A3440"/>
                </a:solidFill>
                <a:latin typeface="Aptos"/>
              </a:rPr>
              <a:t>Preventive maintenance protects quality and tool life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6327648"/>
            <a:ext cx="107899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>
                <a:solidFill>
                  <a:srgbClr val="647382"/>
                </a:solidFill>
                <a:latin typeface="Aptos"/>
              </a:rPr>
              <a:t>Maintenance frequency depends on resin, production conditions and tool design.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142A48"/>
                </a:solidFill>
                <a:latin typeface="Aptos"/>
              </a:rPr>
              <a:t>23. Manufacturing Process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97280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647382"/>
                </a:solidFill>
                <a:latin typeface="Aptos"/>
              </a:rPr>
              <a:t>Use this as a practical project review before production release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88136"/>
            <a:ext cx="1143000" cy="50292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47382"/>
                </a:solidFill>
                <a:latin typeface="Aptos"/>
              </a:rP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1828800" cy="475488"/>
          </a:xfrm>
          <a:prstGeom prst="roundRect">
            <a:avLst/>
          </a:prstGeom>
          <a:solidFill>
            <a:srgbClr val="DCEBF6"/>
          </a:solidFill>
          <a:ln w="12700"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44752"/>
            <a:ext cx="1645920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142A48"/>
                </a:solidFill>
                <a:latin typeface="Aptos"/>
              </a:rPr>
              <a:t>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417320"/>
            <a:ext cx="822960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1444752"/>
            <a:ext cx="7863840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2A3440"/>
                </a:solidFill>
                <a:latin typeface="Aptos"/>
              </a:rPr>
              <a:t>Approved CAD, drawings, resin, shrinkage and press interface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075688"/>
            <a:ext cx="1828800" cy="475488"/>
          </a:xfrm>
          <a:prstGeom prst="roundRect">
            <a:avLst/>
          </a:prstGeom>
          <a:solidFill>
            <a:srgbClr val="DCEBF6"/>
          </a:solidFill>
          <a:ln w="12700"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103120"/>
            <a:ext cx="1645920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142A48"/>
                </a:solidFill>
                <a:latin typeface="Aptos"/>
              </a:rPr>
              <a:t>Material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2075688"/>
            <a:ext cx="822960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2103120"/>
            <a:ext cx="7863840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2A3440"/>
                </a:solidFill>
                <a:latin typeface="Aptos"/>
              </a:rPr>
              <a:t>Correct steel grade, certificates, traceability and hardness plan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734056"/>
            <a:ext cx="1828800" cy="475488"/>
          </a:xfrm>
          <a:prstGeom prst="roundRect">
            <a:avLst/>
          </a:prstGeom>
          <a:solidFill>
            <a:srgbClr val="DCEBF6"/>
          </a:solidFill>
          <a:ln w="12700"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761488"/>
            <a:ext cx="1645920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142A48"/>
                </a:solidFill>
                <a:latin typeface="Aptos"/>
              </a:rPr>
              <a:t>Machining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2734056"/>
            <a:ext cx="822960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2761488"/>
            <a:ext cx="7863840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2A3440"/>
                </a:solidFill>
                <a:latin typeface="Aptos"/>
              </a:rPr>
              <a:t>CNC/EDM operations complete; critical dimensions inspected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392424"/>
            <a:ext cx="1828800" cy="475488"/>
          </a:xfrm>
          <a:prstGeom prst="roundRect">
            <a:avLst/>
          </a:prstGeom>
          <a:solidFill>
            <a:srgbClr val="DCEBF6"/>
          </a:solidFill>
          <a:ln w="12700"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419856"/>
            <a:ext cx="1645920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142A48"/>
                </a:solidFill>
                <a:latin typeface="Aptos"/>
              </a:rPr>
              <a:t>Finishing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0" y="3392424"/>
            <a:ext cx="822960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26080" y="3419856"/>
            <a:ext cx="7863840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2A3440"/>
                </a:solidFill>
                <a:latin typeface="Aptos"/>
              </a:rPr>
              <a:t>Required texture, polish, flatness and shut-off fit verified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050791"/>
            <a:ext cx="1828800" cy="475488"/>
          </a:xfrm>
          <a:prstGeom prst="roundRect">
            <a:avLst/>
          </a:prstGeom>
          <a:solidFill>
            <a:srgbClr val="DCEBF6"/>
          </a:solidFill>
          <a:ln w="12700"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078224"/>
            <a:ext cx="1645920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142A48"/>
                </a:solidFill>
                <a:latin typeface="Aptos"/>
              </a:rPr>
              <a:t>Systems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0" y="4050791"/>
            <a:ext cx="822960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0" y="4078224"/>
            <a:ext cx="7863840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2A3440"/>
                </a:solidFill>
                <a:latin typeface="Aptos"/>
              </a:rPr>
              <a:t>Cooling leak test; vents clear; ejection and side actions free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709159"/>
            <a:ext cx="1828800" cy="475488"/>
          </a:xfrm>
          <a:prstGeom prst="roundRect">
            <a:avLst/>
          </a:prstGeom>
          <a:solidFill>
            <a:srgbClr val="DCEBF6"/>
          </a:solidFill>
          <a:ln w="12700"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736592"/>
            <a:ext cx="1645920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142A48"/>
                </a:solidFill>
                <a:latin typeface="Aptos"/>
              </a:rPr>
              <a:t>Trial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0" y="4709159"/>
            <a:ext cx="822960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26080" y="4736592"/>
            <a:ext cx="7863840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2A3440"/>
                </a:solidFill>
                <a:latin typeface="Aptos"/>
              </a:rPr>
              <a:t>Samples, process settings, defects and corrections documented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5367528"/>
            <a:ext cx="1828800" cy="475488"/>
          </a:xfrm>
          <a:prstGeom prst="roundRect">
            <a:avLst/>
          </a:prstGeom>
          <a:solidFill>
            <a:srgbClr val="DCEBF6"/>
          </a:solidFill>
          <a:ln w="12700"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394960"/>
            <a:ext cx="1645920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142A48"/>
                </a:solidFill>
                <a:latin typeface="Aptos"/>
              </a:rPr>
              <a:t>Release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0" y="5367528"/>
            <a:ext cx="822960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26080" y="5394960"/>
            <a:ext cx="7863840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2A3440"/>
                </a:solidFill>
                <a:latin typeface="Aptos"/>
              </a:rPr>
              <a:t>Part approval, process window, BOM and maintenance plan issued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EB9137"/>
                </a:solidFill>
                <a:latin typeface="Aptos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A mould is successful when its design, machining, fit, cooling, ejection and process settings work together.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468880"/>
            <a:ext cx="320040" cy="320040"/>
          </a:xfrm>
          <a:prstGeom prst="roundRect">
            <a:avLst/>
          </a:prstGeom>
          <a:solidFill>
            <a:srgbClr val="EB9137"/>
          </a:solidFill>
          <a:ln w="1270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2432304"/>
            <a:ext cx="969264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Design for manufacturability before steel cutting.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154680"/>
            <a:ext cx="320040" cy="320040"/>
          </a:xfrm>
          <a:prstGeom prst="roundRect">
            <a:avLst/>
          </a:prstGeom>
          <a:solidFill>
            <a:srgbClr val="EB9137"/>
          </a:solidFill>
          <a:ln w="1270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3118104"/>
            <a:ext cx="969264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Control datums, tolerances, hardness and surface finish.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840480"/>
            <a:ext cx="320040" cy="320040"/>
          </a:xfrm>
          <a:prstGeom prst="roundRect">
            <a:avLst/>
          </a:prstGeom>
          <a:solidFill>
            <a:srgbClr val="EB9137"/>
          </a:solidFill>
          <a:ln w="1270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3803904"/>
            <a:ext cx="969264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Trial systematically and use measured evidence for corrections.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526280"/>
            <a:ext cx="320040" cy="320040"/>
          </a:xfrm>
          <a:prstGeom prst="roundRect">
            <a:avLst/>
          </a:prstGeom>
          <a:solidFill>
            <a:srgbClr val="EB9137"/>
          </a:solidFill>
          <a:ln w="1270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4489704"/>
            <a:ext cx="969264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Document the validated process and maintain the tool preventively.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532120"/>
            <a:ext cx="10424160" cy="594360"/>
          </a:xfrm>
          <a:prstGeom prst="roundRect">
            <a:avLst/>
          </a:prstGeom>
          <a:solidFill>
            <a:srgbClr val="2369AA"/>
          </a:solidFill>
          <a:ln w="12700">
            <a:solidFill>
              <a:srgbClr val="23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605272"/>
            <a:ext cx="1014984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Always follow approved drawings, machine manuals, material data and workplace safety procedures.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BECDDA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Complete Mould Manufacturing Process - Illustrated Guide</dc:title>
  <dc:subject>Injection mould manufacturing workflow, illustrated slide by slide</dc:subject>
  <dc:creator>OpenAI</dc:creator>
  <cp:keywords>mould manufacturing, injection mould, tooling, CNC, EDM, heat treatment, assembly, trial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