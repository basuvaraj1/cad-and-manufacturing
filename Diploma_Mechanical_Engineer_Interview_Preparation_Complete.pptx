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B9137"/>
                </a:solidFill>
                <a:latin typeface="Aptos"/>
              </a:rPr>
              <a:t>CAREER &amp; TECHNICAL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48640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DIPLOMA MECHANICAL
ENGINEER INTERVIEW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53035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DCE6F0"/>
                </a:solidFill>
                <a:latin typeface="Aptos"/>
              </a:rPr>
              <a:t>Complete study guide: core concepts, formulas, workshop knowledge, HR questions and mock interviews.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4389120" cy="566928"/>
          </a:xfrm>
          <a:prstGeom prst="round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25112"/>
            <a:ext cx="4114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TECHNICAL + HR + PRACTICAL</a:t>
            </a:r>
          </a:p>
        </p:txBody>
      </p:sp>
      <p:sp>
        <p:nvSpPr>
          <p:cNvPr id="8" name="Gear 6 7"/>
          <p:cNvSpPr/>
          <p:nvPr/>
        </p:nvSpPr>
        <p:spPr>
          <a:xfrm>
            <a:off x="6812279" y="1325880"/>
            <a:ext cx="2286000" cy="2286000"/>
          </a:xfrm>
          <a:prstGeom prst="gear6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54111" y="2267712"/>
            <a:ext cx="402336" cy="402336"/>
          </a:xfrm>
          <a:prstGeom prst="ellipse">
            <a:avLst/>
          </a:prstGeom>
          <a:solidFill>
            <a:srgbClr val="162B49"/>
          </a:solidFill>
          <a:ln>
            <a:solidFill>
              <a:srgbClr val="16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ear 6 9"/>
          <p:cNvSpPr/>
          <p:nvPr/>
        </p:nvSpPr>
        <p:spPr>
          <a:xfrm>
            <a:off x="8915400" y="2880359"/>
            <a:ext cx="1737360" cy="1737360"/>
          </a:xfrm>
          <a:prstGeom prst="gear6">
            <a:avLst/>
          </a:prstGeom>
          <a:solidFill>
            <a:srgbClr val="32A3B9"/>
          </a:solidFill>
          <a:ln>
            <a:solidFill>
              <a:srgbClr val="32A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82911" y="3547871"/>
            <a:ext cx="402336" cy="402336"/>
          </a:xfrm>
          <a:prstGeom prst="ellipse">
            <a:avLst/>
          </a:prstGeom>
          <a:solidFill>
            <a:srgbClr val="162B49"/>
          </a:solidFill>
          <a:ln>
            <a:solidFill>
              <a:srgbClr val="16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03504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ECDDA"/>
                </a:solidFill>
                <a:latin typeface="Aptos"/>
              </a:rPr>
              <a:t>For diploma holders preparing for fresher and junior technician/engineer roles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1. How to Use This Interview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A practical revision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Revise basic definitions and formulas first.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Practise explaining concepts in simple words.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Prepare examples from workshop, internship or college projects.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Answer safety and quality questions with practical steps.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Use mock questions and speak answers aloud.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Never claim experience or skills you do not have.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Concept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23760" y="3154680"/>
            <a:ext cx="201168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5236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Formula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49640" y="3154680"/>
            <a:ext cx="201168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7824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Unit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19" y="3154680"/>
            <a:ext cx="201169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0412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97680"/>
            <a:ext cx="48463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Understand the principle before the formula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2. Tell Me About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Build a 45–60 second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State your diploma branch and graduation year.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Mention 2–3 relevant subjects: manufacturing, drawing, materials or maintenance.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Describe one real project, internship or workshop task.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Name practical skills you can demonstrate honestly.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Finish with the role you want and willingness to learn.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87768" y="2240280"/>
            <a:ext cx="512064" cy="512064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04888" y="2834639"/>
            <a:ext cx="877824" cy="109728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3768" y="2240280"/>
            <a:ext cx="512064" cy="512064"/>
          </a:xfrm>
          <a:prstGeom prst="ellipse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90888" y="2834639"/>
            <a:ext cx="877824" cy="1097280"/>
          </a:xfrm>
          <a:prstGeom prst="round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4069080"/>
            <a:ext cx="3840480" cy="256032"/>
          </a:xfrm>
          <a:prstGeom prst="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543800" y="4325112"/>
            <a:ext cx="0" cy="475488"/>
          </a:xfrm>
          <a:prstGeom prst="line">
            <a:avLst/>
          </a:prstGeom>
          <a:ln w="381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29800" y="4325112"/>
            <a:ext cx="0" cy="475488"/>
          </a:xfrm>
          <a:prstGeom prst="line">
            <a:avLst/>
          </a:prstGeom>
          <a:ln w="381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63640" y="5120640"/>
            <a:ext cx="47548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Clear answer • relevant example •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45936"/>
            <a:ext cx="10789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67584"/>
                </a:solidFill>
                <a:latin typeface="Aptos"/>
              </a:rPr>
              <a:t>Template: “I completed a Diploma in Mechanical Engineering. I’m interested in [role]. My strengths are [skills], and in [project/training] I learned [specific task]. I’m looking for an opportunity to apply these basics and grow.”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3. Common HR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Prepare truthful, concise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Why did you choose mechanical engineering? Connect interest to machines, design or manufacturing.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What are your strengths? Give one example that proves each strength.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What is your weakness? Choose a real, manageable skill you are improving.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Why should we hire you? Link your basics and learning attitude to the role.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Are you willing to work shifts or relocate? Answer honestly.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What are your salary expectations? Ask about the role’s approved range and total package.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87768" y="2240280"/>
            <a:ext cx="512064" cy="512064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04888" y="2834639"/>
            <a:ext cx="877824" cy="109728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3768" y="2240280"/>
            <a:ext cx="512064" cy="512064"/>
          </a:xfrm>
          <a:prstGeom prst="ellipse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90888" y="2834639"/>
            <a:ext cx="877824" cy="1097280"/>
          </a:xfrm>
          <a:prstGeom prst="round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4069080"/>
            <a:ext cx="3840480" cy="256032"/>
          </a:xfrm>
          <a:prstGeom prst="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543800" y="4325112"/>
            <a:ext cx="0" cy="475488"/>
          </a:xfrm>
          <a:prstGeom prst="line">
            <a:avLst/>
          </a:prstGeom>
          <a:ln w="381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29800" y="4325112"/>
            <a:ext cx="0" cy="475488"/>
          </a:xfrm>
          <a:prstGeom prst="line">
            <a:avLst/>
          </a:prstGeom>
          <a:ln w="381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63640" y="5120640"/>
            <a:ext cx="47548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Clear answer • relevant example • confidence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4. Engineering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Units, dimensions and core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Force: newton (N); work/energy: joule (J); power: watt (W).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Pressure: pascal (Pa); stress: N/mm² or MPa.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Torque: N·m; speed: rpm; temperature: °C or K.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Mass is measured in kg; weight is a force measured in N.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Accuracy is closeness to reference; precision is repeatability.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Always state units and assumptions when solving a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Concept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23760" y="3154680"/>
            <a:ext cx="201168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5236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Formula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49640" y="3154680"/>
            <a:ext cx="201168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7824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Unit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19" y="3154680"/>
            <a:ext cx="201169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0412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97680"/>
            <a:ext cx="48463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Understand the principle before the formula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5. Engineering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Force, moment, friction and equilibrium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Newton’s laws explain motion and the relation between force and acceleration.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Moment = force × perpendicular distance from pivot.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For static equilibrium: sum of forces = 0 and sum of moments = 0.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Friction opposes relative motion or the tendency to move.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Stress = force / area; strain = change in length / original length.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Draw a free-body diagram before solving force problems.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ear 6 8"/>
          <p:cNvSpPr/>
          <p:nvPr/>
        </p:nvSpPr>
        <p:spPr>
          <a:xfrm>
            <a:off x="6766560" y="2514600"/>
            <a:ext cx="1645920" cy="1645920"/>
          </a:xfrm>
          <a:prstGeom prst="gear6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34072" y="3182112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ear 6 10"/>
          <p:cNvSpPr/>
          <p:nvPr/>
        </p:nvSpPr>
        <p:spPr>
          <a:xfrm>
            <a:off x="8887968" y="2715768"/>
            <a:ext cx="1243584" cy="1243584"/>
          </a:xfrm>
          <a:prstGeom prst="gear6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54312" y="3182112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526280"/>
            <a:ext cx="4937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Mechanical systems • motion • power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6. Strength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Stress, strain and elastic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Tensile stress = axial load / cross-sectional area.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Normal strain = change in length / original length.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Within linear elastic range: Young’s modulus = stress / strain.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Yield strength marks onset of significant plastic deformation.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Factor of safety = strength limit / design stress (basis must be specified).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Bending, torsion, fatigue and buckling are different failure modes.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ear 6 8"/>
          <p:cNvSpPr/>
          <p:nvPr/>
        </p:nvSpPr>
        <p:spPr>
          <a:xfrm>
            <a:off x="6766560" y="2514600"/>
            <a:ext cx="1645920" cy="1645920"/>
          </a:xfrm>
          <a:prstGeom prst="gear6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34072" y="3182112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ear 6 10"/>
          <p:cNvSpPr/>
          <p:nvPr/>
        </p:nvSpPr>
        <p:spPr>
          <a:xfrm>
            <a:off x="8887968" y="2715768"/>
            <a:ext cx="1243584" cy="1243584"/>
          </a:xfrm>
          <a:prstGeom prst="gear6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54312" y="3182112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526280"/>
            <a:ext cx="4937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Mechanical systems • motion •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45936"/>
            <a:ext cx="10789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67584"/>
                </a:solidFill>
                <a:latin typeface="Aptos"/>
              </a:rPr>
              <a:t>Use consistent units and the correct loading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7. Thermodynamics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Heat, work and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Temperature indicates thermal state; heat is energy transfer due to temperature difference.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First law: energy is conserved.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For a closed system: ΔU = Q − W when W is work done by the system.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Specific heat is energy needed to raise unit mass by one degree.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Efficiency = useful output / input × 100%.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Differentiate heat engine, refrigerator and heat pump.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20840" y="2240280"/>
            <a:ext cx="1280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78040" y="2697480"/>
            <a:ext cx="365760" cy="1325880"/>
          </a:xfrm>
          <a:prstGeom prst="roundRect">
            <a:avLst/>
          </a:prstGeom>
          <a:solidFill>
            <a:srgbClr val="BE4B4B"/>
          </a:solidFill>
          <a:ln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03720" y="3657600"/>
            <a:ext cx="914400" cy="411480"/>
          </a:xfrm>
          <a:prstGeom prst="roundRect">
            <a:avLst/>
          </a:prstGeom>
          <a:solidFill>
            <a:srgbClr val="BE4B4B"/>
          </a:solidFill>
          <a:ln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5400" y="2560320"/>
            <a:ext cx="228600" cy="1097280"/>
          </a:xfrm>
          <a:prstGeom prst="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5440" y="2560320"/>
            <a:ext cx="228600" cy="1097280"/>
          </a:xfrm>
          <a:prstGeom prst="rect">
            <a:avLst/>
          </a:prstGeom>
          <a:solidFill>
            <a:srgbClr val="32A3B9"/>
          </a:solidFill>
          <a:ln>
            <a:solidFill>
              <a:srgbClr val="32A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55480" y="2560320"/>
            <a:ext cx="228600" cy="1097280"/>
          </a:xfrm>
          <a:prstGeom prst="rect">
            <a:avLst/>
          </a:prstGeom>
          <a:solidFill>
            <a:srgbClr val="358E67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75520" y="2560320"/>
            <a:ext cx="228600" cy="109728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95560" y="2560320"/>
            <a:ext cx="228600" cy="1097280"/>
          </a:xfrm>
          <a:prstGeom prst="rect">
            <a:avLst/>
          </a:prstGeom>
          <a:solidFill>
            <a:srgbClr val="BE4B4B"/>
          </a:solidFill>
          <a:ln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57200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Heat transfer and temperature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8. Heat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Conduction, convection and radiation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Conduction transfers energy through a material due to a temperature gradient.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Convection transfers energy between a surface and moving fluid.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Radiation transfers energy through electromagnetic waves.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For 1-D conduction, heat rate depends on area and temperature gradient.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Insulation reduces heat transfer; fins increase surface area for convection.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Real systems may combine all three modes.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20840" y="2240280"/>
            <a:ext cx="1280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78040" y="2697480"/>
            <a:ext cx="365760" cy="1325880"/>
          </a:xfrm>
          <a:prstGeom prst="roundRect">
            <a:avLst/>
          </a:prstGeom>
          <a:solidFill>
            <a:srgbClr val="BE4B4B"/>
          </a:solidFill>
          <a:ln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03720" y="3657600"/>
            <a:ext cx="914400" cy="411480"/>
          </a:xfrm>
          <a:prstGeom prst="roundRect">
            <a:avLst/>
          </a:prstGeom>
          <a:solidFill>
            <a:srgbClr val="BE4B4B"/>
          </a:solidFill>
          <a:ln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5400" y="2560320"/>
            <a:ext cx="228600" cy="1097280"/>
          </a:xfrm>
          <a:prstGeom prst="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5440" y="2560320"/>
            <a:ext cx="228600" cy="1097280"/>
          </a:xfrm>
          <a:prstGeom prst="rect">
            <a:avLst/>
          </a:prstGeom>
          <a:solidFill>
            <a:srgbClr val="32A3B9"/>
          </a:solidFill>
          <a:ln>
            <a:solidFill>
              <a:srgbClr val="32A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55480" y="2560320"/>
            <a:ext cx="228600" cy="1097280"/>
          </a:xfrm>
          <a:prstGeom prst="rect">
            <a:avLst/>
          </a:prstGeom>
          <a:solidFill>
            <a:srgbClr val="358E67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75520" y="2560320"/>
            <a:ext cx="228600" cy="109728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95560" y="2560320"/>
            <a:ext cx="228600" cy="1097280"/>
          </a:xfrm>
          <a:prstGeom prst="rect">
            <a:avLst/>
          </a:prstGeom>
          <a:solidFill>
            <a:srgbClr val="BE4B4B"/>
          </a:solidFill>
          <a:ln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57200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Heat transfer and temperature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9. Fluid Mechanics &amp; Hydraulics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Pressure, flow and practical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Pressure = force / area; hydrostatic pressure increases with depth.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Continuity for incompressible steady flow: A₁V₁ = A₂V₂.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Bernoulli’s equation applies under defined ideal-flow assumptions.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Hydraulic force (ideal) = pressure × piston area.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Pneumatics use compressed gas; hydraulics use liquid under pressure.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Leaks and contamination can reduce system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29400" y="2240280"/>
            <a:ext cx="1097280" cy="2011680"/>
          </a:xfrm>
          <a:prstGeom prst="round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2926080"/>
            <a:ext cx="1828800" cy="502920"/>
          </a:xfrm>
          <a:prstGeom prst="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55480" y="2377439"/>
            <a:ext cx="914400" cy="173736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52628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Pressure × area = ideal force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10. Manufacturing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How parts are made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Casting: molten material solidifies in a mould.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Forging: material is shaped mainly by compressive forces.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Rolling: material passes between rolls to reduce thickness or shape section.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Machining removes material using cutting tools.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Welding joins parts through heat, pressure or both.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Powder metallurgy forms parts from powder through compaction and sintering.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914400" cy="1188720"/>
          </a:xfrm>
          <a:prstGeom prst="round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2834639"/>
            <a:ext cx="2423160" cy="457200"/>
          </a:xfrm>
          <a:prstGeom prst="rect">
            <a:avLst/>
          </a:prstGeom>
          <a:solidFill>
            <a:srgbClr val="DCEBF6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0" y="2468880"/>
            <a:ext cx="914400" cy="1188720"/>
          </a:xfrm>
          <a:prstGeom prst="round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2651760"/>
            <a:ext cx="1005840" cy="82296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548640" cy="548640"/>
          </a:xfrm>
          <a:prstGeom prst="round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251960"/>
            <a:ext cx="48463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Turning • milling • drilling • grinding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11. Lathe, Milling &amp; Drilling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Know machine purpose and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Lathe: workpiece rotates; common operations include turning, facing and threading.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Milling: rotating multi-point cutter removes material.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Drilling creates a hole; reaming improves hole size and finish.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Boring enlarges or corrects an existing hole.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Grinding uses an abrasive wheel for finishing and accuracy.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Identify workholding, cutting tool, feed, speed and coolant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914400" cy="1188720"/>
          </a:xfrm>
          <a:prstGeom prst="round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2834639"/>
            <a:ext cx="2423160" cy="457200"/>
          </a:xfrm>
          <a:prstGeom prst="rect">
            <a:avLst/>
          </a:prstGeom>
          <a:solidFill>
            <a:srgbClr val="DCEBF6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0" y="2468880"/>
            <a:ext cx="914400" cy="1188720"/>
          </a:xfrm>
          <a:prstGeom prst="round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2651760"/>
            <a:ext cx="1005840" cy="82296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548640" cy="548640"/>
          </a:xfrm>
          <a:prstGeom prst="round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251960"/>
            <a:ext cx="48463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Turning • milling • drilling • grinding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12. Cutting Speed &amp; RPM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A frequent workshop calculation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N = (1000 × V) / (π × D) for metric cutting speed.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N = spindle speed in rpm; V = cutting speed in m/min; D = diameter in mm.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Example: V = 30 m/min and D = 10 mm.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N ≈ (1000 × 30) / (3.1416 × 10) ≈ 955 rpm.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Choose a suitable available machine speed and follow tool guidance.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Clamp the workpiece; never hold it by hand while drilling.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629400" y="2880360"/>
            <a:ext cx="3931920" cy="0"/>
          </a:xfrm>
          <a:prstGeom prst="line">
            <a:avLst/>
          </a:prstGeom>
          <a:ln w="508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95160" y="2514600"/>
            <a:ext cx="0" cy="1463039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26679" y="2514600"/>
            <a:ext cx="0" cy="1463039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95160" y="3977639"/>
            <a:ext cx="731519" cy="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46920" y="2514600"/>
            <a:ext cx="0" cy="1463039"/>
          </a:xfrm>
          <a:prstGeom prst="line">
            <a:avLst/>
          </a:prstGeom>
          <a:ln w="381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87000" y="2514600"/>
            <a:ext cx="0" cy="1463039"/>
          </a:xfrm>
          <a:prstGeom prst="line">
            <a:avLst/>
          </a:prstGeom>
          <a:ln w="381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46920" y="3977639"/>
            <a:ext cx="640080" cy="0"/>
          </a:xfrm>
          <a:prstGeom prst="line">
            <a:avLst/>
          </a:prstGeom>
          <a:ln w="381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63640" y="452628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Measure • compare •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45936"/>
            <a:ext cx="10789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67584"/>
                </a:solidFill>
                <a:latin typeface="Aptos"/>
              </a:rPr>
              <a:t>Illustrative example; actual cutting speed depends on tool, material and operation.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13. Metrology &amp; Measuring Instruments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Choose the right instrument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Steel rule: quick, lower-precision length checks.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Vernier caliper: external, internal and depth measurements within its range.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Micrometer: precise thickness or diameter measurement.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Dial indicator: small displacement, runout and alignment checks.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Height gauge and surface plate: height and layout measurements.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Use clean, calibrated instruments and avoid excessive measuring force.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629400" y="2880360"/>
            <a:ext cx="3931920" cy="0"/>
          </a:xfrm>
          <a:prstGeom prst="line">
            <a:avLst/>
          </a:prstGeom>
          <a:ln w="508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95160" y="2514600"/>
            <a:ext cx="0" cy="1463039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26679" y="2514600"/>
            <a:ext cx="0" cy="1463039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95160" y="3977639"/>
            <a:ext cx="731519" cy="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46920" y="2514600"/>
            <a:ext cx="0" cy="1463039"/>
          </a:xfrm>
          <a:prstGeom prst="line">
            <a:avLst/>
          </a:prstGeom>
          <a:ln w="381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87000" y="2514600"/>
            <a:ext cx="0" cy="1463039"/>
          </a:xfrm>
          <a:prstGeom prst="line">
            <a:avLst/>
          </a:prstGeom>
          <a:ln w="381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46920" y="3977639"/>
            <a:ext cx="640080" cy="0"/>
          </a:xfrm>
          <a:prstGeom prst="line">
            <a:avLst/>
          </a:prstGeom>
          <a:ln w="381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63640" y="452628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Measure • compare • record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14. Limits, Fits &amp; Tolerances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Essential for assembly and interchangeability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Tolerance is the permitted variation in a dimension.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Clearance fit: clearance exists between mating parts.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Interference fit: assembly requires force or a suitable thermal method.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Transition fit may result in clearance or interference depending on actual sizes.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Hole-basis system commonly keeps basic hole size fixed and varies shaft limits.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Read drawing symbols and datums; do not guess unspecified tolerances.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629400" y="2880360"/>
            <a:ext cx="3931920" cy="0"/>
          </a:xfrm>
          <a:prstGeom prst="line">
            <a:avLst/>
          </a:prstGeom>
          <a:ln w="508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95160" y="2514600"/>
            <a:ext cx="0" cy="1463039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26679" y="2514600"/>
            <a:ext cx="0" cy="1463039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95160" y="3977639"/>
            <a:ext cx="731519" cy="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46920" y="2514600"/>
            <a:ext cx="0" cy="1463039"/>
          </a:xfrm>
          <a:prstGeom prst="line">
            <a:avLst/>
          </a:prstGeom>
          <a:ln w="381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87000" y="2514600"/>
            <a:ext cx="0" cy="1463039"/>
          </a:xfrm>
          <a:prstGeom prst="line">
            <a:avLst/>
          </a:prstGeom>
          <a:ln w="381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46920" y="3977639"/>
            <a:ext cx="640080" cy="0"/>
          </a:xfrm>
          <a:prstGeom prst="line">
            <a:avLst/>
          </a:prstGeom>
          <a:ln w="381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63640" y="452628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Measure • compare • record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15. Engineering Drawing &amp; GD&amp;T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Read the drawing before making the part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Orthographic views communicate geometry; isometric views help visualize shape.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Section views reveal internal features.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Dimensions define size and location; tolerances define allowed variation.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Surface-finish symbols indicate required surface texture.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Datums establish references for measurement and geometric control.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Check revision, units, material, heat treatment and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78040" y="1965960"/>
            <a:ext cx="27432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79" y="2240280"/>
            <a:ext cx="2103120" cy="457200"/>
          </a:xfrm>
          <a:prstGeom prst="roundRect">
            <a:avLst/>
          </a:prstGeom>
          <a:solidFill>
            <a:srgbClr val="DCEBF6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543800" y="3017520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43800" y="3383279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43800" y="3749039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43800" y="4114800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43800" y="4480560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78040" y="5394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Resume • projects • skills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16. Materials &amp; Heat Treatment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Select materials for service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Steel is an iron-based alloy with carbon and possibly other alloying elements.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Cast iron generally has higher carbon content and useful casting behaviour.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Aluminium alloys are lightweight; stainless steels can provide corrosion resistance.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Hardness resists indentation; toughness is energy absorbed before fracture.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Annealing, normalizing, hardening and tempering produce different effects.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Material choice depends on load, wear, corrosion, temperature, cost and manufacturability.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ear 6 8"/>
          <p:cNvSpPr/>
          <p:nvPr/>
        </p:nvSpPr>
        <p:spPr>
          <a:xfrm>
            <a:off x="6766560" y="2514600"/>
            <a:ext cx="1645920" cy="1645920"/>
          </a:xfrm>
          <a:prstGeom prst="gear6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34072" y="3182112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ear 6 10"/>
          <p:cNvSpPr/>
          <p:nvPr/>
        </p:nvSpPr>
        <p:spPr>
          <a:xfrm>
            <a:off x="8887968" y="2715768"/>
            <a:ext cx="1243584" cy="1243584"/>
          </a:xfrm>
          <a:prstGeom prst="gear6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54312" y="3182112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526280"/>
            <a:ext cx="4937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Mechanical systems • motion • power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17. Welding &amp; Fabrication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Basic shop-floor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Common processes include SMAW (stick), GMAW/MIG, GTAW/TIG and resistance welding.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Defects can include porosity, cracks, lack of fusion or undercut.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Prepare joint edges and clean surfaces as required by the procedure.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 specified welding procedure, consumables and inspection method.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PPE includes suitable helmet, gloves, protective clothing and ventilation.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Never weld unknown containers without authorized safe preparation.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2423160"/>
            <a:ext cx="1188720" cy="1645920"/>
          </a:xfrm>
          <a:prstGeom prst="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2423160"/>
            <a:ext cx="1188720" cy="1645920"/>
          </a:xfrm>
          <a:prstGeom prst="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863840" y="2788920"/>
            <a:ext cx="1417320" cy="77724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92440" y="2788920"/>
            <a:ext cx="1078992" cy="77724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21040" y="2788920"/>
            <a:ext cx="740664" cy="77724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49640" y="2788920"/>
            <a:ext cx="402336" cy="77724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78240" y="2788920"/>
            <a:ext cx="64008" cy="77724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63640" y="443484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Welding processes and safe practice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18. CNC, CAD &amp; CAM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Useful skills for manufacturing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CAD creates 2D drawings and 3D models.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CAM creates toolpaths from geometry and manufacturing strategy.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CNC machines execute programmed motion using controlled axes.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G-code and M-code functions depend on controller and machine.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Check work offset, tool offset, program revision, fixture and simulation before running.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Only operate machines after appropriate training and authorization.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914400" cy="1188720"/>
          </a:xfrm>
          <a:prstGeom prst="round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2834639"/>
            <a:ext cx="2423160" cy="457200"/>
          </a:xfrm>
          <a:prstGeom prst="rect">
            <a:avLst/>
          </a:prstGeom>
          <a:solidFill>
            <a:srgbClr val="DCEBF6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0" y="2468880"/>
            <a:ext cx="914400" cy="1188720"/>
          </a:xfrm>
          <a:prstGeom prst="round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2651760"/>
            <a:ext cx="1005840" cy="82296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548640" cy="548640"/>
          </a:xfrm>
          <a:prstGeom prst="round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251960"/>
            <a:ext cx="48463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Turning • milling • drilling • grinding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19. Quality Control &amp;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Prevent defects and prove conformity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Inspection compares a product with drawings and specifications.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Quality assurance focuses on planned systems; quality control checks outputs.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Calibration links instrument readings to known references.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5S: Sort, Set in order, Shine, Standardize, Sustain.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Root-cause tools include 5 Whys, fishbone diagrams and Pareto analysis.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Record nonconformities, contain affected parts and follow corrective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240280"/>
            <a:ext cx="1828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377439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768A5"/>
                </a:solidFill>
                <a:latin typeface="Aptos"/>
              </a:rPr>
              <a:t>CHECK SHEET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834639"/>
            <a:ext cx="164592" cy="164592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903720" y="2926080"/>
            <a:ext cx="1051559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629400" y="3127247"/>
            <a:ext cx="164592" cy="164592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903720" y="3218688"/>
            <a:ext cx="1051559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29400" y="3419856"/>
            <a:ext cx="164592" cy="164592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903720" y="3511296"/>
            <a:ext cx="1051559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29400" y="3712463"/>
            <a:ext cx="164592" cy="164592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903720" y="3803904"/>
            <a:ext cx="1051559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15400" y="2377439"/>
            <a:ext cx="1645920" cy="1463040"/>
          </a:xfrm>
          <a:prstGeom prst="round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3931920"/>
            <a:ext cx="15544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Process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709160"/>
            <a:ext cx="48463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Quality • safety • delivery • cost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20. Maintenance &amp;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Reliability is a practical engineering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Breakdown maintenance occurs after failure; preventive maintenance is scheduled.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Predictive maintenance uses condition information such as vibration or temperature.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Lubrication reduces friction and wear when the correct lubricant and interval are used.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For a fault: make safe, collect evidence, check likely causes, test and document.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 lockout/tagout or the site’s energy-isolation procedure before maintenance.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Never remove guards or bypass interlocks to save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entagon 8"/>
          <p:cNvSpPr/>
          <p:nvPr/>
        </p:nvSpPr>
        <p:spPr>
          <a:xfrm>
            <a:off x="7543800" y="2103120"/>
            <a:ext cx="2011680" cy="2148840"/>
          </a:xfrm>
          <a:prstGeom prst="homePlate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138160" y="3154680"/>
            <a:ext cx="457200" cy="411480"/>
          </a:xfrm>
          <a:prstGeom prst="line">
            <a:avLst/>
          </a:prstGeom>
          <a:ln w="63500">
            <a:solidFill>
              <a:srgbClr val="358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595360" y="2743200"/>
            <a:ext cx="502920" cy="822960"/>
          </a:xfrm>
          <a:prstGeom prst="line">
            <a:avLst/>
          </a:prstGeom>
          <a:ln w="63500">
            <a:solidFill>
              <a:srgbClr val="358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3640" y="457200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Stop • isolate • verify • report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21. Industrial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Safety answers should be practical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Identify hazards before starting a task and follow the risk assessment.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Wear task-appropriate PPE and use machine guards.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Isolate energy sources before servicing equipment.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Use approved lifting equipment and never stand under suspended loads.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Report near misses, unsafe conditions and injuries promptly.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If unsure, stop and ask a competent supervisor.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entagon 8"/>
          <p:cNvSpPr/>
          <p:nvPr/>
        </p:nvSpPr>
        <p:spPr>
          <a:xfrm>
            <a:off x="7543800" y="2103120"/>
            <a:ext cx="2011680" cy="2148840"/>
          </a:xfrm>
          <a:prstGeom prst="homePlate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138160" y="3154680"/>
            <a:ext cx="457200" cy="411480"/>
          </a:xfrm>
          <a:prstGeom prst="line">
            <a:avLst/>
          </a:prstGeom>
          <a:ln w="63500">
            <a:solidFill>
              <a:srgbClr val="358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595360" y="2743200"/>
            <a:ext cx="502920" cy="822960"/>
          </a:xfrm>
          <a:prstGeom prst="line">
            <a:avLst/>
          </a:prstGeom>
          <a:ln w="63500">
            <a:solidFill>
              <a:srgbClr val="358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3640" y="457200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Stop • isolate • verify • report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22. Role-Specific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Adapt revision to the job 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Production: cycle time, output, rejection, 5S and standard work.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Quality: drawing interpretation, instruments, sampling and nonconformance.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Maintenance: fault finding, lubrication, alignment and energy isolation.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CNC/operator: tooling, offsets, workholding, feeds/speeds and program checks.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Design: CAD, tolerances, material selection and design intent.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Tool room/mould: mould components, fit, cooling, ejection and maintenance.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Concept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23760" y="3154680"/>
            <a:ext cx="201168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5236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Formula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49640" y="3154680"/>
            <a:ext cx="201168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7824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Unit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19" y="3154680"/>
            <a:ext cx="201169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0412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97680"/>
            <a:ext cx="48463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Understand the principle before the formula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23. Project &amp; Internship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Turn experience into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What was the objective and what problem did you solve?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What was your personal contribution—not only the team’s work?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Which material, process, tools or software did you use?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What constraints, errors or safety risks did you handle?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What result can you show or quantify?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If you would improve it, what would you change and why?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78040" y="1965960"/>
            <a:ext cx="27432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79" y="2240280"/>
            <a:ext cx="2103120" cy="457200"/>
          </a:xfrm>
          <a:prstGeom prst="roundRect">
            <a:avLst/>
          </a:prstGeom>
          <a:solidFill>
            <a:srgbClr val="DCEBF6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543800" y="3017520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43800" y="3383279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43800" y="3749039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43800" y="4114800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43800" y="4480560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78040" y="5394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Resume • projects • skills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24. Mock Technical Interview — Round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Practise aloud; answers should be concise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What is the difference between stress and strain?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Explain clearance, interference and transition fits.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Why is coolant used in machining?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What is the difference between welding and brazing?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Explain conduction, convection and radiation.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How do you calculate drilling spindle speed?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Name three measuring instruments and their 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87768" y="2240280"/>
            <a:ext cx="512064" cy="512064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04888" y="2834639"/>
            <a:ext cx="877824" cy="109728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3768" y="2240280"/>
            <a:ext cx="512064" cy="512064"/>
          </a:xfrm>
          <a:prstGeom prst="ellipse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90888" y="2834639"/>
            <a:ext cx="877824" cy="1097280"/>
          </a:xfrm>
          <a:prstGeom prst="round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4069080"/>
            <a:ext cx="3840480" cy="256032"/>
          </a:xfrm>
          <a:prstGeom prst="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543800" y="4325112"/>
            <a:ext cx="0" cy="475488"/>
          </a:xfrm>
          <a:prstGeom prst="line">
            <a:avLst/>
          </a:prstGeom>
          <a:ln w="381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29800" y="4325112"/>
            <a:ext cx="0" cy="475488"/>
          </a:xfrm>
          <a:prstGeom prst="line">
            <a:avLst/>
          </a:prstGeom>
          <a:ln w="381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63640" y="5120640"/>
            <a:ext cx="47548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Clear answer • relevant example •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45936"/>
            <a:ext cx="10789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67584"/>
                </a:solidFill>
                <a:latin typeface="Aptos"/>
              </a:rPr>
              <a:t>Practise answering in 30–60 seconds, then add a real workshop example.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25. Mock Technical Interview —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Troubleshooting and practical judgement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 drilled hole is oversized. What would you check?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 bearing runs hot. What possible causes would you investigate?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 component fails dimensional inspection. What is your first action?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 hydraulic cylinder moves slowly. What checks are appropriate?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 machine vibrates more than usual. How do you respond safely?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 drawing and verbal instruction conflict. What do you 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240280"/>
            <a:ext cx="1828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377439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768A5"/>
                </a:solidFill>
                <a:latin typeface="Aptos"/>
              </a:rPr>
              <a:t>CHECK SHEET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834639"/>
            <a:ext cx="164592" cy="164592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903720" y="2926080"/>
            <a:ext cx="1051559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629400" y="3127247"/>
            <a:ext cx="164592" cy="164592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903720" y="3218688"/>
            <a:ext cx="1051559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29400" y="3419856"/>
            <a:ext cx="164592" cy="164592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903720" y="3511296"/>
            <a:ext cx="1051559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29400" y="3712463"/>
            <a:ext cx="164592" cy="164592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903720" y="3803904"/>
            <a:ext cx="1051559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15400" y="2377439"/>
            <a:ext cx="1645920" cy="1463040"/>
          </a:xfrm>
          <a:prstGeom prst="roundRect">
            <a:avLst/>
          </a:prstGeom>
          <a:solidFill>
            <a:srgbClr val="91A3B3"/>
          </a:solidFill>
          <a:ln>
            <a:solidFill>
              <a:srgbClr val="91A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3931920"/>
            <a:ext cx="15544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Process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709160"/>
            <a:ext cx="48463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Quality • safety • delivery •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45936"/>
            <a:ext cx="10789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67584"/>
                </a:solidFill>
                <a:latin typeface="Aptos"/>
              </a:rPr>
              <a:t>Strong answers include safety, evidence, systematic checks and escalation.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26. Model Answer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Structure answers so the interviewer can follow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Define the concept in one sentence.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Explain how it works or why it matters.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Give one practical example from a machine, part or project.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Mention a limitation, safety factor or quality check if relevant.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For troubleshooting: safety → symptoms → likely causes → tests → corrective action.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If you do not know, say so and explain how you would find the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Concept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23760" y="3154680"/>
            <a:ext cx="201168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5236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Formula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49640" y="3154680"/>
            <a:ext cx="201168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7824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Unit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19" y="3154680"/>
            <a:ext cx="201169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0412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97680"/>
            <a:ext cx="48463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Understand the principle before the formula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27. Resume &amp; Documents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Prepare before interview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One-page resume with accurate education, skills and project details.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Diploma marksheets, certificates and identity documents as requested.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Project summary, drawings, photos or portfolio if permitted.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Know your resume: every listed tool and software may be discussed.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Keep copies and digital backups; follow employer instructions.</a:t>
            </a:r>
          </a:p>
          <a:p>
            <a:pPr>
              <a:spcAft>
                <a:spcPts val="8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Plan travel and arrive early; dress neatly and communicate respectfully.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78040" y="1965960"/>
            <a:ext cx="27432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79" y="2240280"/>
            <a:ext cx="2103120" cy="457200"/>
          </a:xfrm>
          <a:prstGeom prst="roundRect">
            <a:avLst/>
          </a:prstGeom>
          <a:solidFill>
            <a:srgbClr val="DCEBF6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543800" y="3017520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43800" y="3383279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43800" y="3749039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43800" y="4114800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43800" y="4480560"/>
            <a:ext cx="1965960" cy="0"/>
          </a:xfrm>
          <a:prstGeom prst="line">
            <a:avLst/>
          </a:prstGeom>
          <a:ln w="127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78040" y="5394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Resume • projects • skills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28. Final Revision Formula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Review units and formulas—not just memorized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Moment = Force × perpendicular distance.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Stress = Force / Area; strain = ΔL / L₀.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Power = Work / Time; efficiency = output / input × 100%.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Pressure = Force / Area; hydraulic force ≈ pressure × piston area.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Continuity for incompressible flow: A₁V₁ = A₂V₂.</a:t>
            </a:r>
          </a:p>
          <a:p>
            <a:pPr>
              <a:spcAft>
                <a:spcPts val="8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Spindle speed: N = (1000 × cutting speed) / (π × diameter).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52160" cy="5029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Concept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23760" y="3154680"/>
            <a:ext cx="201168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5236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Formula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49640" y="3154680"/>
            <a:ext cx="201168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7824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Unit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19" y="3154680"/>
            <a:ext cx="201169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04120" y="2743200"/>
            <a:ext cx="1097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2862072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62B49"/>
                </a:solidFill>
                <a:latin typeface="Aptos"/>
              </a:rPr>
              <a:t>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97680"/>
            <a:ext cx="48463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Understand the principle before the formula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29. Quick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Try answering before checking the answer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4572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53312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1325880"/>
            <a:ext cx="9601200" cy="457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344168"/>
            <a:ext cx="92354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541"/>
                </a:solidFill>
                <a:latin typeface="Aptos"/>
              </a:rPr>
              <a:t>Which instrument is commonly used for precise small-diameter measurement?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75688"/>
            <a:ext cx="502920" cy="4572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075688"/>
            <a:ext cx="9601200" cy="457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093976"/>
            <a:ext cx="92354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541"/>
                </a:solidFill>
                <a:latin typeface="Aptos"/>
              </a:rPr>
              <a:t>What does a clearance fit guarantee?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25496"/>
            <a:ext cx="502920" cy="4572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52927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2825496"/>
            <a:ext cx="9601200" cy="457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2843784"/>
            <a:ext cx="92354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541"/>
                </a:solidFill>
                <a:latin typeface="Aptos"/>
              </a:rPr>
              <a:t>Name the three main modes of heat transfer.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75304"/>
            <a:ext cx="502920" cy="4572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02736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3575304"/>
            <a:ext cx="9601200" cy="457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3593592"/>
            <a:ext cx="92354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541"/>
                </a:solidFill>
                <a:latin typeface="Aptos"/>
              </a:rPr>
              <a:t>What should happen before machine maintenance?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325112"/>
            <a:ext cx="502920" cy="4572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4325112"/>
            <a:ext cx="9601200" cy="457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4343399"/>
            <a:ext cx="92354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541"/>
                </a:solidFill>
                <a:latin typeface="Aptos"/>
              </a:rPr>
              <a:t>What is the unit of torque?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074920"/>
            <a:ext cx="502920" cy="457200"/>
          </a:xfrm>
          <a:prstGeom prst="round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02352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3040" y="5074920"/>
            <a:ext cx="9601200" cy="457200"/>
          </a:xfrm>
          <a:prstGeom prst="roundRect">
            <a:avLst/>
          </a:prstGeom>
          <a:solidFill>
            <a:srgbClr val="F0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5093207"/>
            <a:ext cx="92354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541"/>
                </a:solidFill>
                <a:latin typeface="Aptos"/>
              </a:rPr>
              <a:t>What does CNC stand for?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30. Quick Self-Test — Answer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457200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53312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1325880"/>
            <a:ext cx="9601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344168"/>
            <a:ext cx="92354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541"/>
                </a:solidFill>
                <a:latin typeface="Aptos"/>
              </a:rPr>
              <a:t>Outside micrometer, when suitable for the size and tolerance.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75688"/>
            <a:ext cx="502920" cy="457200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075688"/>
            <a:ext cx="9601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093976"/>
            <a:ext cx="92354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541"/>
                </a:solidFill>
                <a:latin typeface="Aptos"/>
              </a:rPr>
              <a:t>A positive gap between mating parts at specified limits.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25496"/>
            <a:ext cx="502920" cy="457200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52927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2825496"/>
            <a:ext cx="9601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2843784"/>
            <a:ext cx="92354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541"/>
                </a:solidFill>
                <a:latin typeface="Aptos"/>
              </a:rPr>
              <a:t>Conduction, convection and radiation.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75304"/>
            <a:ext cx="502920" cy="457200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02736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3575304"/>
            <a:ext cx="9601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3593592"/>
            <a:ext cx="92354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541"/>
                </a:solidFill>
                <a:latin typeface="Aptos"/>
              </a:rPr>
              <a:t>Isolate hazardous energy using the approved procedure and verify safe state.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325112"/>
            <a:ext cx="502920" cy="457200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4325112"/>
            <a:ext cx="9601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4343399"/>
            <a:ext cx="92354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541"/>
                </a:solidFill>
                <a:latin typeface="Aptos"/>
              </a:rPr>
              <a:t>Newton-metre (N·m).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074920"/>
            <a:ext cx="502920" cy="457200"/>
          </a:xfrm>
          <a:prstGeom prst="roundRect">
            <a:avLst/>
          </a:prstGeom>
          <a:solidFill>
            <a:srgbClr val="DCEBF6"/>
          </a:solidFill>
          <a:ln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02352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3040" y="5074920"/>
            <a:ext cx="9601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5093207"/>
            <a:ext cx="92354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541"/>
                </a:solidFill>
                <a:latin typeface="Aptos"/>
              </a:rPr>
              <a:t>Computer Numerical Control.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984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EB9137"/>
                </a:solidFill>
                <a:latin typeface="Aptos"/>
              </a:rPr>
              <a:t>YOUR INTERVIEW PREPARATION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417320" cy="475488"/>
          </a:xfrm>
          <a:prstGeom prst="round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45336"/>
            <a:ext cx="1234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527048"/>
            <a:ext cx="8046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Self-introduction, HR questions and resume.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58568"/>
            <a:ext cx="1417320" cy="475488"/>
          </a:xfrm>
          <a:prstGeom prst="round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1234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276856"/>
            <a:ext cx="8046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Mechanics, strength of materials and formulas.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417320" cy="475488"/>
          </a:xfrm>
          <a:prstGeom prst="round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44952"/>
            <a:ext cx="1234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Day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026664"/>
            <a:ext cx="8046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Manufacturing, machines, materials and metrology.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58183"/>
            <a:ext cx="1417320" cy="475488"/>
          </a:xfrm>
          <a:prstGeom prst="round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94759"/>
            <a:ext cx="1234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Day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776471"/>
            <a:ext cx="8046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Quality, maintenance, CAD/CNC and safety.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07992"/>
            <a:ext cx="1417320" cy="475488"/>
          </a:xfrm>
          <a:prstGeom prst="roundRect">
            <a:avLst/>
          </a:prstGeom>
          <a:solidFill>
            <a:srgbClr val="2768A5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44568"/>
            <a:ext cx="1234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Day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526279"/>
            <a:ext cx="8046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Mock interview, project story and final revision.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577840"/>
            <a:ext cx="10241280" cy="594360"/>
          </a:xfrm>
          <a:prstGeom prst="roundRect">
            <a:avLst/>
          </a:prstGeom>
          <a:solidFill>
            <a:srgbClr val="23557D"/>
          </a:solidFill>
          <a:ln>
            <a:solidFill>
              <a:srgbClr val="23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650992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Know the basics • Speak honestly • Think safely • Keep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ECDDA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Diploma Mechanical Engineer Interview Preparation - Complete Guide</dc:title>
  <dc:subject>Technical, HR, workshop, manufacturing, safety and mock interview preparation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