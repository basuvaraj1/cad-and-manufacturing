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FORMULA HANDBOOK + PRACTICAL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MECHANICAL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560320"/>
            <a:ext cx="1005840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DAE6F2"/>
                </a:solidFill>
                <a:latin typeface="Aptos"/>
              </a:defRPr>
            </a:pPr>
            <a:r>
              <a:t>Calculations: Basic to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74720"/>
            <a:ext cx="8046720" cy="960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DAE6F2"/>
                </a:solidFill>
                <a:latin typeface="Aptos"/>
              </a:defRPr>
            </a:pPr>
            <a:r>
              <a:t>A practical reference for design, manufacturing, machine elements,</a:t>
            </a:r>
            <a:br/>
            <a:r>
              <a:t>fluids, thermodynamics, and engineering problem-solving.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8686800" y="1417320"/>
            <a:ext cx="1920240" cy="1325880"/>
          </a:xfrm>
          <a:prstGeom prst="parallelogram">
            <a:avLst/>
          </a:prstGeom>
          <a:solidFill>
            <a:srgbClr val="237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9738360" y="2377440"/>
            <a:ext cx="1463040" cy="1051560"/>
          </a:xfrm>
          <a:prstGeom prst="parallelogram">
            <a:avLst/>
          </a:prstGeom>
          <a:solidFill>
            <a:srgbClr val="3FBE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8275320" y="3063240"/>
            <a:ext cx="1417320" cy="1005840"/>
          </a:xfrm>
          <a:prstGeom prst="parallelogram">
            <a:avLst/>
          </a:prstGeom>
          <a:solidFill>
            <a:srgbClr val="F293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806440"/>
            <a:ext cx="77724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3FBEDC"/>
                </a:solidFill>
                <a:latin typeface="Aptos"/>
              </a:defRPr>
            </a:pPr>
            <a:r>
              <a:t>LEARN THE FORMULA • CHECK THE UNITS • VERIFY THE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C8D2E1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How to use this calculation handbook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Formulas are starting points; use the applicable standard and design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6479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1. Identify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7627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List known values, unknowns, assumptions and boundary conditions.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6479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2. Convert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7627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Use one consistent unit system before substituting values.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6479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3. Calculate +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7627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Show the equation, substitute values and check dimensions.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Separate nominal load from dynamic, shock and safety factors.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Use actual material properties, operating conditions and manufacturer data.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For safety-critical parts, verify with applicable codes, standards, testing and qualified engineering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Formula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Major mechanical engineering calculation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7335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Math +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84831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Algebra, geometry, trigonometry, unit conversions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5448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5448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67335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Statics + strength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084831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Forces, moments, stress, strain, deflection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55448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67335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Machine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084831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Shafts, keys, bolts, bearings, springs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290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429000"/>
            <a:ext cx="73152" cy="1508760"/>
          </a:xfrm>
          <a:prstGeom prst="rect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5478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Motion + power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9593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Speed, torque, gears, belts, power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4290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42900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35478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Fluids + thermal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39593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Pressure, flow, heat, thermodynamics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4290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42900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5478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Manufacturing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39593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Fits, tolerances, machining, sheet metal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4572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Units, dimensions and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9875520" cy="12801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0">
                <a:solidFill>
                  <a:srgbClr val="D7E1EE"/>
                </a:solidFill>
                <a:latin typeface="Aptos"/>
              </a:defRPr>
            </a:pPr>
            <a:r>
              <a:t>Build a reliable foundation: convert units first and keep dimensions consistent.</a:t>
            </a:r>
          </a:p>
        </p:txBody>
      </p:sp>
      <p:sp>
        <p:nvSpPr>
          <p:cNvPr id="5" name="Hexagon 4"/>
          <p:cNvSpPr/>
          <p:nvPr/>
        </p:nvSpPr>
        <p:spPr>
          <a:xfrm>
            <a:off x="9601200" y="4023360"/>
            <a:ext cx="1005840" cy="1005840"/>
          </a:xfrm>
          <a:prstGeom prst="hexagon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332720" y="4434840"/>
            <a:ext cx="685800" cy="685800"/>
          </a:xfrm>
          <a:prstGeom prst="hexagon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961120" y="4754880"/>
            <a:ext cx="502920" cy="502920"/>
          </a:xfrm>
          <a:prstGeom prst="hexagon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1.1  Essential unit conversions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Common SI and workshop conversions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Length: 1 m = 1000 mm; 1 inch = 25.4 mm.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Area: 1 m² = 1,000,000 mm²; 1 cm² = 100 mm².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Volume: 1 m³ = 1000 L; 1 L = 10⁶ mm³.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Force: 1 kN = 1000 N; mass and force are not the same quantity.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Pressure: 1 MPa = 1 N/mm²; 1 bar = 0.1 MPa = 100 kPa.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Power: 1 kW = 1000 W; torque: N·m; stress: Pa or MPa.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2370BE"/>
                </a:solidFill>
                <a:latin typeface="Aptos"/>
              </a:defRPr>
            </a:pPr>
            <a:r>
              <a:t>Always write units beside values. Do not mix mm with m or bar with Pa in one equation.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1.2  Geometry formulas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Useful for plates, shafts, cylinders, tanks and machined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46304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30552"/>
            <a:ext cx="310896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Area: A = L × W</a:t>
            </a:r>
            <a:br/>
            <a:r>
              <a:t>Perimeter: P = 2(L + 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46304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Circle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30552"/>
            <a:ext cx="310896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Area: A = πD²/4</a:t>
            </a:r>
            <a:br/>
            <a:r>
              <a:t>Circumference: C = πD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46304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Cylinder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30552"/>
            <a:ext cx="310896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Volume: V = πD²L/4</a:t>
            </a:r>
            <a:br/>
            <a:r>
              <a:t>Lateral area: A = πDL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29000"/>
            <a:ext cx="347472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429000"/>
            <a:ext cx="73152" cy="1463040"/>
          </a:xfrm>
          <a:prstGeom prst="rect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5478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Annulus / tube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959352"/>
            <a:ext cx="310896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Area: A = π(Do² − Di²)/4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429000"/>
            <a:ext cx="347472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429000"/>
            <a:ext cx="73152" cy="146304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35478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Sphere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3959352"/>
            <a:ext cx="310896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Volume: V = πD³/6</a:t>
            </a:r>
            <a:br/>
            <a:r>
              <a:t>Surface area: A = πD²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429000"/>
            <a:ext cx="347472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429000"/>
            <a:ext cx="73152" cy="146304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35478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Right triangle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959352"/>
            <a:ext cx="310896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a² + b² = c²</a:t>
            </a:r>
            <a:br/>
            <a:r>
              <a:t>sin θ = opposite / hypotenuse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1.3  Worked example: plate volume and mass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Illustrative values only; use actual material density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Plate dimensions: 200 × 100 × 10 mm.</a:t>
            </a:r>
          </a:p>
          <a:p>
            <a:pPr>
              <a:spcAft>
                <a:spcPts val="9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Volume: V = 200 × 100 × 10 = 200,000 mm³ = 0.0002 m³.</a:t>
            </a:r>
          </a:p>
          <a:p>
            <a:pPr>
              <a:spcAft>
                <a:spcPts val="9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Assume steel density 7850 kg/m³.</a:t>
            </a:r>
          </a:p>
          <a:p>
            <a:pPr>
              <a:spcAft>
                <a:spcPts val="9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Mass: m = ρV = 7850 × 0.0002 = 1.57 kg.</a:t>
            </a:r>
          </a:p>
          <a:p>
            <a:pPr>
              <a:spcAft>
                <a:spcPts val="9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If holes, pockets or cut-outs exist, subtract their volumes before calculating mass.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2370BE"/>
                </a:solidFill>
                <a:latin typeface="Aptos"/>
              </a:defRPr>
            </a:pPr>
            <a:r>
              <a:t>Check: density in kg/m³ × volume in m³ gives mass in kg.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4572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MODULE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Statics and force calculations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9875520" cy="12801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0">
                <a:solidFill>
                  <a:srgbClr val="D7E1EE"/>
                </a:solidFill>
                <a:latin typeface="Aptos"/>
              </a:defRPr>
            </a:pPr>
            <a:r>
              <a:t>Calculate forces and moments before sizing structural or machine components.</a:t>
            </a:r>
          </a:p>
        </p:txBody>
      </p:sp>
      <p:sp>
        <p:nvSpPr>
          <p:cNvPr id="5" name="Hexagon 4"/>
          <p:cNvSpPr/>
          <p:nvPr/>
        </p:nvSpPr>
        <p:spPr>
          <a:xfrm>
            <a:off x="9601200" y="4023360"/>
            <a:ext cx="1005840" cy="1005840"/>
          </a:xfrm>
          <a:prstGeom prst="hexagon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332720" y="4434840"/>
            <a:ext cx="685800" cy="685800"/>
          </a:xfrm>
          <a:prstGeom prst="hexagon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961120" y="4754880"/>
            <a:ext cx="502920" cy="502920"/>
          </a:xfrm>
          <a:prstGeom prst="hexagon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2.1  Force, weight and resultant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Core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46304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Weight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30552"/>
            <a:ext cx="310896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W = m g</a:t>
            </a:r>
            <a:br/>
            <a:r>
              <a:t>Use g ≈ 9.81 m/s² near Earth's surface.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46304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Newton's second law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30552"/>
            <a:ext cx="310896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F = m a</a:t>
            </a:r>
            <a:br/>
            <a:r>
              <a:t>Net force produces acceleration.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46304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Inclined plane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30552"/>
            <a:ext cx="310896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Component parallel: mg sin θ</a:t>
            </a:r>
            <a:br/>
            <a:r>
              <a:t>Normal component: mg cos 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10789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For multiple forces, resolve each into x and y components.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ΣFx = m ax; ΣFy = m ay. For static equilibrium, both sums are zero.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Use vector directions consistently; a negative result indicates the opposite assumed direction.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2.2  Moment, couple and equilibrium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Moment depends on force and perpendicular distance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Moment magnitude: M = F × d⊥ (N·m).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Equilibrium of a rigid body: ΣFx = 0, ΣFy = 0, ΣM = 0 for planar statics.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Example: 200 N applied perpendicular to a lever at 0.30 m gives M = 200 × 0.30 = 60 N·m.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For an angled force, use the perpendicular component or M = rF sin θ.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Choose a moment center that eliminates unknown forces where possible.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2.3  Friction and inclined loads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Simplified dry-friction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6479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Friction limit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7627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Ff ≤ μs N (static)</a:t>
            </a:r>
            <a:br/>
            <a:r>
              <a:t>Ff = μk N (sliding model)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6479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Normal 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7627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On a simple incline: N = mg cos θ, if no other normal loads.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6479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Caution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7627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Real friction varies with material, lubrication, contamination, temperature and wear.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1060704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1">
                <a:solidFill>
                  <a:srgbClr val="131F34"/>
                </a:solidFill>
                <a:latin typeface="Aptos"/>
              </a:defRPr>
            </a:pPr>
            <a:r>
              <a:t>Example: μ = 0.20 and N = 500 N → friction limit ≈ 100 N under the stated simplified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92040"/>
            <a:ext cx="1051560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2370BE"/>
                </a:solidFill>
                <a:latin typeface="Aptos"/>
              </a:defRPr>
            </a:pPr>
            <a:r>
              <a:t>Do not use a guessed friction coefficient for safety-critical clamps, brakes or lifting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2.4  Worked example: cylinder force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Theoretical force; real output is reduced by friction and operating losses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Assume bore D = 25 mm and gauge pressure p = 5 bar = 0.5 N/mm².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Cap-end area: A = πD²/4 = π × 25²/4 ≈ 490.9 mm².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Extension force: F = pA = 0.5 × 490.9 ≈ 245 N.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Equivalent mass-force ≈ 245/9.81 ≈ 25.0 kgf (not 25 kg of guaranteed safe payload).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Rod-side retraction force is lower: F = p × (bore area − rod area).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F29337"/>
                </a:solidFill>
                <a:latin typeface="Aptos"/>
              </a:defRPr>
            </a:pPr>
            <a:r>
              <a:t>Always check pressure at the cylinder, rod diameter, mounting, side load, speed and safety factor.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4572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MODULE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Strength of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9875520" cy="12801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0">
                <a:solidFill>
                  <a:srgbClr val="D7E1EE"/>
                </a:solidFill>
                <a:latin typeface="Aptos"/>
              </a:defRPr>
            </a:pPr>
            <a:r>
              <a:t>Understand stress, strain, bending, torsion and deflection.</a:t>
            </a:r>
          </a:p>
        </p:txBody>
      </p:sp>
      <p:sp>
        <p:nvSpPr>
          <p:cNvPr id="5" name="Hexagon 4"/>
          <p:cNvSpPr/>
          <p:nvPr/>
        </p:nvSpPr>
        <p:spPr>
          <a:xfrm>
            <a:off x="9601200" y="4023360"/>
            <a:ext cx="1005840" cy="1005840"/>
          </a:xfrm>
          <a:prstGeom prst="hexagon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332720" y="4434840"/>
            <a:ext cx="685800" cy="685800"/>
          </a:xfrm>
          <a:prstGeom prst="hexagon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961120" y="4754880"/>
            <a:ext cx="502920" cy="502920"/>
          </a:xfrm>
          <a:prstGeom prst="hexagon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3.1  Stress and strain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Basic axial loading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46304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Normal stress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30552"/>
            <a:ext cx="310896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σ = F/A</a:t>
            </a:r>
            <a:br/>
            <a:r>
              <a:t>Units: Pa or N/mm² (MPa)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46304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Normal strain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30552"/>
            <a:ext cx="310896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ε = ΔL/L</a:t>
            </a:r>
            <a:br/>
            <a:r>
              <a:t>Dimensionless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46304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Hooke's law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30552"/>
            <a:ext cx="310896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σ = E ε</a:t>
            </a:r>
            <a:br/>
            <a:r>
              <a:t>Within the linear-elastic range.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10789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Tension and compression use the same magnitude equation but different sign conventions.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Use the net load-bearing area, not necessarily the outside envelope area.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Material yield strength, ultimate strength and allowable design stress are different values.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3.2  Worked example: axial stress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Simple uniform bar in axial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Given: tensile force F = 10,000 N; cross-section A = 200 mm².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Average stress: σ = F/A = 10,000/200 = 50 N/mm² = 50 MPa.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If length L = 500 mm and E = 200,000 MPa, extension ΔL = FL/(AE).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ΔL = 10,000 × 500 / (200 × 200,000) = 0.125 mm.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Assumptions: uniform section, centered load, linear-elastic material and small deformation.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3.3  Bending stress and section properties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For elementary beam theory under appropriate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Bending stress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σ = My/I</a:t>
            </a:r>
            <a:br/>
            <a:r>
              <a:t>M = bending moment; y = distance from neutral axis.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Second moment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Rectangle: I = b h³/12</a:t>
            </a:r>
            <a:br/>
            <a:r>
              <a:t>Bending axis matters.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Section modulus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Z = I/c; then σmax = M/Z.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Use consistent units: N·mm with mm⁴ gives stress in N/mm².</a:t>
            </a:r>
          </a:p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For a simply supported beam with a central point load P: Mmax = PL/4.</a:t>
            </a:r>
          </a:p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For a uniformly distributed load w over span L: Mmax = wL²/8, when load is over the full span.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3.4  Beam deflection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Common formulas for idealized, prismatic beams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035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498348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Simply supported, center point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30552"/>
            <a:ext cx="4937759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Maximum deflection: δmax = PL³/(48EI)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035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719072"/>
            <a:ext cx="498348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Cantilever, end point 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30552"/>
            <a:ext cx="4937759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End deflection: δ = PL³/(3EI)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E = Young's modulus; I = second moment of area about the bending axis.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Deflection depends strongly on span: it scales with L³ in these cases.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Confirm supports, load location, shear effects, self-weight and allowable deflection for the real design.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3.5  Torsion in circular shafts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Useful for rotating shafts and torque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Maximum shear stress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τmax = Tc/J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Solid round shaft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J = πd⁴/32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Hollow round shaft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J = π(Do⁴ − Di⁴)/32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57600"/>
            <a:ext cx="105156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T = torque, c = outer radius, J = polar second moment of area.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For circular shafts in elastic torsion: angle of twist θ = TL/(JG), where G is shear modulus.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4572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MODULE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Machine design calculations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9875520" cy="12801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0">
                <a:solidFill>
                  <a:srgbClr val="D7E1EE"/>
                </a:solidFill>
                <a:latin typeface="Aptos"/>
              </a:defRPr>
            </a:pPr>
            <a:r>
              <a:t>Translate loads into preliminary sizes for shafts, fasteners, bearings and springs.</a:t>
            </a:r>
          </a:p>
        </p:txBody>
      </p:sp>
      <p:sp>
        <p:nvSpPr>
          <p:cNvPr id="5" name="Hexagon 4"/>
          <p:cNvSpPr/>
          <p:nvPr/>
        </p:nvSpPr>
        <p:spPr>
          <a:xfrm>
            <a:off x="9601200" y="4023360"/>
            <a:ext cx="1005840" cy="1005840"/>
          </a:xfrm>
          <a:prstGeom prst="hexagon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332720" y="4434840"/>
            <a:ext cx="685800" cy="685800"/>
          </a:xfrm>
          <a:prstGeom prst="hexagon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961120" y="4754880"/>
            <a:ext cx="502920" cy="502920"/>
          </a:xfrm>
          <a:prstGeom prst="hexagon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4.1  Power, speed and torque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A core relationship for motors, gearboxes and drives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Rotational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P = Tω = 2πNT/60</a:t>
            </a:r>
            <a:br/>
            <a:r>
              <a:t>N in rpm; T in N·m; P in 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Torque from 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T (N·m) = 9550 × P(kW)/N(rpm)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Linear 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P = Fv (W), for force aligned with velocity.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49039"/>
            <a:ext cx="105156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1">
                <a:solidFill>
                  <a:srgbClr val="131F34"/>
                </a:solidFill>
                <a:latin typeface="Aptos"/>
              </a:defRPr>
            </a:pPr>
            <a:r>
              <a:t>Example: 2.2 kW at 1450 rpm → T ≈ 9550 × 2.2 / 1450 = 14.5 N·m.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105156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2370BE"/>
                </a:solidFill>
                <a:latin typeface="Aptos"/>
              </a:defRPr>
            </a:pPr>
            <a:r>
              <a:t>This is ideal shaft torque before losses; confirm motor rating, service factor and duty.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4.2  Shaft sizing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Combined bending and torsion require an appropriate failure criterion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Solid shaft polar moment: J = πd⁴/32; bending I = πd⁴/64.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Pure torsion estimate: τmax = 16T/(πd³) for a solid circular shaft.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Pure bending estimate: σmax = 32M/(πd³) for a solid circular shaft.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Real shafts may include keyways, shoulders, fatigue, stress concentration, axial load and shock.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Check deflection, critical speed, bearing fits, surface finish, corrosion and applicable design factors.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29337"/>
                </a:solidFill>
                <a:latin typeface="Aptos"/>
              </a:defRPr>
            </a:pPr>
            <a:r>
              <a:t>Do not release a shaft using a single stress formula alone.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4.3  Bolts and fasteners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Preliminary load checks — not a substitute for joint design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Average tensile stress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σ = F/Aₜ</a:t>
            </a:r>
            <a:br/>
            <a:r>
              <a:t>Use tensile stress area for threaded fasteners.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Average shear stress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τ = V/A</a:t>
            </a:r>
            <a:br/>
            <a:r>
              <a:t>Account for number of shear planes and load distribution.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Bearing stress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p ≈ F/(t d)</a:t>
            </a:r>
            <a:br/>
            <a:r>
              <a:t>Check plate bearing, edge distance and tear-out.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10789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Bolt preload, joint separation, slip, fatigue, prying and thread engagement can govern.</a:t>
            </a:r>
          </a:p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Do not assume load divides equally unless geometry and stiffness justify it.</a:t>
            </a:r>
          </a:p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For lifting, pressure systems or safety-critical joints, use approved standards and qualified review.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4.4  Bearings, gears and belts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Selection requires operating data and manufacturer ratings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Basic bearing life estimate: L10 (million rev) = (C/P)^p; p = 3 for ball bearings, 10/3 for roller bearings.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Life in hours: L10h = 10⁶ L10 / (60 n), where n is rpm.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Gear ratio (simple pair): i = driver speed / driven speed = driven tooth count / driver tooth count.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Approximate belt speed: v = π D n / 60, if D is pulley pitch diameter in metres and n is rpm.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Check lubrication, contamination, misalignment, shock, temperature, belt tension and manufacturer limits.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4.5  Springs and safety factors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Use load-deflection data and appropriate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Linear spring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F = kx</a:t>
            </a:r>
            <a:br/>
            <a:r>
              <a:t>k in N/mm or N/m; match units to 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Nominal factor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FoS = strength criterion / calculated demand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Design judgment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Choose criteria and factors based on failure mode, uncertainty, duty and standards.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49039"/>
            <a:ext cx="1051560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A single factor of safety does not address every failure mode. Fatigue, buckling, wear and instability may need separate checks.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4572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MODULE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Pneumatics and hydraulics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9875520" cy="12801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0">
                <a:solidFill>
                  <a:srgbClr val="D7E1EE"/>
                </a:solidFill>
                <a:latin typeface="Aptos"/>
              </a:defRPr>
            </a:pPr>
            <a:r>
              <a:t>Estimate actuator forces and flow, then verify the real circuit and hardware.</a:t>
            </a:r>
          </a:p>
        </p:txBody>
      </p:sp>
      <p:sp>
        <p:nvSpPr>
          <p:cNvPr id="5" name="Hexagon 4"/>
          <p:cNvSpPr/>
          <p:nvPr/>
        </p:nvSpPr>
        <p:spPr>
          <a:xfrm>
            <a:off x="9601200" y="4023360"/>
            <a:ext cx="1005840" cy="1005840"/>
          </a:xfrm>
          <a:prstGeom prst="hexagon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332720" y="4434840"/>
            <a:ext cx="685800" cy="685800"/>
          </a:xfrm>
          <a:prstGeom prst="hexagon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961120" y="4754880"/>
            <a:ext cx="502920" cy="502920"/>
          </a:xfrm>
          <a:prstGeom prst="hexagon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5.1  Pressure, force and piston area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Core actuator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p = F/A</a:t>
            </a:r>
            <a:br/>
            <a:r>
              <a:t>1 MPa = 1 N/mm².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Piston 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A = πD²/4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Theoretical cylinder force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F = pA (extension)</a:t>
            </a:r>
            <a:br/>
            <a:r>
              <a:t>F = p(A − Arod) (retraction)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Use pressure at the actuator while moving, not just the compressor setting.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Subtract rod area for retraction; account for seal friction and back pressure.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Side loads, buckling, mounting and impact can govern before force capacity does.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5.2  Cylinder speed and air consumption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Simplified sizing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Average piston speed: v = stroke / time.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Geometric swept volume per stroke: V = A × stroke.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Approximate free-air demand per cycle requires converting cylinder volume to reference pressure and temperature, then accounting for extension/retraction and cycle frequency.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Flow demand depends on stroke, bore, rod, cycle rate, supply pressure, tubing, valve flow capacity and leakage.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Use the cylinder and valve manufacturer's sizing charts; include cushioning and duty-cycle limits.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F29337"/>
                </a:solidFill>
                <a:latin typeface="Aptos"/>
              </a:defRPr>
            </a:pPr>
            <a:r>
              <a:t>Pneumatic calculations are estimates; verify force and speed at the actual operating point.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5.3  Hydraulic power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Ideal fluid power 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6479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Hydraulic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7627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P(kW) = p(bar) × Q(L/min) / 600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6479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7627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100 bar × 12 L/min / 600 = 2.0 kW ideal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6479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Real input 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7627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Pinput &gt; Pfluid due to pump, motor and circuit losses.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Use rated pressure, flow, temperature, relief-valve setting and component ratings; pressure can remain hazardous after shutdown.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4572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MODULE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Fluid mechanics and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9875520" cy="12801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0">
                <a:solidFill>
                  <a:srgbClr val="D7E1EE"/>
                </a:solidFill>
                <a:latin typeface="Aptos"/>
              </a:defRPr>
            </a:pPr>
            <a:r>
              <a:t>Calculate pressure, flow and head with clear assumptions.</a:t>
            </a:r>
          </a:p>
        </p:txBody>
      </p:sp>
      <p:sp>
        <p:nvSpPr>
          <p:cNvPr id="5" name="Hexagon 4"/>
          <p:cNvSpPr/>
          <p:nvPr/>
        </p:nvSpPr>
        <p:spPr>
          <a:xfrm>
            <a:off x="9601200" y="4023360"/>
            <a:ext cx="1005840" cy="1005840"/>
          </a:xfrm>
          <a:prstGeom prst="hexagon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332720" y="4434840"/>
            <a:ext cx="685800" cy="685800"/>
          </a:xfrm>
          <a:prstGeom prst="hexagon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961120" y="4754880"/>
            <a:ext cx="502920" cy="502920"/>
          </a:xfrm>
          <a:prstGeom prst="hexagon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6.1  Flow rate and velocity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Continuity equation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Volumetric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Q = A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Circular pipe 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A = πD²/4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Worked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D = 20 mm; v = 1.5 m/s → Q ≈ 0.000471 m³/s = 28.3 L/min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10789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Use internal diameter, not nominal outside diameter.</a:t>
            </a:r>
          </a:p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For compressible gas, density changes with pressure and temperature; simple incompressible continuity may be insufficient.</a:t>
            </a:r>
          </a:p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Check Reynolds number and pressure losses before selecting a pump or valve.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6.2  Pressure, head and Bernoulli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Ideal energy equation for steady flow along a streamline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60704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300" b="1">
                <a:solidFill>
                  <a:srgbClr val="2370BE"/>
                </a:solidFill>
                <a:latin typeface="Aptos"/>
              </a:defRPr>
            </a:pPr>
            <a:r>
              <a:t>p/(ρg) + v²/(2g) + z = constant  (ideal form)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Hydrostatic pressure: p = ρ g h for a static fluid column.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Pressure head: h = p/(ρg).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Real systems require head-loss terms for friction, fittings, valves and changes in geometry.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Pump selection must consider the system curve, required flow, elevation and efficiency.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6.3  Reynolds number and pipe losses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Check flow regime and friction before sizing a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Reynolds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Re = ρvD/μ = vD/ν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Darcy–Weisbach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Δp = f (L/D) (ρv²/2)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Minor losses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Δp = K (ρv²/2)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1051560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Use a consistent friction-factor definition: Darcy friction factor is four times the Fanning factor.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4572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MODULE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Thermodynamics and heat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9875520" cy="12801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0">
                <a:solidFill>
                  <a:srgbClr val="D7E1EE"/>
                </a:solidFill>
                <a:latin typeface="Aptos"/>
              </a:defRPr>
            </a:pPr>
            <a:r>
              <a:t>Use energy balances and temperature-dependent material data.</a:t>
            </a:r>
          </a:p>
        </p:txBody>
      </p:sp>
      <p:sp>
        <p:nvSpPr>
          <p:cNvPr id="5" name="Hexagon 4"/>
          <p:cNvSpPr/>
          <p:nvPr/>
        </p:nvSpPr>
        <p:spPr>
          <a:xfrm>
            <a:off x="9601200" y="4023360"/>
            <a:ext cx="1005840" cy="1005840"/>
          </a:xfrm>
          <a:prstGeom prst="hexagon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332720" y="4434840"/>
            <a:ext cx="685800" cy="685800"/>
          </a:xfrm>
          <a:prstGeom prst="hexagon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961120" y="4754880"/>
            <a:ext cx="502920" cy="502920"/>
          </a:xfrm>
          <a:prstGeom prst="hexagon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7.1  Heat and temperature change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Sensible heat 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500" b="1">
                <a:solidFill>
                  <a:srgbClr val="2370BE"/>
                </a:solidFill>
                <a:latin typeface="Aptos"/>
              </a:defRPr>
            </a:pPr>
            <a:r>
              <a:t>Q = m cₚ ΔT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Q = heat energy (J); m = mass (kg); cp = specific heat capacity (J/kg·K).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Example: heat 2 kg of water by 20 K, using cp ≈ 4180 J/kg·K.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Q = 2 × 4180 × 20 = 167,200 J ≈ 167 kJ.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This excludes phase changes, vessel heating and environmental losses.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7.2  Conduction, convection and radiation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Heat transfer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Conduction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Q̇ = k A ΔT / L (simple 1D steady slab)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Convection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Q̇ = h A (Ts − T∞)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Radiation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Q̇ = ε σSB A (Ts⁴ − Tsur⁴)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1051560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Use absolute temperature in kelvin for radiation; properties and boundary conditions matter.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7.3  Thermodynamic relationships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Useful idealized gas and energy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Ideal gas: pV = mRT, using absolute pressure and temperature.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First law for a closed system: ΔU = Q − W, with work sign convention stated.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Thermal expansion: ΔL = α L ΔT for a uniform member in free expansion.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Efficiency: η = useful output / input, on a consistent energy or power basis.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Do not use ideal-gas or constant-property assumptions outside their valid range without checking.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4572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MODULE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Manufacturing and quality calculations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9875520" cy="12801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0">
                <a:solidFill>
                  <a:srgbClr val="D7E1EE"/>
                </a:solidFill>
                <a:latin typeface="Aptos"/>
              </a:defRPr>
            </a:pPr>
            <a:r>
              <a:t>Connect engineering drawings to tolerances, machining and production checks.</a:t>
            </a:r>
          </a:p>
        </p:txBody>
      </p:sp>
      <p:sp>
        <p:nvSpPr>
          <p:cNvPr id="5" name="Hexagon 4"/>
          <p:cNvSpPr/>
          <p:nvPr/>
        </p:nvSpPr>
        <p:spPr>
          <a:xfrm>
            <a:off x="9601200" y="4023360"/>
            <a:ext cx="1005840" cy="1005840"/>
          </a:xfrm>
          <a:prstGeom prst="hexagon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332720" y="4434840"/>
            <a:ext cx="685800" cy="685800"/>
          </a:xfrm>
          <a:prstGeom prst="hexagon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961120" y="4754880"/>
            <a:ext cx="502920" cy="502920"/>
          </a:xfrm>
          <a:prstGeom prst="hexagon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8.1  Fits and tolerances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Understand size limits before selecting a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Tolerance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Tolerance = maximum limit − minimum limit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Clearance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Clearance = hole size − shaft size (positive = gap)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Interference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Interference = shaft size − hole size (positive = overlap)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1051560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Select fits from a recognized fit system and functional requirement; do not choose a fit from nominal size alone.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8.2  Cutting speed, rpm and feed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Common machining estimates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2370BE"/>
                </a:solidFill>
                <a:latin typeface="Aptos"/>
              </a:defRPr>
            </a:pPr>
            <a:r>
              <a:t>N (rpm) = 1000 Vc / (π 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500" b="0">
                <a:solidFill>
                  <a:srgbClr val="576577"/>
                </a:solidFill>
                <a:latin typeface="Aptos"/>
              </a:defRPr>
            </a:pPr>
            <a:r>
              <a:t>Vc in m/min; D in mm.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000" b="1">
                <a:solidFill>
                  <a:srgbClr val="131F34"/>
                </a:solidFill>
                <a:latin typeface="Aptos"/>
              </a:defRPr>
            </a:pPr>
            <a:r>
              <a:t>Turning feed rate: Vf (mm/min) = f (mm/rev) × N (rpm)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Example: Vc = 100 m/min, D = 20 mm → N ≈ 1592 rpm before machine-limit adjustment.</a:t>
            </a:r>
          </a:p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Actual cutting data depends on material, tool grade, coating, rigidity, coolant and operation.</a:t>
            </a:r>
          </a:p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For milling, feed per minute commonly uses feed per tooth × number of teeth × spindle rpm.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8.3  Sheet metal and manufacturing checks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Formula-based estimates need process-specific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Flat pattern and bend allowance depend on inside radius, thickness, bend angle, material and K-factor.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Approximate bend allowance: BA = θ(R + Kt), with θ in radians under the stated convention.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Mass = density × net volume; subtract holes and cut-outs.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Production capability should be checked against machine, tooling, material batch and inspection method.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Use the shop's validated bend tables, cutting data and process standards for released work.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4572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MODULE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Electrical basics, vibration and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9875520" cy="12801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0">
                <a:solidFill>
                  <a:srgbClr val="D7E1EE"/>
                </a:solidFill>
                <a:latin typeface="Aptos"/>
              </a:defRPr>
            </a:pPr>
            <a:r>
              <a:t>Understand common calculations encountered in machine design and maintenance.</a:t>
            </a:r>
          </a:p>
        </p:txBody>
      </p:sp>
      <p:sp>
        <p:nvSpPr>
          <p:cNvPr id="5" name="Hexagon 4"/>
          <p:cNvSpPr/>
          <p:nvPr/>
        </p:nvSpPr>
        <p:spPr>
          <a:xfrm>
            <a:off x="9601200" y="4023360"/>
            <a:ext cx="1005840" cy="1005840"/>
          </a:xfrm>
          <a:prstGeom prst="hexagon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332720" y="4434840"/>
            <a:ext cx="685800" cy="685800"/>
          </a:xfrm>
          <a:prstGeom prst="hexagon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961120" y="4754880"/>
            <a:ext cx="502920" cy="502920"/>
          </a:xfrm>
          <a:prstGeom prst="hexagon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9.1  Electrical power for mechanical engineers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Basic single-phase and three-phase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DC / ideal resistive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P = VI = I²R = V²/R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AC single 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Real power: P = VI cos 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Balanced 3-phase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P = √3 VL IL cos 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1051560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Motor input power differs from shaft output power due to efficiency and power factor.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9.2  Vibration and rotating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Useful introductory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f = 1/T; angular frequency ω = 2πf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Centripetal acceleration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a = ω²r = v²/r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Unbalance force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F = m e ω² (simple rotating unbalance)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Check units: ω in rad/s, radius in m, mass in kg.</a:t>
            </a:r>
          </a:p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Vibration depends on forcing, natural frequency, damping, mounting and system stiffness.</a:t>
            </a:r>
          </a:p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Balancing and vibration acceptance criteria should follow the applicable machine standard.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9.3  Buckling and fatigue awareness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Failure modes beyond simple static stress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Ideal Euler buckling load: Pcr = π²EI/(Le)² for a slender, ideal elastic column.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Effective length Le depends on end conditions; real imperfections and eccentric loads reduce capacity.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Fatigue depends on stress range, mean stress, material, surface, size, notches and environment.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Use appropriate design methods, load spectra, standards and validation for real components.</a:t>
            </a:r>
          </a:p>
          <a:p>
            <a:pPr>
              <a:spcAft>
                <a:spcPts val="9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Do not treat ideal textbook equations as allowable working loads.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4572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MODULE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Worked examples and design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9875520" cy="12801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0">
                <a:solidFill>
                  <a:srgbClr val="D7E1EE"/>
                </a:solidFill>
                <a:latin typeface="Aptos"/>
              </a:defRPr>
            </a:pPr>
            <a:r>
              <a:t>Practice a repeatable calculation process and document every assumption.</a:t>
            </a:r>
          </a:p>
        </p:txBody>
      </p:sp>
      <p:sp>
        <p:nvSpPr>
          <p:cNvPr id="5" name="Hexagon 4"/>
          <p:cNvSpPr/>
          <p:nvPr/>
        </p:nvSpPr>
        <p:spPr>
          <a:xfrm>
            <a:off x="9601200" y="4023360"/>
            <a:ext cx="1005840" cy="1005840"/>
          </a:xfrm>
          <a:prstGeom prst="hexagon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332720" y="4434840"/>
            <a:ext cx="685800" cy="685800"/>
          </a:xfrm>
          <a:prstGeom prst="hexagon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961120" y="4754880"/>
            <a:ext cx="502920" cy="502920"/>
          </a:xfrm>
          <a:prstGeom prst="hexagon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10.1  Example: convert motor torque to linear force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Idealized screw-drive 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Given torque T = 10 N·m, screw lead l = 5 mm/rev = 0.005 m/rev.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Ideal force relation: F = 2πT/l.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Fideal = 2π × 10 / 0.005 ≈ 12,566 N.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If screw efficiency η = 0.85, approximate output force F ≈ η × Fideal ≈ 10,681 N.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Real capacity also depends on screw type, critical speed, buckling, bearing support, duty, alignment and manufacturer ratings.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10.2  Example: estimate a simply supported beam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Central point load, ideal prismatic beam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Given P = 500 N, span L = 1000 mm, E = 200,000 N/mm², I = 1.0 × 10⁶ mm⁴.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Maximum moment: Mmax = PL/4 = 500 × 1000/4 = 125,000 N·mm.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Maximum deflection: δ = PL³/(48EI).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δ = 500 × 1000³ / (48 × 200,000 × 1.0×10⁶) ≈ 0.052 mm.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Check the assumed I and units; the result is only for the stated ideal support and load model.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10.3  Calculation sheet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Use this structure in Excel or your engineering calculation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Value • unit • source • tolerance • operating range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Formula • assumptions • standard • load 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30552"/>
            <a:ext cx="3108960" cy="91439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Calculated value • unit • allowable •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10789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Add a free-body diagram or sketch where forces and supports are involved.</a:t>
            </a:r>
          </a:p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Record material grade, temperature, duty cycle, uncertainty and worst-case conditions.</a:t>
            </a:r>
          </a:p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Include independent checks, reviewer, revision, date and reference documents.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Calculation checklist before release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A practical review for mechanical design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1664207"/>
            <a:ext cx="310896" cy="310896"/>
          </a:xfrm>
          <a:prstGeom prst="ellipse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600200"/>
            <a:ext cx="44348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32D3A"/>
                </a:solidFill>
                <a:latin typeface="Aptos"/>
              </a:defRPr>
            </a:pPr>
            <a:r>
              <a:t>All inputs have units and traceable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08760"/>
            <a:ext cx="521208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10528" y="1664207"/>
            <a:ext cx="310896" cy="310896"/>
          </a:xfrm>
          <a:prstGeom prst="ellipse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600200"/>
            <a:ext cx="44348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32D3A"/>
                </a:solidFill>
                <a:latin typeface="Aptos"/>
              </a:defRPr>
            </a:pPr>
            <a:r>
              <a:t>Load cases include start, stop, shock and duty where relevant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68880"/>
            <a:ext cx="521208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6968" y="2624328"/>
            <a:ext cx="310896" cy="310896"/>
          </a:xfrm>
          <a:prstGeom prst="ellipse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560320"/>
            <a:ext cx="44348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32D3A"/>
                </a:solidFill>
                <a:latin typeface="Aptos"/>
              </a:defRPr>
            </a:pPr>
            <a:r>
              <a:t>Equations match the physical model and assumptions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468880"/>
            <a:ext cx="521208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10528" y="2624328"/>
            <a:ext cx="310896" cy="310896"/>
          </a:xfrm>
          <a:prstGeom prst="ellipse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560320"/>
            <a:ext cx="44348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32D3A"/>
                </a:solidFill>
                <a:latin typeface="Aptos"/>
              </a:defRPr>
            </a:pPr>
            <a:r>
              <a:t>Material properties and allowable criteria are appropriate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29000"/>
            <a:ext cx="521208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6968" y="3584448"/>
            <a:ext cx="310896" cy="310896"/>
          </a:xfrm>
          <a:prstGeom prst="ellipse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3520440"/>
            <a:ext cx="44348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32D3A"/>
                </a:solidFill>
                <a:latin typeface="Aptos"/>
              </a:defRPr>
            </a:pPr>
            <a:r>
              <a:t>Units and dimensions are checked independently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429000"/>
            <a:ext cx="521208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10528" y="3584448"/>
            <a:ext cx="310896" cy="310896"/>
          </a:xfrm>
          <a:prstGeom prst="ellipse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3520440"/>
            <a:ext cx="44348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32D3A"/>
                </a:solidFill>
                <a:latin typeface="Aptos"/>
              </a:defRPr>
            </a:pPr>
            <a:r>
              <a:t>Stress, deflection, stability, fatigue and wear considered as applicable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389120"/>
            <a:ext cx="521208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6968" y="4544568"/>
            <a:ext cx="310896" cy="310896"/>
          </a:xfrm>
          <a:prstGeom prst="ellipse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4480560"/>
            <a:ext cx="44348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32D3A"/>
                </a:solidFill>
                <a:latin typeface="Aptos"/>
              </a:defRPr>
            </a:pPr>
            <a:r>
              <a:t>Safety factors and standards are stated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389120"/>
            <a:ext cx="521208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10528" y="4544568"/>
            <a:ext cx="310896" cy="310896"/>
          </a:xfrm>
          <a:prstGeom prst="ellipse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480560"/>
            <a:ext cx="44348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32D3A"/>
                </a:solidFill>
                <a:latin typeface="Aptos"/>
              </a:defRPr>
            </a:pPr>
            <a:r>
              <a:t>Results reviewed, documented and independently checked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Practice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Try solving before checking the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82880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Beginner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30552"/>
            <a:ext cx="3108960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Find the mass of an aluminium block 100 × 50 × 20 mm. Use a stated density assumption.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82880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Intermediate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30552"/>
            <a:ext cx="3108960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A 1 kW motor runs at 1000 rpm. Estimate shaft torque.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82880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546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Advanced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30552"/>
            <a:ext cx="3108960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Estimate beam stress and deflection for a defined load, span, support and section.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1051560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800" b="1">
                <a:solidFill>
                  <a:srgbClr val="131F34"/>
                </a:solidFill>
                <a:latin typeface="Aptos"/>
              </a:defRPr>
            </a:pPr>
            <a:r>
              <a:t>For each answer, show knowns, formula, substitution, units and a reasonableness check.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400" b="1">
                <a:solidFill>
                  <a:srgbClr val="F29337"/>
                </a:solidFill>
                <a:latin typeface="Aptos"/>
              </a:defRPr>
            </a:pPr>
            <a:r>
              <a:t>Important: the worked examples are educational estimates, not certified design approvals.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1F34"/>
                </a:solidFill>
                <a:latin typeface="Aptos"/>
              </a:defRPr>
            </a:pPr>
            <a:r>
              <a:t>Recommended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Confirm current formulas, property data and design rules using trusted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MECHANICAL ENGINEERING CALCULATIONS • FORMULAS + WORKED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035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73152" cy="132588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73352"/>
            <a:ext cx="498348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Machine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84831"/>
            <a:ext cx="4937759" cy="73151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Shigley's Mechanical Engineering Design or an equivalent recognized textbook.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3035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73152" cy="132588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673352"/>
            <a:ext cx="498348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Engineering Mechanics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84831"/>
            <a:ext cx="4937759" cy="73151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Statics and mechanics of materials textbooks for derivations and assumptions.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29000"/>
            <a:ext cx="53035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429000"/>
            <a:ext cx="73152" cy="132588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547872"/>
            <a:ext cx="498348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Standards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959352"/>
            <a:ext cx="4937759" cy="73151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Use applicable ISO, ASME, BIS and industry standards for actual design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29000"/>
            <a:ext cx="53035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429000"/>
            <a:ext cx="73152" cy="1325880"/>
          </a:xfrm>
          <a:prstGeom prst="rect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547872"/>
            <a:ext cx="498348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Manufacturer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959352"/>
            <a:ext cx="4937759" cy="73151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Use current catalogs for bearings, cylinders, fasteners, gearboxes, valves and motors.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77840"/>
            <a:ext cx="104241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Always check edition, local requirements and the exact operating conditions.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42416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YOUR ENGINEERING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"/>
              </a:defRPr>
            </a:pPr>
            <a:r>
              <a:t>Define the load. Choose the model. Calculate. Verify.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17520"/>
            <a:ext cx="9875520" cy="1005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0">
                <a:solidFill>
                  <a:srgbClr val="DCE6F2"/>
                </a:solidFill>
                <a:latin typeface="Aptos"/>
              </a:defRPr>
            </a:pPr>
            <a:r>
              <a:t>Good engineering is not only getting a number — it is knowing what the number means, what assumptions support it, and what could make it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00600"/>
            <a:ext cx="987552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3FBEDC"/>
                </a:solidFill>
                <a:latin typeface="Aptos"/>
              </a:defRPr>
            </a:pPr>
            <a:r>
              <a:t>FORMULAS • UNITS • ASSUMPTIONS •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C8D2E1"/>
                </a:solidFill>
                <a:latin typeface="Aptos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