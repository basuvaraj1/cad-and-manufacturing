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7315200"/>
            <a:ext cx="12191695" cy="7315"/>
          </a:xfrm>
          <a:prstGeom prst="rect">
            <a:avLst/>
          </a:prstGeom>
          <a:solidFill>
            <a:srgbClr val="22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43800" y="1234440"/>
            <a:ext cx="3200400" cy="3200400"/>
          </a:xfrm>
          <a:prstGeom prst="ellipse">
            <a:avLst/>
          </a:prstGeom>
          <a:noFill/>
          <a:ln w="27940">
            <a:solidFill>
              <a:srgbClr val="00A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92440" y="1783080"/>
            <a:ext cx="2103120" cy="2103120"/>
          </a:xfrm>
          <a:prstGeom prst="ellipse">
            <a:avLst/>
          </a:prstGeom>
          <a:noFill/>
          <a:ln w="20320">
            <a:solidFill>
              <a:srgbClr val="24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2423160"/>
            <a:ext cx="1920240" cy="822960"/>
          </a:xfrm>
          <a:prstGeom prst="rect">
            <a:avLst/>
          </a:prstGeom>
          <a:noFill/>
          <a:ln w="22860">
            <a:solidFill>
              <a:srgbClr val="E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1051560"/>
            <a:ext cx="62179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00AEC7"/>
                </a:solidFill>
                <a:latin typeface="Aptos"/>
              </a:defRPr>
            </a:pPr>
            <a:r>
              <a:t>COMPLETE LEARNING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645920"/>
            <a:ext cx="676656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AutoCAD Tutorial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743200"/>
            <a:ext cx="649224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B8DCF0"/>
                </a:solidFill>
                <a:latin typeface="Aptos"/>
              </a:defRPr>
            </a:pPr>
            <a:r>
              <a:t>Beginner to Advanced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657600"/>
            <a:ext cx="630936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A practical roadmap for 2D drafting, dimensions, layouts, blocks and 3D fundamentals.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97880"/>
            <a:ext cx="5943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BECDDC"/>
                </a:solidFill>
                <a:latin typeface="Aptos"/>
              </a:defRPr>
            </a:pPr>
            <a:r>
              <a:t>MECHANICAL ENGINEERING • PRACTICE-BASED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BECDD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How to use this tutorial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Follow the modules in order; do not skip drawing setup.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Type commands at the command line and watch the prompts.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Complete each practice task before moving to the next module.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millimetres for the mechanical examples in this deck.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AutoCAD menus and some commands can vary slightly by 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Suggested routine: 20 minutes learning + 30 minutes drawing + 10 minutes checking. Save every practice file with a clear 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Learning roadmap: beginner → advanced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Level 1 — Interface, coordinates, units and file management.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Level 2 — Draw and modify 2D geometry accurately.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Level 3 — Layers, linetypes, text, dimensions and reusable blocks.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Level 4 — Mechanical drawing workflow, layouts, viewports and plotting.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Level 5 — Productivity tools, external references and standards.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Level 6 — Introductory 3D modelling and final portfolio projects.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Milestone: create a clean, dimensioned mechanical part drawing on a plotted sheet, then model a simple 3D 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1. What is AutoCAD?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Computer-aided design (CAD) software used to create precise technical drawings.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2D drafting: plans, elevations, sections, details and manufacturing drawings.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3D tools: solids, surfaces and visualisation (availability depends on product/version).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Common users: mechanical, civil, architectural, electrical and manufacturing teams.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AutoCAD is a drafting tool; engineering decisions still require correct design knowledge.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For mechanical engineering, start with accurate 2D drawings before spending much time on 3D.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2. Interface essentials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Drawing area — where geometry is created.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Command line — type commands and respond to prompts.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Ribbon/toolbars — grouped tools such as Draw, Modify, Annotate and Layers.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Status bar — toggles such as Ortho, Object Snap and Dynamic Input.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Model tab — full-size model; Layout tabs — sheets prepared for printing.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If the command line disappears, use Ctrl+9. Learn to read every command prompt instead of clicking randomly.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3. Start a drawing correctly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NEW to create a drawing from a suitable template.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UNITS to set length type, precision and insertion scale.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For this course: decimal units and millimetres for mechanical parts.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Set LIMITS only if your workflow requires it; zoom extents to view geometry.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Save early with SAVEAS and use a meaningful filename.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Example filename: Bracket_01.dwg. Keep source files and issued PDFs in clearly named folders.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4. Coordinate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Absolute coordinates: enter X,Y from the origin; example: 50,30.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Relative coordinates: prefix with @; example: @40,0.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Polar coordinates: @distance&lt;angle; example: @60&lt;30.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Cartesian coordinates are useful for orthogonal shapes and exact locations.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UCS only when you understand how the working coordinate system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Try LINE: click or type 0,0 → type @80,0 → @0,40 → @-80,0 → C to close.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5. Navigation and precision aids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ZOOM — change magnification; PAN — move the view.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OSNAP — snap to endpoints, midpoints, centres, intersections and more.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ORTHO (F8) — constrain cursor movement horizontally or vertically.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POLAR (F10) — guide movement at set angles.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Object Snap Tracking (F11) and Dynamic Input (F12) can speed up accurate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Use Endpoint, Midpoint, Center and Intersection object snaps deliberately. Avoid estimating locations by eye.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6. Core draw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L / LINE — straight segments.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PL / PLINE — connected segments treated as one polyline.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 / CIRCLE — circles by centre and radius/diameter options.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 / ARC — arcs; RECTANG — rectangles; POLYGON — regular polygons.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H / HATCH — section patterns and filled regions.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Practice: draw a 100 × 60 rectangle, a Ø20 circle at its centre, and two Ø8 holes 15 mm from the short edges.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7. Core modify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M / MOVE — relocate selected objects.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CO / COPY — duplicate geometry.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RO / ROTATE — rotate around a base point.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MI / MIRROR — create a mirrored copy.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O / OFFSET — create parallel or concentric geometry.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TR / TRIM, EX / EXTEND, F / FILLET, CHA / CHAMFER.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Mechanical drafting often uses OFFSET, TRIM, FILLET and MIRROR repeatedly. Select objects carefully and confirm the active prompt.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8. Selection and editing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Window selection (left to right): selects objects fully inside the window.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Crossing selection (right to left): selects objects inside or touched by the boundary.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grips for quick edits, but use exact commands for controlled changes.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UNDO reverses an action; REDO restores an undone action.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PROPERTIES (Ctrl+1) to inspect and change object properties.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If an edit behaves unexpectedly, press Esc to cancel the current command, inspect the selection, and restart.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9. Object properties and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Layers organise geometry by function: object, centre, hidden, dimensions and construction.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Set colour, linetype, lineweight and plot behaviour by layer where possible.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BYLAYER properties to keep drawings consistent.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Create a sensible layer naming convention and avoid drawing everything on Layer 0.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Freeze or lock layers when you need to control visibility or prevent edits.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Example layers: OBJECT, HIDDEN, CENTER, DIM, TEXT and CONSTRUCTION. Match linetypes and lineweights to your company standard.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10. Linetypes, lineweights and visual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Continuous — visible edges and general object geometry.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Hidden — edges not visible in the current view.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Center — axes and centres of circles or symmetric features.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Lineweight differentiates object outlines, dimensions and construction geometry.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LTSCALE and PSLTSCALE thoughtfully when linetypes look incorrect.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Check lineweights in Plot Preview. On-screen lineweight display may not match the final printed appearance.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11. Text and annotation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TEXT for single-line text and MTEXT for paragraphs or notes.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Create text styles with consistent font and height settings.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clear notes for material, finish, quantity and manufacturing requirements when specified.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Keep text readable at the final plotted sheet size.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Avoid mixing too many fonts or text heights in one drawing.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Choose annotation sizes based on the plotted scale and your drawing standard; verify readability in the PDF.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12. Dimensioning essentials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DIMLINEAR — horizontal or vertical dimensions.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DIMALIGNED — dimensions aligned with a sloped edge.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DIMDIAMETER and DIMRADIUS — circular features.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DIMANGULAR — angles; DIMBASELINE and DIMCONTINUE — related dimension series.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DIMSTYLE to control text height, arrows, precision and units.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Dimension the design intent: locate features from datums, avoid duplicate dimensions, and do not dimension the same feature twice unnecessarily.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13. Engineering drawing conventions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orthographic views to communicate shape: front, top and side.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Add section views when internal geometry is unclear.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Show centre lines for holes and symmetric features where appropriate.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hidden lines only when they help communicate the part.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Follow the drawing standard and company rules for tolerances, symbols and title blocks.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AutoCAD does not decide whether a drawing is manufacturable. Check fit, function, tolerances and the intended manufacturing process.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14. Blocks and reusable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BLOCK combines selected objects into a reusable named object.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Choose a sensible insertion base point.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INSERT to place a block; SCALE and ROTATE it when appropriate.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WBLOCK to save selected geometry as a separate drawing file.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Dynamic blocks can expose editable parameters and actions in supported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Create a standard hole/slot symbol or a simple title-block component as your first reusable block.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15. Arrays, groups and productivity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ARRAYRECT — repeat geometry in rows and columns.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ARRAYPOLAR — repeat around a centre point.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ARRAYPATH — distribute objects along a path.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GROUP keeps selected objects together for easier selection.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MATCHPROP to copy properties and PURGE to remove unused definitions when appropriate.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Practice: create a bolt-hole pattern using a polar array, then edit the number and spacing of instances.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16. Parametric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Geometric constraints describe relationships such as parallel, perpendicular, tangent and coincident.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Dimensional constraints control distances, angles, radii and diameters.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Constraints can help maintain design intent as geometry changes.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them selectively; fully constrained sketches may be more stable but take planning.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Availability and workflow can vary by AutoCAD version and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Try constraining a rectangle so opposite sides remain parallel and adjacent sides remain perpendicular, then set its width and height.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17. External references and file coordination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XREF attaches another drawing as a reference instead of copying its geometry.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references for shared layouts, standard details or coordinated drawings.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Keep referenced files in predictable folders and use reliable paths.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Check for missing references before sending or issuing a drawing package.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eTransmit or an equivalent packaging workflow when delivering dependent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Never assume a DWG is self-contained. Reopen the drawing on another folder or machine to verify that references resolve.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18. Layouts, viewports and plotting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Model geometry at full size in Model space.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Layout/Paper space to arrange the sheet, title block and viewports.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Set viewport scale and lock the viewport when the view is correct.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Configure page size, printer/PDF device, plot style and lineweights.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Always inspect Plot Preview and review the exported PDF before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Typical workflow: create geometry → set layers/dimensions → open Layout → choose sheet size → set viewport scale → preview → export PDF.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19. Drawing quality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Run AUDIT to check and repair drawing database issues when prompted.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PURGE to remove unused named items when safe.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Check units, scale, dimensions, text, lineweights and missing references.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Confirm that geometry is closed where required for area, hatch or manufacturing use.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Compare the plotted PDF with the intended drawing standard.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Use a repeatable pre-release checklist. A drawing that looks correct on screen can still plot incorrectly.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PRACTICE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20. Mechanical drafting practice: mounting 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Create a 120 × 80 mm rectangular plate.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Add four Ø10 holes, each 12 mm from the nearest two edges.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Add a centred Ø25 hole.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Create OBJECT, CENTER and DIM layers.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Add dimensions and a note: units in millimetres.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Goal: accurate geometry, clean layer use and readable dimensions. Check hole centres numerically before plotting.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PRACTICE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21. Mechanical drafting practice: stepped shaft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Draw a stepped shaft side view using a clear baseline.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lengths of 25, 40 and 30 mm for three sections.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Choose diameters such as Ø20, Ø30 and Ø16 for practice only.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Add centreline, diameter dimensions and overall length.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Add a simple title block and export a PDF.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The values are practice dimensions, not a production design. Real shafts require load, fit, material and tolerance calculations.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22. 3D fundamentals: navigation and UCS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Switch to a 3D workspace or use available 3D tools in your installation.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Orbit the view to understand the model from different directions.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UCS to define a working coordinate plane when necessary.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Visual styles such as Wireframe and Shaded change how geometry is displayed.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Keep the first 3D exercise simple and dimensionally controlled.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3D tool availability depends on the AutoCAD product and version. Mechanical 3D design may also be done in dedicated parametric CAD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23. 3D solid modelling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EXTRUDE — create volume from a closed profile or surface.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PRESSPULL — push or pull bounded areas where supported.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REVOLVE — rotate a profile around an axis.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UNION, SUBTRACT and INTERSECT — combine or compare solids.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FILLETEDGE and CHAMFEREDGE — modify solid edges.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Practice: draw a 40 × 30 rectangle, extrude it 10 mm, then create a cylinder and subtract it to make a simple hole.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24. Advanced productivity and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command aliases and keyboard shortcuts for frequent operations.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tool palettes for reusable content and standard details.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Explore scripts or AutoLISP only after you understand the manual workflow.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data extraction where supported to build schedules from drawing objects.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Document templates, layers and plot settings for consistent team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Automation should reduce repeat work without hiding errors. Test scripts on a copy of the drawing before using them on production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25. Common beginner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Drawing at the wrong unit scale.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Guessing positions instead of using coordinates and object snaps.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Leaving all geometry on one layer.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Using duplicate or conflicting dimensions.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Forgetting lineweights, page size or plot preview.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Sending a DWG without its referenced files or a review PDF.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When a drawing looks wrong, check units, active layer, object snaps, linetype scale and viewport/plot settings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STUDY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26. 30-day study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Days 1–5: interface, units, coordinates, navigation and basic draw commands.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Days 6–10: modify tools, object snaps and precision exercises.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Days 11–15: layers, linetypes, text and dimension styles.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Days 16–20: orthographic views, blocks, arrays and drawing conventions.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Days 21–25: layouts, viewports, plotting, XREF and quality checks.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Days 26–30: 2D portfolio drawing + introductory 3D model + self-review.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Practise daily. Keep one DWG per exercise and export a PDF at the end of each major task so progress is easy to compare.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Final portfolio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Choose a simple mechanical component: bracket, plate, pulley or stepped shaft.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Create clean 2D views with centre lines and appropriate dimensions.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Organise objects with named layers and reusable blocks where useful.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Prepare a correctly scaled Layout with title block and plot settings.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Export a PDF and save the editable DWG with any dependent files.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Optional: create a simple 3D representation and add screenshots to your portfolio.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A strong portfolio shows accuracy, clear communication and a repeatable workflow—not just how many commands you know.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00AEC7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32034"/>
                </a:solidFill>
                <a:latin typeface="Aptos"/>
              </a:defRPr>
            </a:pPr>
            <a:r>
              <a:t>Command quick-reference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9144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noFill/>
        </p:spPr>
        <p:txBody>
          <a:bodyPr wrap="square" lIns="146304" rIns="109728" tIns="73152" b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Draw: L, PL, C, A, REC, POLYGON, H.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Modify: M, CO, RO, MI, O, TR, EX, F, CHA.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Annotate: MTEXT, DIM, DIMSTYLE, LEADER.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Manage: LA, PROPERTIES, BLOCK, INSERT, XREF.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View/output: ZOOM, PAN, LAYOUT, PLOT, PUBLISH.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Check/cleanup: AUDIT, PURGE, DIST, AREA.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429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2468AB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33756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0">
                <a:solidFill>
                  <a:srgbClr val="132034"/>
                </a:solidFill>
                <a:latin typeface="Aptos"/>
              </a:defRPr>
            </a:pPr>
            <a:r>
              <a:t>Command aliases can vary or be customised. If an alias does not work, type the full command name or check your installation settings.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AUTOCAD: BEGINNER TO ADVANCED  •  MECHANICAL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00AEC7"/>
                </a:solidFill>
                <a:latin typeface="Aptos"/>
              </a:defRPr>
            </a:pPr>
            <a:r>
              <a:t>YOUR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42416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Open AutoCAD. Draw. Check. Improve.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96696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100" b="0">
                <a:solidFill>
                  <a:srgbClr val="DCE6F0"/>
                </a:solidFill>
                <a:latin typeface="Aptos"/>
              </a:defRPr>
            </a:pPr>
            <a:r>
              <a:t>Start with the mounting plate exercise, complete it without copying the steps, then make a clean plotted PDF.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3246120" cy="914400"/>
          </a:xfrm>
          <a:prstGeom prst="roundRect">
            <a:avLst/>
          </a:prstGeom>
          <a:solidFill>
            <a:srgbClr val="1F344C"/>
          </a:solidFill>
          <a:ln>
            <a:solidFill>
              <a:srgbClr val="24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709160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00AEC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709160"/>
            <a:ext cx="22860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DRAW ACCURATELY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4572000"/>
            <a:ext cx="3246120" cy="914400"/>
          </a:xfrm>
          <a:prstGeom prst="roundRect">
            <a:avLst/>
          </a:prstGeom>
          <a:solidFill>
            <a:srgbClr val="1F344C"/>
          </a:solidFill>
          <a:ln>
            <a:solidFill>
              <a:srgbClr val="24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4709160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00AEC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4709160"/>
            <a:ext cx="22860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ANNOTATE CLEARLY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572000"/>
            <a:ext cx="3246120" cy="914400"/>
          </a:xfrm>
          <a:prstGeom prst="roundRect">
            <a:avLst/>
          </a:prstGeom>
          <a:solidFill>
            <a:srgbClr val="1F344C"/>
          </a:solidFill>
          <a:ln>
            <a:solidFill>
              <a:srgbClr val="24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709160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00AEC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4709160"/>
            <a:ext cx="22860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PLOT &amp;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77724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BECDDC"/>
                </a:solidFill>
                <a:latin typeface="Aptos"/>
              </a:defRPr>
            </a:pPr>
            <a:r>
              <a:t>AutoCAD Tutorial • Beginner to Advanced • Mechanical Drafting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BECDDC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